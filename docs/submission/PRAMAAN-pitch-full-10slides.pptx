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verification and scientific rigour. Seven hundred thirty-eight automated tests pass with zero failures. Hardware measurements: models and camera pipelines were timed on one physical phone, and the OBS virtual camera injection veto was shown on a Windows webcam list. Limits are stated plainly: on Android, the passive model is fooled by a screen replay and the flash cue needs at least three fps while the phone delivers two point seven to two point nine, so the screen replay defence on Android rests on the challenge alone. The desktop app is a scaffold, and certified SBI device testing remains as next step.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Status chip"/>
          <p:cNvSpPr/>
          <p:nvPr/>
        </p:nvSpPr>
        <p:spPr>
          <a:xfrm>
            <a:off x="640080" y="5577840"/>
            <a:ext cx="3657600" cy="530352"/>
          </a:xfrm>
          <a:prstGeom prst="roundRect">
            <a:avLst>
              <a:gd name="adj" fmla="val 25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1B4F8A"/>
                </a:solidFill>
                <a:latin typeface="Calibri"/>
              </a:rPr>
              <a:t>Evidence-first prototype</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author test only, not a corpus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Engineering Verification &amp; Scientific Rigour</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ISO/IEC 30107-3 Clopper-Pearson confidence bounds, on-device hardware benchmarks, honest threat disclosure.</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700" b="1" i="0">
                <a:solidFill>
                  <a:srgbClr val="1B6E3C"/>
                </a:solidFill>
                <a:latin typeface="Calibri"/>
              </a:rPr>
              <a:t>Verified on Hardware &amp; Code</a:t>
            </a:r>
          </a:p>
          <a:p>
            <a:pPr algn="l">
              <a:spcAft>
                <a:spcPts val="400"/>
              </a:spcAft>
            </a:pPr>
            <a:r>
              <a:rPr sz="1400" b="1" i="0">
                <a:solidFill>
                  <a:srgbClr val="14202E"/>
                </a:solidFill>
                <a:latin typeface="Calibri"/>
              </a:rPr>
              <a:t>738 automated tests pass</a:t>
            </a:r>
            <a:r>
              <a:rPr sz="1200" b="0" i="0">
                <a:solidFill>
                  <a:srgbClr val="14202E"/>
                </a:solidFill>
                <a:latin typeface="Calibri"/>
              </a:rPr>
              <a:t> (0 failures, strict CI on Linux &amp; Windows)</a:t>
            </a:r>
          </a:p>
          <a:p>
            <a:pPr algn="l">
              <a:spcAft>
                <a:spcPts val="400"/>
              </a:spcAft>
            </a:pPr>
            <a:r>
              <a:rPr sz="1400" b="0" i="0">
                <a:solidFill>
                  <a:srgbClr val="14202E"/>
                </a:solidFill>
                <a:latin typeface="Calibri"/>
              </a:rPr>
              <a:t>Hardware measured: models &amp; camera timed on one phone; OBS veto on Windows webcam list</a:t>
            </a:r>
          </a:p>
          <a:p>
            <a:pPr algn="l">
              <a:spcAft>
                <a:spcPts val="400"/>
              </a:spcAft>
            </a:pPr>
            <a:r>
              <a:rPr sz="1400" b="0" i="0">
                <a:solidFill>
                  <a:srgbClr val="14202E"/>
                </a:solidFill>
                <a:latin typeface="Calibri"/>
              </a:rPr>
              <a:t>Flash code: 20.7 bits; ≤ 3 changes a second (WCAG 2.3.1)</a:t>
            </a:r>
          </a:p>
          <a:p>
            <a:pPr algn="l">
              <a:spcAft>
                <a:spcPts val="400"/>
              </a:spcAft>
            </a:pPr>
            <a:r>
              <a:rPr sz="1400" b="0" i="0">
                <a:solidFill>
                  <a:srgbClr val="14202E"/>
                </a:solidFill>
                <a:latin typeface="Calibri"/>
              </a:rPr>
              <a:t>Capture binding: 4 cryptographic locks; capture swap blocked</a:t>
            </a:r>
          </a:p>
          <a:p>
            <a:pPr algn="l">
              <a:spcAft>
                <a:spcPts val="400"/>
              </a:spcAft>
            </a:pPr>
            <a:r>
              <a:rPr sz="1400" b="0" i="0">
                <a:solidFill>
                  <a:srgbClr val="14202E"/>
                </a:solidFill>
                <a:latin typeface="Calibri"/>
              </a:rPr>
              <a:t>Insider signal: 6 in 40 at 2% gives z ≈ 5.87; self-enroll blocked</a:t>
            </a:r>
          </a:p>
          <a:p>
            <a:pPr algn="l">
              <a:spcAft>
                <a:spcPts val="400"/>
              </a:spcAft>
            </a:pPr>
            <a:r>
              <a:rPr sz="1400" b="0" i="0">
                <a:solidFill>
                  <a:srgbClr val="14202E"/>
                </a:solidFill>
                <a:latin typeface="Calibri"/>
              </a:rPr>
              <a:t>Transparency log matches Certificate Transparency vectors</a:t>
            </a:r>
          </a:p>
        </p:txBody>
      </p:sp>
      <p:sp>
        <p:nvSpPr>
          <p:cNvPr id="5" name="Scope"/>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700" b="1" i="0">
                <a:solidFill>
                  <a:srgbClr val="6B4500"/>
                </a:solidFill>
                <a:latin typeface="Calibri"/>
              </a:rPr>
              <a:t>Scientific Discipline &amp; Limits</a:t>
            </a:r>
          </a:p>
          <a:p>
            <a:pPr algn="l">
              <a:spcAft>
                <a:spcPts val="400"/>
              </a:spcAft>
            </a:pPr>
            <a:r>
              <a:rPr sz="1300" b="0" i="0">
                <a:solidFill>
                  <a:srgbClr val="14202E"/>
                </a:solidFill>
                <a:latin typeface="Calibri"/>
              </a:rPr>
              <a:t>Statistically honest: ISO/IEC 30107-3 harness ready for field calibration</a:t>
            </a:r>
          </a:p>
          <a:p>
            <a:pPr algn="l">
              <a:spcAft>
                <a:spcPts val="400"/>
              </a:spcAft>
            </a:pPr>
            <a:r>
              <a:rPr sz="1300" b="0" i="0">
                <a:solidFill>
                  <a:srgbClr val="14202E"/>
                </a:solidFill>
                <a:latin typeface="Calibri"/>
              </a:rPr>
              <a:t>Scaffold, not full Registration Client; no live certified SBI device session</a:t>
            </a:r>
          </a:p>
          <a:p>
            <a:pPr algn="l">
              <a:spcAft>
                <a:spcPts val="400"/>
              </a:spcAft>
            </a:pPr>
            <a:r>
              <a:rPr sz="1300" b="1" i="0">
                <a:solidFill>
                  <a:srgbClr val="14202E"/>
                </a:solidFill>
                <a:latin typeface="Calibri"/>
              </a:rPr>
              <a:t>Android replay limit: </a:t>
            </a:r>
            <a:r>
              <a:rPr sz="1300" b="0" i="0">
                <a:solidFill>
                  <a:srgbClr val="14202E"/>
                </a:solidFill>
                <a:latin typeface="Calibri"/>
              </a:rPr>
              <a:t>passive model fooled by replay (0.98 score) and flash needs ≥ 3 fps (phone got 2.7–2.9 fps); replay defence rests on challenge alone.</a:t>
            </a:r>
          </a:p>
          <a:p>
            <a:pPr algn="l">
              <a:spcAft>
                <a:spcPts val="400"/>
              </a:spcAft>
            </a:pPr>
            <a:r>
              <a:rPr sz="1300" b="0" i="0">
                <a:solidFill>
                  <a:srgbClr val="14202E"/>
                </a:solidFill>
                <a:latin typeface="Calibri"/>
              </a:rPr>
              <a:t>Inclusive UX: native Devanagari Hindi verified; accessibility profiles</a:t>
            </a:r>
          </a:p>
          <a:p>
            <a:pPr algn="l">
              <a:spcAft>
                <a:spcPts val="400"/>
              </a:spcAft>
            </a:pPr>
            <a:r>
              <a:rPr sz="1300" b="1" i="0">
                <a:solidFill>
                  <a:srgbClr val="14202E"/>
                </a:solidFill>
                <a:latin typeface="Calibri"/>
              </a:rPr>
              <a:t>Self-Red-Teaming: </a:t>
            </a:r>
            <a:r>
              <a:rPr sz="1300" b="0" i="0">
                <a:solidFill>
                  <a:srgbClr val="14202E"/>
                </a:solidFill>
                <a:latin typeface="Calibri"/>
              </a:rPr>
              <a:t>genetic fuzzer found moiré blind spots; resolved via active flash/stereo fusion voting.</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for MOSIP</a:t>
            </a:r>
          </a:p>
          <a:p>
            <a:pPr algn="l">
              <a:spcAft>
                <a:spcPts val="500"/>
              </a:spcAft>
            </a:pPr>
            <a:r>
              <a:rPr sz="1400" b="1" i="0">
                <a:solidFill>
                  <a:srgbClr val="14202E"/>
                </a:solidFill>
                <a:latin typeface="Calibri"/>
              </a:rPr>
              <a:t>For MOSIP: </a:t>
            </a:r>
            <a:r>
              <a:rPr sz="1400" b="0" i="0">
                <a:solidFill>
                  <a:srgbClr val="14202E"/>
                </a:solidFill>
                <a:latin typeface="Calibri"/>
              </a:rPr>
              <a:t>closes capture-swap on unmodified SBI; leaves signed proof a server can re-verify.</a:t>
            </a:r>
          </a:p>
          <a:p>
            <a:pPr algn="l">
              <a:spcAft>
                <a:spcPts val="500"/>
              </a:spcAft>
            </a:pPr>
            <a:r>
              <a:rPr sz="1400" b="1" i="0">
                <a:solidFill>
                  <a:srgbClr val="14202E"/>
                </a:solidFill>
                <a:latin typeface="Calibri"/>
              </a:rPr>
              <a:t>Standards proposal: </a:t>
            </a:r>
            <a:r>
              <a:rPr sz="1400" b="0" i="0">
                <a:solidFill>
                  <a:srgbClr val="14202E"/>
                </a:solidFill>
                <a:latin typeface="Calibri"/>
              </a:rPr>
              <a:t>SBI Liveness Profile extension ready for working group review.</a:t>
            </a:r>
          </a:p>
          <a:p>
            <a:pPr algn="l">
              <a:spcAft>
                <a:spcPts val="500"/>
              </a:spcAft>
            </a:pPr>
            <a:r>
              <a:rPr sz="1400" b="1" i="0">
                <a:solidFill>
                  <a:srgbClr val="14202E"/>
                </a:solidFill>
                <a:latin typeface="Calibri"/>
              </a:rPr>
              <a:t>Next: </a:t>
            </a:r>
            <a:r>
              <a:rPr sz="1400" b="0" i="0">
                <a:solidFill>
                  <a:srgbClr val="14202E"/>
                </a:solidFill>
                <a:latin typeface="Calibri"/>
              </a:rPr>
              <a:t>field calibration with consented corpus, certified SBI vendor testing.</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Full Devanagari translation, verified by a native Hindi speaker.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simulated pitches (SYNTHETIC simulation): </a:t>
            </a:r>
            <a:r>
              <a:rPr sz="1500" b="0" i="0">
                <a:solidFill>
                  <a:srgbClr val="14202E"/>
                </a:solidFill>
                <a:latin typeface="Calibri"/>
              </a:rPr>
              <a:t>4 accepted without the flash cue, 0 with it, 3 left to the challenge (not a field rate).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