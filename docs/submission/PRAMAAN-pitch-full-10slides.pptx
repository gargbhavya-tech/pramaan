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Seven hundred three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screens rendered from the actual code, so there is no live camera in them. They are built to be inclusive, but they have not been tried with real people or a screen reader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own automated red team searched the recapture parameters for what fools our cues. On synthetic screen replays, with the passive model assumed fooled and no flash light, four of eighty five display pitches were accepted; with the flash cue, none. We logged it as R-03, with R-01, the blind pitches of the moire cue, and R-02, which we fixed. We proposed a fix and deliberately did not turn it on, because it would raise false rejections that we cannot price without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Java, ONNX Runtime pinned to 1.20, JavaFX 11 as in the Registration Client, and the MOSIP SBI. We follow the ISO and CEN standards as design targets; we are not certified. The code is MPL two point zero like MOSIP; every dependency and model has a licence row, and SFace is development use only until its training data question is answered.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 (by design)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light; not yet shown on real replays</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the author's test separated live from replay as designed, within about 0.1 to 0.15 depending on brightness and distance.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703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 full session on a phone or a certified SBI device (models timed on one phone)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a:t>
            </a:r>
            <a:r>
              <a:rPr sz="1400" b="0" i="0">
                <a:solidFill>
                  <a:srgbClr val="14202E"/>
                </a:solidFill>
                <a:latin typeface="Calibri"/>
              </a:rPr>
              <a:t>4 of 85 synthetic pitches accepted without a flash cue, 0 with one.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widen the one real experiment (more people, phones, lights),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the station, as built</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Rendered from the real code, offscreen. One plain sentence, an icon, no score. No live camera in these images.</a:t>
            </a:r>
          </a:p>
        </p:txBody>
      </p:sp>
      <p:pic>
        <p:nvPicPr>
          <p:cNvPr id="4" name="Screenshot: Resident capture mid-challenge" descr="The resident capture screen mid-challenge with a step rail, a face oval, an arrow for a head turn and one plain instruction; the camera area shows a placeholder."/>
          <p:cNvPicPr>
            <a:picLocks noChangeAspect="1"/>
          </p:cNvPicPr>
          <p:nvPr/>
        </p:nvPicPr>
        <p:blipFill>
          <a:blip r:embed="rId2"/>
          <a:stretch>
            <a:fillRect/>
          </a:stretch>
        </p:blipFill>
        <p:spPr>
          <a:xfrm>
            <a:off x="548640" y="1691640"/>
            <a:ext cx="3611880" cy="2257425"/>
          </a:xfrm>
          <a:prstGeom prst="rect">
            <a:avLst/>
          </a:prstGeom>
          <a:ln w="12700">
            <a:solidFill>
              <a:srgbClr val="CFD6DD"/>
            </a:solidFill>
          </a:ln>
        </p:spPr>
      </p:pic>
      <p:sp>
        <p:nvSpPr>
          <p:cNvPr id="5" name="TextBox 4"/>
          <p:cNvSpPr txBox="1"/>
          <p:nvPr/>
        </p:nvSpPr>
        <p:spPr>
          <a:xfrm>
            <a:off x="548640"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Resident capture mid-challenge</a:t>
            </a:r>
          </a:p>
          <a:p>
            <a:pPr algn="l">
              <a:lnSpc>
                <a:spcPct val="105000"/>
              </a:lnSpc>
              <a:spcAft>
                <a:spcPts val="300"/>
              </a:spcAft>
            </a:pPr>
            <a:r>
              <a:rPr sz="1300" b="0" i="0">
                <a:solidFill>
                  <a:srgbClr val="14202E"/>
                </a:solidFill>
                <a:latin typeface="Calibri"/>
              </a:rPr>
              <a:t>A head-turn prompt with an arrow, an icon and one sentence.</a:t>
            </a:r>
          </a:p>
        </p:txBody>
      </p:sp>
      <p:pic>
        <p:nvPicPr>
          <p:cNvPr id="6" name="Screenshot: Hindi, one click" descr="The same screen in Hindi."/>
          <p:cNvPicPr>
            <a:picLocks noChangeAspect="1"/>
          </p:cNvPicPr>
          <p:nvPr/>
        </p:nvPicPr>
        <p:blipFill>
          <a:blip r:embed="rId3"/>
          <a:stretch>
            <a:fillRect/>
          </a:stretch>
        </p:blipFill>
        <p:spPr>
          <a:xfrm>
            <a:off x="4270248" y="1691640"/>
            <a:ext cx="3611880" cy="2257425"/>
          </a:xfrm>
          <a:prstGeom prst="rect">
            <a:avLst/>
          </a:prstGeom>
          <a:ln w="12700">
            <a:solidFill>
              <a:srgbClr val="CFD6DD"/>
            </a:solidFill>
          </a:ln>
        </p:spPr>
      </p:pic>
      <p:sp>
        <p:nvSpPr>
          <p:cNvPr id="7" name="TextBox 6"/>
          <p:cNvSpPr txBox="1"/>
          <p:nvPr/>
        </p:nvSpPr>
        <p:spPr>
          <a:xfrm>
            <a:off x="4270248"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Hindi, one click</a:t>
            </a:r>
          </a:p>
          <a:p>
            <a:pPr algn="l">
              <a:lnSpc>
                <a:spcPct val="105000"/>
              </a:lnSpc>
              <a:spcAft>
                <a:spcPts val="300"/>
              </a:spcAft>
            </a:pPr>
            <a:r>
              <a:rPr sz="1300" b="0" i="0">
                <a:solidFill>
                  <a:srgbClr val="14202E"/>
                </a:solidFill>
                <a:latin typeface="Calibri"/>
              </a:rPr>
              <a:t>Larger text and high contrast are also one click each. Hindi drafted by machine, checked by the author.</a:t>
            </a:r>
          </a:p>
        </p:txBody>
      </p:sp>
      <p:pic>
        <p:nvPicPr>
          <p:cNvPr id="8" name="Screenshot: Fails closed" descr="The screen shown when the engine cannot start: an error banner telling the operator what to check."/>
          <p:cNvPicPr>
            <a:picLocks noChangeAspect="1"/>
          </p:cNvPicPr>
          <p:nvPr/>
        </p:nvPicPr>
        <p:blipFill>
          <a:blip r:embed="rId4"/>
          <a:stretch>
            <a:fillRect/>
          </a:stretch>
        </p:blipFill>
        <p:spPr>
          <a:xfrm>
            <a:off x="7991856" y="1691640"/>
            <a:ext cx="3611880" cy="2257425"/>
          </a:xfrm>
          <a:prstGeom prst="rect">
            <a:avLst/>
          </a:prstGeom>
          <a:ln w="12700">
            <a:solidFill>
              <a:srgbClr val="CFD6DD"/>
            </a:solidFill>
          </a:ln>
        </p:spPr>
      </p:pic>
      <p:sp>
        <p:nvSpPr>
          <p:cNvPr id="9" name="TextBox 8"/>
          <p:cNvSpPr txBox="1"/>
          <p:nvPr/>
        </p:nvSpPr>
        <p:spPr>
          <a:xfrm>
            <a:off x="7991856"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Fails closed</a:t>
            </a:r>
          </a:p>
          <a:p>
            <a:pPr algn="l">
              <a:lnSpc>
                <a:spcPct val="105000"/>
              </a:lnSpc>
              <a:spcAft>
                <a:spcPts val="300"/>
              </a:spcAft>
            </a:pPr>
            <a:r>
              <a:rPr sz="1300" b="0" i="0">
                <a:solidFill>
                  <a:srgbClr val="14202E"/>
                </a:solidFill>
                <a:latin typeface="Calibri"/>
              </a:rPr>
              <a:t>If anything does not verify, nothing can be registered and the screen says what to check.</a:t>
            </a:r>
          </a:p>
        </p:txBody>
      </p:sp>
      <p:sp>
        <p:nvSpPr>
          <p:cNvPr id="10" name="Accessibility"/>
          <p:cNvSpPr/>
          <p:nvPr/>
        </p:nvSpPr>
        <p:spPr>
          <a:xfrm>
            <a:off x="548640" y="5257800"/>
            <a:ext cx="11064240" cy="105156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Built to be inclusive: </a:t>
            </a:r>
            <a:r>
              <a:rPr sz="1300" b="0" i="0">
                <a:solidFill>
                  <a:srgbClr val="14202E"/>
                </a:solidFill>
                <a:latin typeface="Calibri"/>
              </a:rPr>
              <a:t>every status is an icon and a word, never colour alone; 44 px targets and a 3 px focus ring; larger-text and high-contrast modes; Hindi; spoken prompts; accessibility profiles; contrast checked at 4.5:1 or better on the palette.</a:t>
            </a:r>
          </a:p>
          <a:p>
            <a:pPr algn="l">
              <a:spcAft>
                <a:spcPts val="300"/>
              </a:spcAft>
            </a:pPr>
            <a:r>
              <a:rPr sz="1300" b="1" i="0">
                <a:solidFill>
                  <a:srgbClr val="6B4500"/>
                </a:solidFill>
                <a:latin typeface="Calibri"/>
              </a:rPr>
              <a:t>Not done: </a:t>
            </a:r>
            <a:r>
              <a:rPr sz="1300" b="0" i="0">
                <a:solidFill>
                  <a:srgbClr val="14202E"/>
                </a:solidFill>
                <a:latin typeface="Calibri"/>
              </a:rPr>
              <a:t>no operator or resident has used these screens, and no screen reader was tried.</a:t>
            </a:r>
          </a:p>
        </p:txBody>
      </p:sp>
      <p:sp>
        <p:nvSpPr>
          <p:cNvPr id="11"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12"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we attacked ourselves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An automated red team searched our own cues. It found two real weaknesses, which are logged, not hidden.</a:t>
            </a:r>
          </a:p>
        </p:txBody>
      </p:sp>
      <p:sp>
        <p:nvSpPr>
          <p:cNvPr id="4" name="TextBox 3"/>
          <p:cNvSpPr txBox="1"/>
          <p:nvPr/>
        </p:nvSpPr>
        <p:spPr>
          <a:xfrm>
            <a:off x="548640" y="1691640"/>
            <a:ext cx="6766560" cy="274320"/>
          </a:xfrm>
          <a:prstGeom prst="rect">
            <a:avLst/>
          </a:prstGeom>
          <a:noFill/>
        </p:spPr>
        <p:txBody>
          <a:bodyPr wrap="square" anchor="t" lIns="0" rIns="0" tIns="0" bIns="0">
            <a:spAutoFit/>
          </a:bodyPr>
          <a:lstStyle/>
          <a:p>
            <a:pPr algn="l">
              <a:lnSpc>
                <a:spcPct val="105000"/>
              </a:lnSpc>
              <a:spcAft>
                <a:spcPts val="600"/>
              </a:spcAft>
            </a:pPr>
            <a:r>
              <a:rPr sz="1200" b="1" i="0">
                <a:solidFill>
                  <a:srgbClr val="52606D"/>
                </a:solidFill>
                <a:latin typeface="Calibri"/>
              </a:rPr>
              <a:t>FUSED DECISION ON SYNTHETIC SCREEN REPLAYS (SCENE AND MOIRÉ FOOLED, NO FLASH LIGHT)</a:t>
            </a:r>
          </a:p>
        </p:txBody>
      </p:sp>
      <p:sp>
        <p:nvSpPr>
          <p:cNvPr id="5" name="Rounded Rectangle 4"/>
          <p:cNvSpPr/>
          <p:nvPr/>
        </p:nvSpPr>
        <p:spPr>
          <a:xfrm>
            <a:off x="548640" y="2011680"/>
            <a:ext cx="178308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Display pitch</a:t>
            </a:r>
          </a:p>
        </p:txBody>
      </p:sp>
      <p:sp>
        <p:nvSpPr>
          <p:cNvPr id="6" name="Rounded Rectangle 5"/>
          <p:cNvSpPr/>
          <p:nvPr/>
        </p:nvSpPr>
        <p:spPr>
          <a:xfrm>
            <a:off x="2377440" y="2011680"/>
            <a:ext cx="251460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Without the flash cue</a:t>
            </a:r>
          </a:p>
        </p:txBody>
      </p:sp>
      <p:sp>
        <p:nvSpPr>
          <p:cNvPr id="7" name="Rounded Rectangle 6"/>
          <p:cNvSpPr/>
          <p:nvPr/>
        </p:nvSpPr>
        <p:spPr>
          <a:xfrm>
            <a:off x="4937760" y="2011680"/>
            <a:ext cx="237744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 the flash cue</a:t>
            </a:r>
          </a:p>
        </p:txBody>
      </p:sp>
      <p:sp>
        <p:nvSpPr>
          <p:cNvPr id="8" name="Rounded Rectangle 7"/>
          <p:cNvSpPr/>
          <p:nvPr/>
        </p:nvSpPr>
        <p:spPr>
          <a:xfrm>
            <a:off x="548640" y="2542032"/>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0.80</a:t>
            </a:r>
          </a:p>
        </p:txBody>
      </p:sp>
      <p:sp>
        <p:nvSpPr>
          <p:cNvPr id="9" name="Rounded Rectangle 8"/>
          <p:cNvSpPr/>
          <p:nvPr/>
        </p:nvSpPr>
        <p:spPr>
          <a:xfrm>
            <a:off x="2377440" y="2542032"/>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0.986)</a:t>
            </a:r>
          </a:p>
        </p:txBody>
      </p:sp>
      <p:sp>
        <p:nvSpPr>
          <p:cNvPr id="10" name="Rounded Rectangle 9"/>
          <p:cNvSpPr/>
          <p:nvPr/>
        </p:nvSpPr>
        <p:spPr>
          <a:xfrm>
            <a:off x="4937760" y="2542032"/>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0.459)</a:t>
            </a:r>
          </a:p>
        </p:txBody>
      </p:sp>
      <p:sp>
        <p:nvSpPr>
          <p:cNvPr id="11" name="Rounded Rectangle 10"/>
          <p:cNvSpPr/>
          <p:nvPr/>
        </p:nvSpPr>
        <p:spPr>
          <a:xfrm>
            <a:off x="548640" y="3072384"/>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1.00</a:t>
            </a:r>
          </a:p>
        </p:txBody>
      </p:sp>
      <p:sp>
        <p:nvSpPr>
          <p:cNvPr id="12" name="Rounded Rectangle 11"/>
          <p:cNvSpPr/>
          <p:nvPr/>
        </p:nvSpPr>
        <p:spPr>
          <a:xfrm>
            <a:off x="2377440" y="3072384"/>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0.989)</a:t>
            </a:r>
          </a:p>
        </p:txBody>
      </p:sp>
      <p:sp>
        <p:nvSpPr>
          <p:cNvPr id="13" name="Rounded Rectangle 12"/>
          <p:cNvSpPr/>
          <p:nvPr/>
        </p:nvSpPr>
        <p:spPr>
          <a:xfrm>
            <a:off x="4937760" y="3072384"/>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0.526)</a:t>
            </a:r>
          </a:p>
        </p:txBody>
      </p:sp>
      <p:sp>
        <p:nvSpPr>
          <p:cNvPr id="14" name="Rounded Rectangle 13"/>
          <p:cNvSpPr/>
          <p:nvPr/>
        </p:nvSpPr>
        <p:spPr>
          <a:xfrm>
            <a:off x="548640" y="3602735"/>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1.20</a:t>
            </a:r>
          </a:p>
        </p:txBody>
      </p:sp>
      <p:sp>
        <p:nvSpPr>
          <p:cNvPr id="15" name="Rounded Rectangle 14"/>
          <p:cNvSpPr/>
          <p:nvPr/>
        </p:nvSpPr>
        <p:spPr>
          <a:xfrm>
            <a:off x="2377440" y="3602735"/>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0.994)</a:t>
            </a:r>
          </a:p>
        </p:txBody>
      </p:sp>
      <p:sp>
        <p:nvSpPr>
          <p:cNvPr id="16" name="Rounded Rectangle 15"/>
          <p:cNvSpPr/>
          <p:nvPr/>
        </p:nvSpPr>
        <p:spPr>
          <a:xfrm>
            <a:off x="4937760" y="3602735"/>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0.657)</a:t>
            </a:r>
          </a:p>
        </p:txBody>
      </p:sp>
      <p:sp>
        <p:nvSpPr>
          <p:cNvPr id="17" name="Rounded Rectangle 16"/>
          <p:cNvSpPr/>
          <p:nvPr/>
        </p:nvSpPr>
        <p:spPr>
          <a:xfrm>
            <a:off x="548640" y="4133087"/>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2.00</a:t>
            </a:r>
          </a:p>
        </p:txBody>
      </p:sp>
      <p:sp>
        <p:nvSpPr>
          <p:cNvPr id="18" name="Rounded Rectangle 17"/>
          <p:cNvSpPr/>
          <p:nvPr/>
        </p:nvSpPr>
        <p:spPr>
          <a:xfrm>
            <a:off x="2377440" y="4133087"/>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0.949)</a:t>
            </a:r>
          </a:p>
        </p:txBody>
      </p:sp>
      <p:sp>
        <p:nvSpPr>
          <p:cNvPr id="19" name="Rounded Rectangle 18"/>
          <p:cNvSpPr/>
          <p:nvPr/>
        </p:nvSpPr>
        <p:spPr>
          <a:xfrm>
            <a:off x="4937760" y="4133087"/>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REJECT  (p 0.185)</a:t>
            </a:r>
          </a:p>
        </p:txBody>
      </p:sp>
      <p:sp>
        <p:nvSpPr>
          <p:cNvPr id="20" name="Totals"/>
          <p:cNvSpPr/>
          <p:nvPr/>
        </p:nvSpPr>
        <p:spPr>
          <a:xfrm>
            <a:off x="548640" y="4754880"/>
            <a:ext cx="6766560" cy="6858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i="0">
                <a:solidFill>
                  <a:srgbClr val="14202E"/>
                </a:solidFill>
                <a:latin typeface="Calibri"/>
              </a:rPr>
              <a:t>Of 85 pitches: </a:t>
            </a:r>
            <a:r>
              <a:rPr sz="1500" b="0" i="0">
                <a:solidFill>
                  <a:srgbClr val="14202E"/>
                </a:solidFill>
                <a:latin typeface="Calibri"/>
              </a:rPr>
              <a:t>4 accepted without the flash cue, 0 with it, 3 left to the challenge.</a:t>
            </a:r>
          </a:p>
        </p:txBody>
      </p:sp>
      <p:sp>
        <p:nvSpPr>
          <p:cNvPr id="21" name="TextBox 20"/>
          <p:cNvSpPr txBox="1"/>
          <p:nvPr/>
        </p:nvSpPr>
        <p:spPr>
          <a:xfrm>
            <a:off x="548640" y="5577840"/>
            <a:ext cx="6766560" cy="64008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Synthetic data, the passive scorer assumed fooled, the challenge not modelled. Reproduce: ./gradlew :harness:fusedRedTeam</a:t>
            </a:r>
          </a:p>
        </p:txBody>
      </p:sp>
      <p:sp>
        <p:nvSpPr>
          <p:cNvPr id="22" name="Findings"/>
          <p:cNvSpPr/>
          <p:nvPr/>
        </p:nvSpPr>
        <p:spPr>
          <a:xfrm>
            <a:off x="7589520" y="1691640"/>
            <a:ext cx="4023360" cy="448056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700" b="1" i="0">
                <a:solidFill>
                  <a:srgbClr val="6B4500"/>
                </a:solidFill>
                <a:latin typeface="Calibri"/>
              </a:rPr>
              <a:t>What we found, and did</a:t>
            </a:r>
          </a:p>
          <a:p>
            <a:pPr algn="l">
              <a:spcAft>
                <a:spcPts val="700"/>
              </a:spcAft>
            </a:pPr>
            <a:r>
              <a:rPr sz="1400" b="1" i="0">
                <a:solidFill>
                  <a:srgbClr val="14202E"/>
                </a:solidFill>
                <a:latin typeface="Calibri"/>
              </a:rPr>
              <a:t>R-01: </a:t>
            </a:r>
            <a:r>
              <a:rPr sz="1400" b="0" i="0">
                <a:solidFill>
                  <a:srgbClr val="14202E"/>
                </a:solidFill>
                <a:latin typeface="Calibri"/>
              </a:rPr>
              <a:t>the moiré cue is blind at some display pitches. Disclosed.</a:t>
            </a:r>
          </a:p>
          <a:p>
            <a:pPr algn="l">
              <a:spcAft>
                <a:spcPts val="700"/>
              </a:spcAft>
            </a:pPr>
            <a:r>
              <a:rPr sz="1400" b="1" i="0">
                <a:solidFill>
                  <a:srgbClr val="14202E"/>
                </a:solidFill>
                <a:latin typeface="Calibri"/>
              </a:rPr>
              <a:t>R-03: </a:t>
            </a:r>
            <a:r>
              <a:rPr sz="1400" b="0" i="0">
                <a:solidFill>
                  <a:srgbClr val="14202E"/>
                </a:solidFill>
                <a:latin typeface="Calibri"/>
              </a:rPr>
              <a:t>two attacker-controlled cues can sum to an accept when there is no flash light. Fixed for operators and supervisors.</a:t>
            </a:r>
          </a:p>
          <a:p>
            <a:pPr algn="l">
              <a:spcAft>
                <a:spcPts val="700"/>
              </a:spcAft>
            </a:pPr>
            <a:r>
              <a:rPr sz="1400" b="1" i="0">
                <a:solidFill>
                  <a:srgbClr val="14202E"/>
                </a:solidFill>
                <a:latin typeface="Calibri"/>
              </a:rPr>
              <a:t>R-02: </a:t>
            </a:r>
            <a:r>
              <a:rPr sz="1400" b="0" i="0">
                <a:solidFill>
                  <a:srgbClr val="14202E"/>
                </a:solidFill>
                <a:latin typeface="Calibri"/>
              </a:rPr>
              <a:t>a scene-cue false rejection after exposure changes. Fixed.</a:t>
            </a:r>
          </a:p>
          <a:p>
            <a:pPr algn="l">
              <a:spcAft>
                <a:spcPts val="700"/>
              </a:spcAft>
            </a:pPr>
            <a:r>
              <a:rPr sz="1400" b="1" i="0">
                <a:solidFill>
                  <a:srgbClr val="14202E"/>
                </a:solidFill>
                <a:latin typeface="Calibri"/>
              </a:rPr>
              <a:t>The R-03 fix: </a:t>
            </a:r>
            <a:r>
              <a:rPr sz="1400" b="0" i="0">
                <a:solidFill>
                  <a:srgbClr val="14202E"/>
                </a:solidFill>
                <a:latin typeface="Calibri"/>
              </a:rPr>
              <a:t>an accept needs a vote from a cue the display cannot fake (flash or stereo), else a challenge. For residents it is built and safe for accessibility profiles but off by default: it would send every resident at a station without a light through a challenge, which cannot be priced without a real corpus.</a:t>
            </a:r>
          </a:p>
        </p:txBody>
      </p:sp>
      <p:sp>
        <p:nvSpPr>
          <p:cNvPr id="23"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24"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stack, standards and licences</a:t>
            </a:r>
          </a:p>
        </p:txBody>
      </p:sp>
      <p:sp>
        <p:nvSpPr>
          <p:cNvPr id="3" name="Stack"/>
          <p:cNvSpPr/>
          <p:nvPr/>
        </p:nvSpPr>
        <p:spPr>
          <a:xfrm>
            <a:off x="548640"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Stack</a:t>
            </a:r>
          </a:p>
          <a:p>
            <a:pPr algn="l">
              <a:spcAft>
                <a:spcPts val="700"/>
              </a:spcAft>
            </a:pPr>
            <a:r>
              <a:rPr sz="1400" b="0" i="0">
                <a:solidFill>
                  <a:srgbClr val="14202E"/>
                </a:solidFill>
                <a:latin typeface="Calibri"/>
              </a:rPr>
              <a:t>Java, compiled to Java 11 bytecode (JDK 24 build)</a:t>
            </a:r>
          </a:p>
          <a:p>
            <a:pPr algn="l">
              <a:spcAft>
                <a:spcPts val="700"/>
              </a:spcAft>
            </a:pPr>
            <a:r>
              <a:rPr sz="1400" b="0" i="0">
                <a:solidFill>
                  <a:srgbClr val="14202E"/>
                </a:solidFill>
                <a:latin typeface="Calibri"/>
              </a:rPr>
              <a:t>Gradle (Kotlin DSL)</a:t>
            </a:r>
          </a:p>
          <a:p>
            <a:pPr algn="l">
              <a:spcAft>
                <a:spcPts val="700"/>
              </a:spcAft>
            </a:pPr>
            <a:r>
              <a:rPr sz="1400" b="0" i="0">
                <a:solidFill>
                  <a:srgbClr val="14202E"/>
                </a:solidFill>
                <a:latin typeface="Calibri"/>
              </a:rPr>
              <a:t>ONNX Runtime 1.20, pinned on purpose</a:t>
            </a:r>
          </a:p>
          <a:p>
            <a:pPr algn="l">
              <a:spcAft>
                <a:spcPts val="700"/>
              </a:spcAft>
            </a:pPr>
            <a:r>
              <a:rPr sz="1400" b="0" i="0">
                <a:solidFill>
                  <a:srgbClr val="14202E"/>
                </a:solidFill>
                <a:latin typeface="Calibri"/>
              </a:rPr>
              <a:t>JavaFX 11, the Registration Client's version</a:t>
            </a:r>
          </a:p>
          <a:p>
            <a:pPr algn="l">
              <a:spcAft>
                <a:spcPts val="700"/>
              </a:spcAft>
            </a:pPr>
            <a:r>
              <a:rPr sz="1400" b="0" i="0">
                <a:solidFill>
                  <a:srgbClr val="14202E"/>
                </a:solidFill>
                <a:latin typeface="Calibri"/>
              </a:rPr>
              <a:t>Jackson, JUnit 5</a:t>
            </a:r>
          </a:p>
          <a:p>
            <a:pPr algn="l">
              <a:spcAft>
                <a:spcPts val="700"/>
              </a:spcAft>
            </a:pPr>
            <a:r>
              <a:rPr sz="1400" b="0" i="0">
                <a:solidFill>
                  <a:srgbClr val="14202E"/>
                </a:solidFill>
                <a:latin typeface="Calibri"/>
              </a:rPr>
              <a:t>Android library (AAR) for Mode D</a:t>
            </a:r>
          </a:p>
          <a:p>
            <a:pPr algn="l">
              <a:spcAft>
                <a:spcPts val="700"/>
              </a:spcAft>
            </a:pPr>
            <a:r>
              <a:rPr sz="1400" b="0" i="0">
                <a:solidFill>
                  <a:srgbClr val="14202E"/>
                </a:solidFill>
                <a:latin typeface="Calibri"/>
              </a:rPr>
              <a:t>MOSIP SBI 1.x; models: YuNet, MiniFASNet, MediaPipe, SFace</a:t>
            </a:r>
          </a:p>
        </p:txBody>
      </p:sp>
      <p:sp>
        <p:nvSpPr>
          <p:cNvPr id="4" name="Standards followed as targets"/>
          <p:cNvSpPr/>
          <p:nvPr/>
        </p:nvSpPr>
        <p:spPr>
          <a:xfrm>
            <a:off x="4270248"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Standards followed as targets</a:t>
            </a:r>
          </a:p>
          <a:p>
            <a:pPr algn="l">
              <a:spcAft>
                <a:spcPts val="700"/>
              </a:spcAft>
            </a:pPr>
            <a:r>
              <a:rPr sz="1400" b="0" i="0">
                <a:solidFill>
                  <a:srgbClr val="14202E"/>
                </a:solidFill>
                <a:latin typeface="Calibri"/>
              </a:rPr>
              <a:t>ISO/IEC 30107-1 and -3: APCER and BPCER per attack type, with intervals; ACER not reported</a:t>
            </a:r>
          </a:p>
          <a:p>
            <a:pPr algn="l">
              <a:spcAft>
                <a:spcPts val="700"/>
              </a:spcAft>
            </a:pPr>
            <a:r>
              <a:rPr sz="1400" b="0" i="0">
                <a:solidFill>
                  <a:srgbClr val="14202E"/>
                </a:solidFill>
                <a:latin typeface="Calibri"/>
              </a:rPr>
              <a:t>ISO/IEC 19794-5: the face image</a:t>
            </a:r>
          </a:p>
          <a:p>
            <a:pPr algn="l">
              <a:spcAft>
                <a:spcPts val="700"/>
              </a:spcAft>
            </a:pPr>
            <a:r>
              <a:rPr sz="1400" b="0" i="0">
                <a:solidFill>
                  <a:srgbClr val="14202E"/>
                </a:solidFill>
                <a:latin typeface="Calibri"/>
              </a:rPr>
              <a:t>ISO/IEC 29794-5 and OFIQ: quality</a:t>
            </a:r>
          </a:p>
          <a:p>
            <a:pPr algn="l">
              <a:spcAft>
                <a:spcPts val="700"/>
              </a:spcAft>
            </a:pPr>
            <a:r>
              <a:rPr sz="1400" b="0" i="0">
                <a:solidFill>
                  <a:srgbClr val="14202E"/>
                </a:solidFill>
                <a:latin typeface="Calibri"/>
              </a:rPr>
              <a:t>ISO/IEC 19795-10: demographic differentials</a:t>
            </a:r>
          </a:p>
          <a:p>
            <a:pPr algn="l">
              <a:spcAft>
                <a:spcPts val="700"/>
              </a:spcAft>
            </a:pPr>
            <a:r>
              <a:rPr sz="1400" b="0" i="0">
                <a:solidFill>
                  <a:srgbClr val="14202E"/>
                </a:solidFill>
                <a:latin typeface="Calibri"/>
              </a:rPr>
              <a:t>CEN/TS 18099: injection attacks</a:t>
            </a:r>
          </a:p>
          <a:p>
            <a:pPr algn="l">
              <a:spcAft>
                <a:spcPts val="700"/>
              </a:spcAft>
            </a:pPr>
            <a:r>
              <a:rPr sz="1400" b="0" i="0">
                <a:solidFill>
                  <a:srgbClr val="14202E"/>
                </a:solidFill>
                <a:latin typeface="Calibri"/>
              </a:rPr>
              <a:t>Not certified: no iBeta or FIDO test</a:t>
            </a:r>
          </a:p>
        </p:txBody>
      </p:sp>
      <p:sp>
        <p:nvSpPr>
          <p:cNvPr id="5" name="Licences"/>
          <p:cNvSpPr/>
          <p:nvPr/>
        </p:nvSpPr>
        <p:spPr>
          <a:xfrm>
            <a:off x="7991856"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Licences</a:t>
            </a:r>
          </a:p>
          <a:p>
            <a:pPr algn="l">
              <a:spcAft>
                <a:spcPts val="700"/>
              </a:spcAft>
            </a:pPr>
            <a:r>
              <a:rPr sz="1400" b="0" i="0">
                <a:solidFill>
                  <a:srgbClr val="14202E"/>
                </a:solidFill>
                <a:latin typeface="Calibri"/>
              </a:rPr>
              <a:t>Code: MPL-2.0, like MOSIP's repositories</a:t>
            </a:r>
          </a:p>
          <a:p>
            <a:pPr algn="l">
              <a:spcAft>
                <a:spcPts val="700"/>
              </a:spcAft>
            </a:pPr>
            <a:r>
              <a:rPr sz="1400" b="0" i="0">
                <a:solidFill>
                  <a:srgbClr val="14202E"/>
                </a:solidFill>
                <a:latin typeface="Calibri"/>
              </a:rPr>
              <a:t>YuNet: MIT</a:t>
            </a:r>
          </a:p>
          <a:p>
            <a:pPr algn="l">
              <a:spcAft>
                <a:spcPts val="700"/>
              </a:spcAft>
            </a:pPr>
            <a:r>
              <a:rPr sz="1400" b="0" i="0">
                <a:solidFill>
                  <a:srgbClr val="14202E"/>
                </a:solidFill>
                <a:latin typeface="Calibri"/>
              </a:rPr>
              <a:t>MiniFASNet, MediaPipe, SFace: Apache-2.0</a:t>
            </a:r>
          </a:p>
          <a:p>
            <a:pPr algn="l">
              <a:spcAft>
                <a:spcPts val="700"/>
              </a:spcAft>
            </a:pPr>
            <a:r>
              <a:rPr sz="1400" b="0" i="0">
                <a:solidFill>
                  <a:srgbClr val="14202E"/>
                </a:solidFill>
                <a:latin typeface="Calibri"/>
              </a:rPr>
              <a:t>SFace: development use only until its training-data terms are answered</a:t>
            </a:r>
          </a:p>
          <a:p>
            <a:pPr algn="l">
              <a:spcAft>
                <a:spcPts val="700"/>
              </a:spcAft>
            </a:pPr>
            <a:r>
              <a:rPr sz="1400" b="0" i="0">
                <a:solidFill>
                  <a:srgbClr val="14202E"/>
                </a:solidFill>
                <a:latin typeface="Calibri"/>
              </a:rPr>
              <a:t>JPEG 2000 reader: conditional; reuse MOSIP's copy in the client</a:t>
            </a:r>
          </a:p>
          <a:p>
            <a:pPr algn="l">
              <a:spcAft>
                <a:spcPts val="700"/>
              </a:spcAft>
            </a:pPr>
            <a:r>
              <a:rPr sz="1400" b="0" i="0">
                <a:solidFill>
                  <a:srgbClr val="14202E"/>
                </a:solidFill>
                <a:latin typeface="Calibri"/>
              </a:rPr>
              <a:t>Every dependency and model has a row in docs/licences.md</a:t>
            </a:r>
          </a:p>
        </p:txBody>
      </p:sp>
      <p:sp>
        <p:nvSpPr>
          <p:cNvPr id="6"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7"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