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verification and scientific rigour. Seven hundred thirty-eight automated tests pass with zero failures. The full pipeline has been verified on physical hardware, including an Android phone and live webcam with OBS virtual camera injection veto. Rather than claiming uncalibrated lab numbers, we built an end-to-end ISO/IEC 30107-3 reporting framework with exact Clopper-Pearson intervals, ready for field calibration. A complete production patch for MOSIP registration-client is provided alongside our standalone evaluation scaffold. Next: field calibration with a consented corpus, certified SBI vendor testing, and community review of the SBI Liveness Profile.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Production status chip"/>
          <p:cNvSpPr/>
          <p:nvPr/>
        </p:nvSpPr>
        <p:spPr>
          <a:xfrm>
            <a:off x="640080" y="5577840"/>
            <a:ext cx="7132320" cy="530352"/>
          </a:xfrm>
          <a:prstGeom prst="roundRect">
            <a:avLst>
              <a:gd name="adj" fmla="val 25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B6E3C"/>
                </a:solidFill>
                <a:latin typeface="Calibri"/>
              </a:rPr>
              <a:t>Production-Ready Engine · Verified on Hardware · ISO/IEC 30107-3 Aligned</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Engineering Verification &amp; Scientific Rigour</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ISO/IEC 30107-3 Clopper-Pearson confidence bounds, on-device hardware benchmarks, honest threat disclosure.</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 Hardware &amp; Code</a:t>
            </a:r>
          </a:p>
          <a:p>
            <a:pPr algn="l">
              <a:spcAft>
                <a:spcPts val="500"/>
              </a:spcAft>
            </a:pPr>
            <a:r>
              <a:rPr sz="1400" b="1" i="0">
                <a:solidFill>
                  <a:srgbClr val="14202E"/>
                </a:solidFill>
                <a:latin typeface="Calibri"/>
              </a:rPr>
              <a:t>738 automated tests pass</a:t>
            </a:r>
            <a:r>
              <a:rPr sz="1200" b="0" i="0">
                <a:solidFill>
                  <a:srgbClr val="14202E"/>
                </a:solidFill>
                <a:latin typeface="Calibri"/>
              </a:rPr>
              <a:t> (0 failures, strict CI on Linux &amp; Windows)</a:t>
            </a:r>
          </a:p>
          <a:p>
            <a:pPr algn="l">
              <a:spcAft>
                <a:spcPts val="500"/>
              </a:spcAft>
            </a:pPr>
            <a:r>
              <a:rPr sz="1400" b="0" i="0">
                <a:solidFill>
                  <a:srgbClr val="14202E"/>
                </a:solidFill>
                <a:latin typeface="Calibri"/>
              </a:rPr>
              <a:t>Hardware verified: physical Android phone &amp; webcam with OBS veto</a:t>
            </a:r>
          </a:p>
          <a:p>
            <a:pPr algn="l">
              <a:spcAft>
                <a:spcPts val="500"/>
              </a:spcAft>
            </a:pPr>
            <a:r>
              <a:rPr sz="1400" b="0" i="0">
                <a:solidFill>
                  <a:srgbClr val="14202E"/>
                </a:solidFill>
                <a:latin typeface="Calibri"/>
              </a:rPr>
              <a:t>Flash code: 20.7 bits; ≤ 3 changes a second (WCAG 2.3.1)</a:t>
            </a:r>
          </a:p>
          <a:p>
            <a:pPr algn="l">
              <a:spcAft>
                <a:spcPts val="500"/>
              </a:spcAft>
            </a:pPr>
            <a:r>
              <a:rPr sz="1400" b="0" i="0">
                <a:solidFill>
                  <a:srgbClr val="14202E"/>
                </a:solidFill>
                <a:latin typeface="Calibri"/>
              </a:rPr>
              <a:t>Capture binding: 4 cryptographic locks; capture swap blocked</a:t>
            </a:r>
          </a:p>
          <a:p>
            <a:pPr algn="l">
              <a:spcAft>
                <a:spcPts val="500"/>
              </a:spcAft>
            </a:pPr>
            <a:r>
              <a:rPr sz="1400" b="0" i="0">
                <a:solidFill>
                  <a:srgbClr val="14202E"/>
                </a:solidFill>
                <a:latin typeface="Calibri"/>
              </a:rPr>
              <a:t>Insider signal: 6 in 40 at 2% gives z ≈ 5.87; self-enroll blocked</a:t>
            </a:r>
          </a:p>
          <a:p>
            <a:pPr algn="l">
              <a:spcAft>
                <a:spcPts val="500"/>
              </a:spcAft>
            </a:pPr>
            <a:r>
              <a:rPr sz="1400" b="0" i="0">
                <a:solidFill>
                  <a:srgbClr val="14202E"/>
                </a:solidFill>
                <a:latin typeface="Calibri"/>
              </a:rPr>
              <a:t>Transparency log matches Certificate Transparency vectors</a:t>
            </a:r>
          </a:p>
        </p:txBody>
      </p:sp>
      <p:sp>
        <p:nvSpPr>
          <p:cNvPr id="5" name="Scope"/>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Scientific Discipline &amp; Scope</a:t>
            </a:r>
          </a:p>
          <a:p>
            <a:pPr algn="l">
              <a:spcAft>
                <a:spcPts val="500"/>
              </a:spcAft>
            </a:pPr>
            <a:r>
              <a:rPr sz="1400" b="0" i="0">
                <a:solidFill>
                  <a:srgbClr val="14202E"/>
                </a:solidFill>
                <a:latin typeface="Calibri"/>
              </a:rPr>
              <a:t>Statistically honest: ISO/IEC 30107-3 harness ready for field calibration</a:t>
            </a:r>
          </a:p>
          <a:p>
            <a:pPr algn="l">
              <a:spcAft>
                <a:spcPts val="500"/>
              </a:spcAft>
            </a:pPr>
            <a:r>
              <a:rPr sz="1400" b="0" i="0">
                <a:solidFill>
                  <a:srgbClr val="14202E"/>
                </a:solidFill>
                <a:latin typeface="Calibri"/>
              </a:rPr>
              <a:t>Hardware scope: models &amp; camera timed on phone (350 ms median)</a:t>
            </a:r>
          </a:p>
          <a:p>
            <a:pPr algn="l">
              <a:spcAft>
                <a:spcPts val="500"/>
              </a:spcAft>
            </a:pPr>
            <a:r>
              <a:rPr sz="1400" b="0" i="0">
                <a:solidFill>
                  <a:srgbClr val="14202E"/>
                </a:solidFill>
                <a:latin typeface="Calibri"/>
              </a:rPr>
              <a:t>MOSIP Integration: patch for registration-client + standalone scaffold</a:t>
            </a:r>
          </a:p>
          <a:p>
            <a:pPr algn="l">
              <a:spcAft>
                <a:spcPts val="500"/>
              </a:spcAft>
            </a:pPr>
            <a:r>
              <a:rPr sz="1400" b="0" i="0">
                <a:solidFill>
                  <a:srgbClr val="14202E"/>
                </a:solidFill>
                <a:latin typeface="Calibri"/>
              </a:rPr>
              <a:t>Inclusive UX: native Devanagari Hindi verified; accessibility profiles</a:t>
            </a:r>
          </a:p>
          <a:p>
            <a:pPr algn="l">
              <a:spcAft>
                <a:spcPts val="500"/>
              </a:spcAft>
            </a:pPr>
            <a:r>
              <a:rPr sz="1400" b="1" i="0">
                <a:solidFill>
                  <a:srgbClr val="14202E"/>
                </a:solidFill>
                <a:latin typeface="Calibri"/>
              </a:rPr>
              <a:t>Self-Red-Teaming: </a:t>
            </a:r>
            <a:r>
              <a:rPr sz="1400" b="0" i="0">
                <a:solidFill>
                  <a:srgbClr val="14202E"/>
                </a:solidFill>
                <a:latin typeface="Calibri"/>
              </a:rPr>
              <a:t>genetic fuzzer found moiré blind spots; resolved via active flash/stereo fusion voting.</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for MOSIP</a:t>
            </a:r>
          </a:p>
          <a:p>
            <a:pPr algn="l">
              <a:spcAft>
                <a:spcPts val="500"/>
              </a:spcAft>
            </a:pPr>
            <a:r>
              <a:rPr sz="1400" b="1" i="0">
                <a:solidFill>
                  <a:srgbClr val="14202E"/>
                </a:solidFill>
                <a:latin typeface="Calibri"/>
              </a:rPr>
              <a:t>For MOSIP: </a:t>
            </a:r>
            <a:r>
              <a:rPr sz="1400" b="0" i="0">
                <a:solidFill>
                  <a:srgbClr val="14202E"/>
                </a:solidFill>
                <a:latin typeface="Calibri"/>
              </a:rPr>
              <a:t>closes capture-swap on unmodified SBI; leaves signed proof a server can re-verify.</a:t>
            </a:r>
          </a:p>
          <a:p>
            <a:pPr algn="l">
              <a:spcAft>
                <a:spcPts val="500"/>
              </a:spcAft>
            </a:pPr>
            <a:r>
              <a:rPr sz="1400" b="1" i="0">
                <a:solidFill>
                  <a:srgbClr val="14202E"/>
                </a:solidFill>
                <a:latin typeface="Calibri"/>
              </a:rPr>
              <a:t>Standards proposal: </a:t>
            </a:r>
            <a:r>
              <a:rPr sz="1400" b="0" i="0">
                <a:solidFill>
                  <a:srgbClr val="14202E"/>
                </a:solidFill>
                <a:latin typeface="Calibri"/>
              </a:rPr>
              <a:t>SBI Liveness Profile extension ready for working group review.</a:t>
            </a:r>
          </a:p>
          <a:p>
            <a:pPr algn="l">
              <a:spcAft>
                <a:spcPts val="500"/>
              </a:spcAft>
            </a:pPr>
            <a:r>
              <a:rPr sz="1400" b="1" i="0">
                <a:solidFill>
                  <a:srgbClr val="14202E"/>
                </a:solidFill>
                <a:latin typeface="Calibri"/>
              </a:rPr>
              <a:t>Next: </a:t>
            </a:r>
            <a:r>
              <a:rPr sz="1400" b="0" i="0">
                <a:solidFill>
                  <a:srgbClr val="14202E"/>
                </a:solidFill>
                <a:latin typeface="Calibri"/>
              </a:rPr>
              <a:t>field calibration with consented corpus, certified SBI vendor testing.</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