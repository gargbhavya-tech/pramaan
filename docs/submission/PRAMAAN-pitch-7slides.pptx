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PRAMAAN, which means proof. Face liveness and presentation attack detection for the MOSIP Registration Client, for MOSIP Decode 2026, problem statement four. The idea in one picture: the preview that gets analysed and the capture that gets stored are two separate paths that nothing links. PRAMAAN links them and keeps the proof. One honest note first: this is a working engine that has not yet been measured on real attacks.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preview is unsigned. The capture that is stored is signed. Nothing links the two. So whoever controls the preview can pass liveness with one face while another face is enrolled. On Android the client never even sees the preview. A virtual camera or a deepfake is outside the standard that covers presentation attacks. A corrupt operator can log in with a supervisor's photo. And a pass or fail made on the client cannot be re-checked by the server later.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main point. Six ideas, each replacing a shortcut. One: judge the preview but store a separate capture, versus binding the two with four locks. Two: a pass or fail the server must trust, versus signed evidence it can re-check or re-score. Three: one model, versus six cues that fail differently. Four: a challenge a recording can follow, versus a random one with a twenty point seven bit flash code. Five: camera only, versus also checking the device identity, the operating system's camera list and the stream fingerprint. Six: checks that fail elderly, disabled and darker skinned residents for innocent reasons, versus cues that only ever vote for life. Each of these is built and tested; none is claimed beyond what the claim sheet allows.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paths leave the device. The preview, dashed and red, is unsigned and goes to the engine for analysis. The capture, solid and green, is signed by the device with our session nonce inside, and goes to the binder. The binder is what links them: four locks decide whether the signed capture is the face that was watched. Only then is evidence packaged, signed, stored in the face record's others map and sent to the server, which can re-check it or re-score it later. The numbered badges are the six ideas from the previous slide, placed on the part of the system where each one lives. On Android the engine runs inside the device app, because the client never sees the preview there.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how the first idea works. At the start the client makes a random nonce. Every frame it analyses goes into a hash chain. When it asks the device for the capture, it sends the nonce as the transaction ID, and the device signs it inside the capture. Then four locks decide. Lock one, the nonce comes back inside the signed data, which stops an old or foreign capture. Lock two, the hash chain, stops dropped or inserted frames. Lock three, the face in the signed capture must match the face in the preview, and that is the capture swap. Lock four, the capture must be recent. Each of these is a test. The first four locks need no change to the device. The real response on the slide is from our reference device.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more ideas. Idea three: cues that fail differently. The passive model, moire, flash reflection, scene and light consistency, stereo depth and a stream fingerprint each catch something and are blind to something else. The design goal is that the holes do not overlap, and a cue that cannot run abstains instead of failing anyone. Our own red team found that the moire cue is blind at some display pitches, and we show that openly. Idea four: a challenge nobody can pre-record. The screen flashes a random sequence of six colours over eight steps, which is one million six hundred seventy nine thousand six hundred sixteen sequences, or twenty point seven bits, and a live face reflects it. It is limited to three colour changes a second for photosensitivity. It is built and tested on synthetic data and needs a light facing the resident. Idea two: evidence, not a verdict. A signed record in the face record's others map that the server can re-check with one command, re-score years later with a newer model, and that a transparency log makes impossible to quietly omit.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we verify and what we do not claim. Six hundred seventy three automated tests pass; on a fresh clone twenty skip because the face models are not in the repository. We have not measured an error rate on real attacks because no real corpus exists. It has not run on a real device or a phone, it is a scaffold, and no user has tried the screens yet. Our own red team found that, on synthetic replays with no flash light, the fusion accepted four of eighty five display pitches, and none with the flash cue; we logged it and did not turn on the proposed fix. Next: one real experiment, a consented corpus, a real device, real users. And one question for MOSIP: how should an SBI extension be proposed?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4F8A"/>
        </a:solidFill>
        <a:effectLst/>
      </p:bgPr>
    </p:bg>
    <p:spTree>
      <p:nvGrpSpPr>
        <p:cNvPr id="1" name=""/>
        <p:cNvGrpSpPr/>
        <p:nvPr/>
      </p:nvGrpSpPr>
      <p:grpSpPr/>
      <p:sp>
        <p:nvSpPr>
          <p:cNvPr id="2" name="Title"/>
          <p:cNvSpPr txBox="1"/>
          <p:nvPr/>
        </p:nvSpPr>
        <p:spPr>
          <a:xfrm>
            <a:off x="640080" y="1097280"/>
            <a:ext cx="6949440" cy="1097280"/>
          </a:xfrm>
          <a:prstGeom prst="rect">
            <a:avLst/>
          </a:prstGeom>
          <a:noFill/>
        </p:spPr>
        <p:txBody>
          <a:bodyPr wrap="square" anchor="t" lIns="0" rIns="0" tIns="0" bIns="0">
            <a:spAutoFit/>
          </a:bodyPr>
          <a:lstStyle/>
          <a:p>
            <a:pPr algn="l">
              <a:lnSpc>
                <a:spcPct val="105000"/>
              </a:lnSpc>
              <a:spcAft>
                <a:spcPts val="0"/>
              </a:spcAft>
            </a:pPr>
            <a:r>
              <a:rPr sz="6400" b="1" i="0">
                <a:solidFill>
                  <a:srgbClr val="FFFFFF"/>
                </a:solidFill>
                <a:latin typeface="Calibri"/>
              </a:rPr>
              <a:t>PRAMAAN </a:t>
            </a:r>
            <a:r>
              <a:rPr sz="6400" b="0" i="0">
                <a:solidFill>
                  <a:srgbClr val="FFFFFF"/>
                </a:solidFill>
                <a:latin typeface="Nirmala UI"/>
              </a:rPr>
              <a:t>प्रमाण</a:t>
            </a:r>
          </a:p>
        </p:txBody>
      </p:sp>
      <p:sp>
        <p:nvSpPr>
          <p:cNvPr id="3" name="Tagline"/>
          <p:cNvSpPr txBox="1"/>
          <p:nvPr/>
        </p:nvSpPr>
        <p:spPr>
          <a:xfrm>
            <a:off x="640080" y="2286000"/>
            <a:ext cx="6949440" cy="640080"/>
          </a:xfrm>
          <a:prstGeom prst="rect">
            <a:avLst/>
          </a:prstGeom>
          <a:noFill/>
        </p:spPr>
        <p:txBody>
          <a:bodyPr wrap="square" anchor="t" lIns="0" rIns="0" tIns="0" bIns="0">
            <a:spAutoFit/>
          </a:bodyPr>
          <a:lstStyle/>
          <a:p>
            <a:pPr algn="l">
              <a:lnSpc>
                <a:spcPct val="105000"/>
              </a:lnSpc>
              <a:spcAft>
                <a:spcPts val="600"/>
              </a:spcAft>
            </a:pPr>
            <a:r>
              <a:rPr sz="3600" b="1" i="0">
                <a:solidFill>
                  <a:srgbClr val="FFFFFF"/>
                </a:solidFill>
                <a:latin typeface="Calibri"/>
              </a:rPr>
              <a:t>Proof, not a verdict.</a:t>
            </a:r>
          </a:p>
        </p:txBody>
      </p:sp>
      <p:sp>
        <p:nvSpPr>
          <p:cNvPr id="4" name="Summary"/>
          <p:cNvSpPr txBox="1"/>
          <p:nvPr/>
        </p:nvSpPr>
        <p:spPr>
          <a:xfrm>
            <a:off x="640080" y="3063240"/>
            <a:ext cx="6583680" cy="1371600"/>
          </a:xfrm>
          <a:prstGeom prst="rect">
            <a:avLst/>
          </a:prstGeom>
          <a:noFill/>
        </p:spPr>
        <p:txBody>
          <a:bodyPr wrap="square" anchor="t" lIns="0" rIns="0" tIns="0" bIns="0">
            <a:spAutoFit/>
          </a:bodyPr>
          <a:lstStyle/>
          <a:p>
            <a:pPr algn="l">
              <a:lnSpc>
                <a:spcPct val="105000"/>
              </a:lnSpc>
              <a:spcAft>
                <a:spcPts val="600"/>
              </a:spcAft>
            </a:pPr>
            <a:r>
              <a:rPr sz="2200" b="0" i="0">
                <a:solidFill>
                  <a:srgbClr val="DCE8F5"/>
                </a:solidFill>
                <a:latin typeface="Calibri"/>
              </a:rPr>
              <a:t>Face liveness and presentation-attack detection for the MOSIP Registration Client, desktop and Android, that leaves evidence a server can re-check.</a:t>
            </a:r>
          </a:p>
        </p:txBody>
      </p:sp>
      <p:sp>
        <p:nvSpPr>
          <p:cNvPr id="5" name="Meta"/>
          <p:cNvSpPr txBox="1"/>
          <p:nvPr/>
        </p:nvSpPr>
        <p:spPr>
          <a:xfrm>
            <a:off x="640080" y="4617720"/>
            <a:ext cx="6766560" cy="731520"/>
          </a:xfrm>
          <a:prstGeom prst="rect">
            <a:avLst/>
          </a:prstGeom>
          <a:noFill/>
        </p:spPr>
        <p:txBody>
          <a:bodyPr wrap="square" anchor="t" lIns="0" rIns="0" tIns="0" bIns="0">
            <a:spAutoFit/>
          </a:bodyPr>
          <a:lstStyle/>
          <a:p>
            <a:pPr algn="l">
              <a:lnSpc>
                <a:spcPct val="105000"/>
              </a:lnSpc>
              <a:spcAft>
                <a:spcPts val="300"/>
              </a:spcAft>
            </a:pPr>
            <a:r>
              <a:rPr sz="1700" b="0" i="0">
                <a:solidFill>
                  <a:srgbClr val="DCE8F5"/>
                </a:solidFill>
                <a:latin typeface="Calibri"/>
              </a:rPr>
              <a:t>MOSIP Decode 2026  ·  Problem Statement 04</a:t>
            </a:r>
          </a:p>
          <a:p>
            <a:pPr algn="l">
              <a:lnSpc>
                <a:spcPct val="105000"/>
              </a:lnSpc>
              <a:spcAft>
                <a:spcPts val="300"/>
              </a:spcAft>
            </a:pPr>
            <a:r>
              <a:rPr sz="1700" b="0" i="0">
                <a:solidFill>
                  <a:srgbClr val="DCE8F5"/>
                </a:solidFill>
                <a:latin typeface="Calibri"/>
              </a:rPr>
              <a:t>Team: Bhavya Garg  ·  github.com/GargBhavya-tech/pramaan</a:t>
            </a:r>
          </a:p>
        </p:txBody>
      </p:sp>
      <p:sp>
        <p:nvSpPr>
          <p:cNvPr id="6" name="Honest status chip"/>
          <p:cNvSpPr/>
          <p:nvPr/>
        </p:nvSpPr>
        <p:spPr>
          <a:xfrm>
            <a:off x="640080" y="5577840"/>
            <a:ext cx="5760720" cy="530352"/>
          </a:xfrm>
          <a:prstGeom prst="roundRect">
            <a:avLst>
              <a:gd name="adj" fmla="val 25000"/>
            </a:avLst>
          </a:prstGeom>
          <a:solidFill>
            <a:srgbClr val="FFF4D6"/>
          </a:solidFill>
          <a:ln w="22225">
            <a:solidFill>
              <a:srgbClr val="6B450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300"/>
              </a:spcAft>
            </a:pPr>
            <a:r>
              <a:rPr sz="1700" b="1" i="0">
                <a:solidFill>
                  <a:srgbClr val="4A2F00"/>
                </a:solidFill>
                <a:latin typeface="Calibri"/>
              </a:rPr>
              <a:t>A working engine, not yet measured on real attacks</a:t>
            </a:r>
          </a:p>
        </p:txBody>
      </p:sp>
      <p:sp>
        <p:nvSpPr>
          <p:cNvPr id="7" name="Hero: preview"/>
          <p:cNvSpPr/>
          <p:nvPr/>
        </p:nvSpPr>
        <p:spPr>
          <a:xfrm>
            <a:off x="7955279" y="1097280"/>
            <a:ext cx="3657600" cy="9601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300"/>
              </a:spcAft>
            </a:pPr>
            <a:r>
              <a:rPr sz="1900" b="1" i="0">
                <a:solidFill>
                  <a:srgbClr val="8E1220"/>
                </a:solidFill>
                <a:latin typeface="Calibri"/>
              </a:rPr>
              <a:t>unsigned preview</a:t>
            </a:r>
          </a:p>
          <a:p>
            <a:pPr algn="l">
              <a:spcAft>
                <a:spcPts val="300"/>
              </a:spcAft>
            </a:pPr>
            <a:r>
              <a:rPr sz="1500" b="0" i="0">
                <a:solidFill>
                  <a:srgbClr val="14202E"/>
                </a:solidFill>
                <a:latin typeface="Calibri"/>
              </a:rPr>
              <a:t>analysed for liveness</a:t>
            </a:r>
          </a:p>
        </p:txBody>
      </p:sp>
      <p:sp>
        <p:nvSpPr>
          <p:cNvPr id="8" name="Hero: capture"/>
          <p:cNvSpPr/>
          <p:nvPr/>
        </p:nvSpPr>
        <p:spPr>
          <a:xfrm>
            <a:off x="7955279" y="2514600"/>
            <a:ext cx="3657600" cy="9601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300"/>
              </a:spcAft>
            </a:pPr>
            <a:r>
              <a:rPr sz="1900" b="1" i="0">
                <a:solidFill>
                  <a:srgbClr val="1B6E3C"/>
                </a:solidFill>
                <a:latin typeface="Calibri"/>
              </a:rPr>
              <a:t>signed capture</a:t>
            </a:r>
          </a:p>
          <a:p>
            <a:pPr algn="l">
              <a:spcAft>
                <a:spcPts val="300"/>
              </a:spcAft>
            </a:pPr>
            <a:r>
              <a:rPr sz="1500" b="0" i="0">
                <a:solidFill>
                  <a:srgbClr val="14202E"/>
                </a:solidFill>
                <a:latin typeface="Calibri"/>
              </a:rPr>
              <a:t>stored in the packet</a:t>
            </a:r>
          </a:p>
        </p:txBody>
      </p:sp>
      <p:cxnSp>
        <p:nvCxnSpPr>
          <p:cNvPr id="9" name="Connector 8"/>
          <p:cNvCxnSpPr/>
          <p:nvPr/>
        </p:nvCxnSpPr>
        <p:spPr>
          <a:xfrm>
            <a:off x="9784080" y="2103120"/>
            <a:ext cx="0" cy="365760"/>
          </a:xfrm>
          <a:prstGeom prst="line">
            <a:avLst/>
          </a:prstGeom>
          <a:ln w="38100">
            <a:solidFill>
              <a:srgbClr val="FFFFFF"/>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784080" y="3520440"/>
            <a:ext cx="0" cy="457199"/>
          </a:xfrm>
          <a:prstGeom prst="line">
            <a:avLst/>
          </a:prstGeom>
          <a:ln w="38100">
            <a:solidFill>
              <a:srgbClr val="FFFFFF"/>
            </a:solidFill>
            <a:tailEnd type="triangle"/>
          </a:ln>
        </p:spPr>
        <p:style>
          <a:lnRef idx="2">
            <a:schemeClr val="accent1"/>
          </a:lnRef>
          <a:fillRef idx="0">
            <a:schemeClr val="accent1"/>
          </a:fillRef>
          <a:effectRef idx="1">
            <a:schemeClr val="accent1"/>
          </a:effectRef>
          <a:fontRef idx="minor">
            <a:schemeClr val="tx1"/>
          </a:fontRef>
        </p:style>
      </p:cxnSp>
      <p:sp>
        <p:nvSpPr>
          <p:cNvPr id="11" name="Hero: binder"/>
          <p:cNvSpPr/>
          <p:nvPr/>
        </p:nvSpPr>
        <p:spPr>
          <a:xfrm>
            <a:off x="7955279" y="4023360"/>
            <a:ext cx="3657600" cy="1234440"/>
          </a:xfrm>
          <a:prstGeom prst="roundRect">
            <a:avLst>
              <a:gd name="adj" fmla="val 8000"/>
            </a:avLst>
          </a:prstGeom>
          <a:solidFill>
            <a:srgbClr val="E6F4EA"/>
          </a:solidFill>
          <a:ln w="38100">
            <a:solidFill>
              <a:srgbClr val="1B6E3C"/>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300"/>
              </a:spcAft>
            </a:pPr>
            <a:r>
              <a:rPr sz="2000" b="1" i="0">
                <a:solidFill>
                  <a:srgbClr val="1B6E3C"/>
                </a:solidFill>
                <a:latin typeface="Calibri"/>
              </a:rPr>
              <a:t>PRAMAAN links them</a:t>
            </a:r>
          </a:p>
          <a:p>
            <a:pPr algn="ctr">
              <a:spcAft>
                <a:spcPts val="300"/>
              </a:spcAft>
            </a:pPr>
            <a:r>
              <a:rPr sz="1600" b="0" i="0">
                <a:solidFill>
                  <a:srgbClr val="14202E"/>
                </a:solidFill>
                <a:latin typeface="Calibri"/>
              </a:rPr>
              <a:t>four locks, then signed evidence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47472"/>
            <a:ext cx="11064240" cy="685800"/>
          </a:xfrm>
          <a:prstGeom prst="rect">
            <a:avLst/>
          </a:prstGeom>
          <a:noFill/>
        </p:spPr>
        <p:txBody>
          <a:bodyPr wrap="square" anchor="t" lIns="0" rIns="0" tIns="0" bIns="0">
            <a:spAutoFit/>
          </a:bodyPr>
          <a:lstStyle/>
          <a:p>
            <a:pPr algn="l">
              <a:lnSpc>
                <a:spcPct val="105000"/>
              </a:lnSpc>
              <a:spcAft>
                <a:spcPts val="600"/>
              </a:spcAft>
            </a:pPr>
            <a:r>
              <a:rPr sz="3600" b="1" i="0">
                <a:solidFill>
                  <a:srgbClr val="1B4F8A"/>
                </a:solidFill>
                <a:latin typeface="Calibri"/>
              </a:rPr>
              <a:t>The gap nobody names</a:t>
            </a:r>
          </a:p>
        </p:txBody>
      </p:sp>
      <p:sp>
        <p:nvSpPr>
          <p:cNvPr id="3" name="Subtitle"/>
          <p:cNvSpPr txBox="1"/>
          <p:nvPr/>
        </p:nvSpPr>
        <p:spPr>
          <a:xfrm>
            <a:off x="548640" y="1024128"/>
            <a:ext cx="11064240" cy="548640"/>
          </a:xfrm>
          <a:prstGeom prst="rect">
            <a:avLst/>
          </a:prstGeom>
          <a:noFill/>
        </p:spPr>
        <p:txBody>
          <a:bodyPr wrap="square" anchor="t" lIns="0" rIns="0" tIns="0" bIns="0">
            <a:spAutoFit/>
          </a:bodyPr>
          <a:lstStyle/>
          <a:p>
            <a:pPr algn="l">
              <a:lnSpc>
                <a:spcPct val="105000"/>
              </a:lnSpc>
              <a:spcAft>
                <a:spcPts val="600"/>
              </a:spcAft>
            </a:pPr>
            <a:r>
              <a:rPr sz="1800" b="0" i="0">
                <a:solidFill>
                  <a:srgbClr val="3B4A5A"/>
                </a:solidFill>
                <a:latin typeface="Calibri"/>
              </a:rPr>
              <a:t>The preview is unsigned. The capture is signed. Nothing links them.</a:t>
            </a:r>
          </a:p>
        </p:txBody>
      </p:sp>
      <p:sp>
        <p:nvSpPr>
          <p:cNvPr id="4" name="Camera and device"/>
          <p:cNvSpPr/>
          <p:nvPr/>
        </p:nvSpPr>
        <p:spPr>
          <a:xfrm>
            <a:off x="548640" y="1828800"/>
            <a:ext cx="2011680" cy="1417320"/>
          </a:xfrm>
          <a:prstGeom prst="roundRect">
            <a:avLst>
              <a:gd name="adj" fmla="val 8000"/>
            </a:avLst>
          </a:prstGeom>
          <a:solidFill>
            <a:srgbClr val="E7EFF8"/>
          </a:solidFill>
          <a:ln w="22225">
            <a:solidFill>
              <a:srgbClr val="1B4F8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300"/>
              </a:spcAft>
            </a:pPr>
            <a:r>
              <a:rPr sz="1900" b="1" i="0">
                <a:solidFill>
                  <a:srgbClr val="173F70"/>
                </a:solidFill>
                <a:latin typeface="Calibri"/>
              </a:rPr>
              <a:t>Camera /</a:t>
            </a:r>
          </a:p>
          <a:p>
            <a:pPr algn="ctr">
              <a:spcAft>
                <a:spcPts val="300"/>
              </a:spcAft>
            </a:pPr>
            <a:r>
              <a:rPr sz="1900" b="1" i="0">
                <a:solidFill>
                  <a:srgbClr val="173F70"/>
                </a:solidFill>
                <a:latin typeface="Calibri"/>
              </a:rPr>
              <a:t>SBI device</a:t>
            </a:r>
          </a:p>
        </p:txBody>
      </p:sp>
      <p:cxnSp>
        <p:nvCxnSpPr>
          <p:cNvPr id="5" name="Unsigned preview arrow"/>
          <p:cNvCxnSpPr/>
          <p:nvPr/>
        </p:nvCxnSpPr>
        <p:spPr>
          <a:xfrm>
            <a:off x="2606040" y="2240280"/>
            <a:ext cx="3063240" cy="0"/>
          </a:xfrm>
          <a:prstGeom prst="line">
            <a:avLst/>
          </a:prstGeom>
          <a:ln w="38100">
            <a:solidFill>
              <a:srgbClr val="8E1220"/>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834640" y="1828800"/>
            <a:ext cx="2743200" cy="320040"/>
          </a:xfrm>
          <a:prstGeom prst="rect">
            <a:avLst/>
          </a:prstGeom>
          <a:noFill/>
        </p:spPr>
        <p:txBody>
          <a:bodyPr wrap="square" anchor="t" lIns="0" rIns="0" tIns="0" bIns="0">
            <a:spAutoFit/>
          </a:bodyPr>
          <a:lstStyle/>
          <a:p>
            <a:pPr algn="ctr">
              <a:lnSpc>
                <a:spcPct val="105000"/>
              </a:lnSpc>
              <a:spcAft>
                <a:spcPts val="600"/>
              </a:spcAft>
            </a:pPr>
            <a:r>
              <a:rPr sz="1500" b="1" i="0">
                <a:solidFill>
                  <a:srgbClr val="8E1220"/>
                </a:solidFill>
                <a:latin typeface="Calibri"/>
              </a:rPr>
              <a:t>unsigned preview</a:t>
            </a:r>
          </a:p>
        </p:txBody>
      </p:sp>
      <p:sp>
        <p:nvSpPr>
          <p:cNvPr id="7" name="Liveness passes on face A"/>
          <p:cNvSpPr/>
          <p:nvPr/>
        </p:nvSpPr>
        <p:spPr>
          <a:xfrm>
            <a:off x="5760720" y="1828800"/>
            <a:ext cx="5852160" cy="777240"/>
          </a:xfrm>
          <a:prstGeom prst="roundRect">
            <a:avLst>
              <a:gd name="adj" fmla="val 8000"/>
            </a:avLst>
          </a:prstGeom>
          <a:solidFill>
            <a:srgbClr val="FDE8EA"/>
          </a:solidFill>
          <a:ln w="22225">
            <a:solidFill>
              <a:srgbClr val="8E122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300"/>
              </a:spcAft>
            </a:pPr>
            <a:r>
              <a:rPr sz="2000" b="1" i="0">
                <a:solidFill>
                  <a:srgbClr val="8E1220"/>
                </a:solidFill>
                <a:latin typeface="Calibri"/>
              </a:rPr>
              <a:t>Liveness check passes on face A</a:t>
            </a:r>
          </a:p>
        </p:txBody>
      </p:sp>
      <p:cxnSp>
        <p:nvCxnSpPr>
          <p:cNvPr id="8" name="Signed capture arrow"/>
          <p:cNvCxnSpPr/>
          <p:nvPr/>
        </p:nvCxnSpPr>
        <p:spPr>
          <a:xfrm>
            <a:off x="2606040" y="2880360"/>
            <a:ext cx="3063240" cy="0"/>
          </a:xfrm>
          <a:prstGeom prst="line">
            <a:avLst/>
          </a:prstGeom>
          <a:ln w="38100">
            <a:solidFill>
              <a:srgbClr val="1B6E3C"/>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834640" y="2487168"/>
            <a:ext cx="2743200" cy="320040"/>
          </a:xfrm>
          <a:prstGeom prst="rect">
            <a:avLst/>
          </a:prstGeom>
          <a:noFill/>
        </p:spPr>
        <p:txBody>
          <a:bodyPr wrap="square" anchor="t" lIns="0" rIns="0" tIns="0" bIns="0">
            <a:spAutoFit/>
          </a:bodyPr>
          <a:lstStyle/>
          <a:p>
            <a:pPr algn="ctr">
              <a:lnSpc>
                <a:spcPct val="105000"/>
              </a:lnSpc>
              <a:spcAft>
                <a:spcPts val="600"/>
              </a:spcAft>
            </a:pPr>
            <a:r>
              <a:rPr sz="1500" b="1" i="0">
                <a:solidFill>
                  <a:srgbClr val="1B6E3C"/>
                </a:solidFill>
                <a:latin typeface="Calibri"/>
              </a:rPr>
              <a:t>signed capture</a:t>
            </a:r>
          </a:p>
        </p:txBody>
      </p:sp>
      <p:sp>
        <p:nvSpPr>
          <p:cNvPr id="10" name="Packet stores face B"/>
          <p:cNvSpPr/>
          <p:nvPr/>
        </p:nvSpPr>
        <p:spPr>
          <a:xfrm>
            <a:off x="5760720" y="2697480"/>
            <a:ext cx="5852160" cy="777240"/>
          </a:xfrm>
          <a:prstGeom prst="roundRect">
            <a:avLst>
              <a:gd name="adj" fmla="val 8000"/>
            </a:avLst>
          </a:prstGeom>
          <a:solidFill>
            <a:srgbClr val="FDE8EA"/>
          </a:solidFill>
          <a:ln w="22225">
            <a:solidFill>
              <a:srgbClr val="8E122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300"/>
              </a:spcAft>
            </a:pPr>
            <a:r>
              <a:rPr sz="2000" b="1" i="0">
                <a:solidFill>
                  <a:srgbClr val="8E1220"/>
                </a:solidFill>
                <a:latin typeface="Calibri"/>
              </a:rPr>
              <a:t>Registration packet stores face B</a:t>
            </a:r>
          </a:p>
        </p:txBody>
      </p:sp>
      <p:sp>
        <p:nvSpPr>
          <p:cNvPr id="11" name="The attacker"/>
          <p:cNvSpPr/>
          <p:nvPr/>
        </p:nvSpPr>
        <p:spPr>
          <a:xfrm>
            <a:off x="3154680" y="3310128"/>
            <a:ext cx="2468880" cy="566928"/>
          </a:xfrm>
          <a:prstGeom prst="roundRect">
            <a:avLst>
              <a:gd name="adj" fmla="val 8000"/>
            </a:avLst>
          </a:prstGeom>
          <a:solidFill>
            <a:srgbClr val="8E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300"/>
              </a:spcAft>
            </a:pPr>
            <a:r>
              <a:rPr sz="1400" b="1" i="0">
                <a:solidFill>
                  <a:srgbClr val="FFFFFF"/>
                </a:solidFill>
                <a:latin typeface="Calibri"/>
              </a:rPr>
              <a:t>Attacker controls the preview</a:t>
            </a:r>
          </a:p>
        </p:txBody>
      </p:sp>
      <p:cxnSp>
        <p:nvCxnSpPr>
          <p:cNvPr id="12" name="Attacker arrow"/>
          <p:cNvCxnSpPr/>
          <p:nvPr/>
        </p:nvCxnSpPr>
        <p:spPr>
          <a:xfrm flipV="1">
            <a:off x="5440680" y="2286000"/>
            <a:ext cx="0" cy="1005840"/>
          </a:xfrm>
          <a:prstGeom prst="line">
            <a:avLst/>
          </a:prstGeom>
          <a:ln w="25400">
            <a:solidFill>
              <a:srgbClr val="8E1220"/>
            </a:solidFill>
            <a:tailEnd type="triangle"/>
          </a:ln>
        </p:spPr>
        <p:style>
          <a:lnRef idx="2">
            <a:schemeClr val="accent1"/>
          </a:lnRef>
          <a:fillRef idx="0">
            <a:schemeClr val="accent1"/>
          </a:fillRef>
          <a:effectRef idx="1">
            <a:schemeClr val="accent1"/>
          </a:effectRef>
          <a:fontRef idx="minor">
            <a:schemeClr val="tx1"/>
          </a:fontRef>
        </p:style>
      </p:cxnSp>
      <p:sp>
        <p:nvSpPr>
          <p:cNvPr id="13" name="Threat: Capture swap"/>
          <p:cNvSpPr/>
          <p:nvPr/>
        </p:nvSpPr>
        <p:spPr>
          <a:xfrm>
            <a:off x="548640" y="4251960"/>
            <a:ext cx="2697480" cy="1920240"/>
          </a:xfrm>
          <a:prstGeom prst="roundRect">
            <a:avLst>
              <a:gd name="adj" fmla="val 8000"/>
            </a:avLst>
          </a:prstGeom>
          <a:solidFill>
            <a:srgbClr val="EEF1F4"/>
          </a:solidFill>
          <a:ln w="22225">
            <a:solidFill>
              <a:srgbClr val="CFD6DD"/>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600"/>
              </a:spcAft>
            </a:pPr>
            <a:r>
              <a:rPr sz="1800" b="1" i="0">
                <a:solidFill>
                  <a:srgbClr val="8E1220"/>
                </a:solidFill>
                <a:latin typeface="Calibri"/>
              </a:rPr>
              <a:t>Capture swap</a:t>
            </a:r>
          </a:p>
          <a:p>
            <a:pPr algn="l">
              <a:spcAft>
                <a:spcPts val="600"/>
              </a:spcAft>
            </a:pPr>
            <a:r>
              <a:rPr sz="1500" b="0" i="0">
                <a:solidFill>
                  <a:srgbClr val="14202E"/>
                </a:solidFill>
                <a:latin typeface="Calibri"/>
              </a:rPr>
              <a:t>Whoever controls the preview can pass liveness with one face and enrol another.</a:t>
            </a:r>
          </a:p>
        </p:txBody>
      </p:sp>
      <p:sp>
        <p:nvSpPr>
          <p:cNvPr id="14" name="Threat: Android never sees it"/>
          <p:cNvSpPr/>
          <p:nvPr/>
        </p:nvSpPr>
        <p:spPr>
          <a:xfrm>
            <a:off x="3337560" y="4251960"/>
            <a:ext cx="2697480" cy="1920240"/>
          </a:xfrm>
          <a:prstGeom prst="roundRect">
            <a:avLst>
              <a:gd name="adj" fmla="val 8000"/>
            </a:avLst>
          </a:prstGeom>
          <a:solidFill>
            <a:srgbClr val="EEF1F4"/>
          </a:solidFill>
          <a:ln w="22225">
            <a:solidFill>
              <a:srgbClr val="CFD6DD"/>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600"/>
              </a:spcAft>
            </a:pPr>
            <a:r>
              <a:rPr sz="1800" b="1" i="0">
                <a:solidFill>
                  <a:srgbClr val="8E1220"/>
                </a:solidFill>
                <a:latin typeface="Calibri"/>
              </a:rPr>
              <a:t>Android never sees it</a:t>
            </a:r>
          </a:p>
          <a:p>
            <a:pPr algn="l">
              <a:spcAft>
                <a:spcPts val="600"/>
              </a:spcAft>
            </a:pPr>
            <a:r>
              <a:rPr sz="1500" b="0" i="0">
                <a:solidFill>
                  <a:srgbClr val="14202E"/>
                </a:solidFill>
                <a:latin typeface="Calibri"/>
              </a:rPr>
              <a:t>The client gets only the signed capture; the device app shows the stream.</a:t>
            </a:r>
          </a:p>
        </p:txBody>
      </p:sp>
      <p:sp>
        <p:nvSpPr>
          <p:cNvPr id="15" name="Threat: Injection and insiders"/>
          <p:cNvSpPr/>
          <p:nvPr/>
        </p:nvSpPr>
        <p:spPr>
          <a:xfrm>
            <a:off x="6126480" y="4251960"/>
            <a:ext cx="2697480" cy="1920240"/>
          </a:xfrm>
          <a:prstGeom prst="roundRect">
            <a:avLst>
              <a:gd name="adj" fmla="val 8000"/>
            </a:avLst>
          </a:prstGeom>
          <a:solidFill>
            <a:srgbClr val="EEF1F4"/>
          </a:solidFill>
          <a:ln w="22225">
            <a:solidFill>
              <a:srgbClr val="CFD6DD"/>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600"/>
              </a:spcAft>
            </a:pPr>
            <a:r>
              <a:rPr sz="1800" b="1" i="0">
                <a:solidFill>
                  <a:srgbClr val="8E1220"/>
                </a:solidFill>
                <a:latin typeface="Calibri"/>
              </a:rPr>
              <a:t>Injection and insiders</a:t>
            </a:r>
          </a:p>
          <a:p>
            <a:pPr algn="l">
              <a:spcAft>
                <a:spcPts val="600"/>
              </a:spcAft>
            </a:pPr>
            <a:r>
              <a:rPr sz="1500" b="0" i="0">
                <a:solidFill>
                  <a:srgbClr val="14202E"/>
                </a:solidFill>
                <a:latin typeface="Calibri"/>
              </a:rPr>
              <a:t>A virtual camera or deepfake is outside ISO/IEC 30107. An operator can log in with a supervisor's photo.</a:t>
            </a:r>
          </a:p>
        </p:txBody>
      </p:sp>
      <p:sp>
        <p:nvSpPr>
          <p:cNvPr id="16" name="Threat: No audit trail"/>
          <p:cNvSpPr/>
          <p:nvPr/>
        </p:nvSpPr>
        <p:spPr>
          <a:xfrm>
            <a:off x="8915400" y="4251960"/>
            <a:ext cx="2697480" cy="1920240"/>
          </a:xfrm>
          <a:prstGeom prst="roundRect">
            <a:avLst>
              <a:gd name="adj" fmla="val 8000"/>
            </a:avLst>
          </a:prstGeom>
          <a:solidFill>
            <a:srgbClr val="EEF1F4"/>
          </a:solidFill>
          <a:ln w="22225">
            <a:solidFill>
              <a:srgbClr val="CFD6DD"/>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600"/>
              </a:spcAft>
            </a:pPr>
            <a:r>
              <a:rPr sz="1800" b="1" i="0">
                <a:solidFill>
                  <a:srgbClr val="8E1220"/>
                </a:solidFill>
                <a:latin typeface="Calibri"/>
              </a:rPr>
              <a:t>No audit trail</a:t>
            </a:r>
          </a:p>
          <a:p>
            <a:pPr algn="l">
              <a:spcAft>
                <a:spcPts val="600"/>
              </a:spcAft>
            </a:pPr>
            <a:r>
              <a:rPr sz="1500" b="0" i="0">
                <a:solidFill>
                  <a:srgbClr val="14202E"/>
                </a:solidFill>
                <a:latin typeface="Calibri"/>
              </a:rPr>
              <a:t>A client-side pass or fail cannot be re-checked by the server later, or re-scored with a better model.</a:t>
            </a:r>
          </a:p>
        </p:txBody>
      </p:sp>
      <p:sp>
        <p:nvSpPr>
          <p:cNvPr id="17" name="Footer"/>
          <p:cNvSpPr txBox="1"/>
          <p:nvPr/>
        </p:nvSpPr>
        <p:spPr>
          <a:xfrm>
            <a:off x="548640" y="6473952"/>
            <a:ext cx="8229600" cy="256032"/>
          </a:xfrm>
          <a:prstGeom prst="rect">
            <a:avLst/>
          </a:prstGeom>
          <a:noFill/>
        </p:spPr>
        <p:txBody>
          <a:bodyPr wrap="square" anchor="t" lIns="0" rIns="0" tIns="0" bIns="0">
            <a:spAutoFit/>
          </a:bodyPr>
          <a:lstStyle/>
          <a:p>
            <a:pPr algn="l">
              <a:lnSpc>
                <a:spcPct val="105000"/>
              </a:lnSpc>
              <a:spcAft>
                <a:spcPts val="600"/>
              </a:spcAft>
            </a:pPr>
            <a:r>
              <a:rPr sz="1200" b="0" i="0">
                <a:solidFill>
                  <a:srgbClr val="52606D"/>
                </a:solidFill>
                <a:latin typeface="Calibri"/>
              </a:rPr>
              <a:t>PRAMAAN  ·  MOSIP Decode 2026  ·  PS04</a:t>
            </a:r>
          </a:p>
        </p:txBody>
      </p:sp>
      <p:sp>
        <p:nvSpPr>
          <p:cNvPr id="18" name="Slide number"/>
          <p:cNvSpPr txBox="1"/>
          <p:nvPr/>
        </p:nvSpPr>
        <p:spPr>
          <a:xfrm>
            <a:off x="10698480" y="6473952"/>
            <a:ext cx="914400" cy="256032"/>
          </a:xfrm>
          <a:prstGeom prst="rect">
            <a:avLst/>
          </a:prstGeom>
          <a:noFill/>
        </p:spPr>
        <p:txBody>
          <a:bodyPr wrap="square" anchor="t" lIns="0" rIns="0" tIns="0" bIns="0">
            <a:spAutoFit/>
          </a:bodyPr>
          <a:lstStyle/>
          <a:p>
            <a:pPr algn="r">
              <a:lnSpc>
                <a:spcPct val="105000"/>
              </a:lnSpc>
              <a:spcAft>
                <a:spcPts val="600"/>
              </a:spcAft>
            </a:pPr>
            <a:r>
              <a:rPr sz="1200" b="0" i="0">
                <a:solidFill>
                  <a:srgbClr val="52606D"/>
                </a:solidFill>
                <a:latin typeface="Calibri"/>
              </a:rPr>
              <a:t>2 / 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47472"/>
            <a:ext cx="11064240" cy="685800"/>
          </a:xfrm>
          <a:prstGeom prst="rect">
            <a:avLst/>
          </a:prstGeom>
          <a:noFill/>
        </p:spPr>
        <p:txBody>
          <a:bodyPr wrap="square" anchor="t" lIns="0" rIns="0" tIns="0" bIns="0">
            <a:spAutoFit/>
          </a:bodyPr>
          <a:lstStyle/>
          <a:p>
            <a:pPr algn="l">
              <a:lnSpc>
                <a:spcPct val="105000"/>
              </a:lnSpc>
              <a:spcAft>
                <a:spcPts val="600"/>
              </a:spcAft>
            </a:pPr>
            <a:r>
              <a:rPr sz="3600" b="1" i="0">
                <a:solidFill>
                  <a:srgbClr val="1B4F8A"/>
                </a:solidFill>
                <a:latin typeface="Calibri"/>
              </a:rPr>
              <a:t>What is different: from a verdict to proof</a:t>
            </a:r>
          </a:p>
        </p:txBody>
      </p:sp>
      <p:sp>
        <p:nvSpPr>
          <p:cNvPr id="3" name="Subtitle"/>
          <p:cNvSpPr txBox="1"/>
          <p:nvPr/>
        </p:nvSpPr>
        <p:spPr>
          <a:xfrm>
            <a:off x="548640" y="1024128"/>
            <a:ext cx="11064240" cy="548640"/>
          </a:xfrm>
          <a:prstGeom prst="rect">
            <a:avLst/>
          </a:prstGeom>
          <a:noFill/>
        </p:spPr>
        <p:txBody>
          <a:bodyPr wrap="square" anchor="t" lIns="0" rIns="0" tIns="0" bIns="0">
            <a:spAutoFit/>
          </a:bodyPr>
          <a:lstStyle/>
          <a:p>
            <a:pPr algn="l">
              <a:lnSpc>
                <a:spcPct val="105000"/>
              </a:lnSpc>
              <a:spcAft>
                <a:spcPts val="600"/>
              </a:spcAft>
            </a:pPr>
            <a:r>
              <a:rPr sz="1800" b="0" i="0">
                <a:solidFill>
                  <a:srgbClr val="3B4A5A"/>
                </a:solidFill>
                <a:latin typeface="Calibri"/>
              </a:rPr>
              <a:t>Six ideas. Each one replaces a shortcut the naive approach takes.</a:t>
            </a:r>
          </a:p>
        </p:txBody>
      </p:sp>
      <p:sp>
        <p:nvSpPr>
          <p:cNvPr id="4" name="TextBox 3"/>
          <p:cNvSpPr txBox="1"/>
          <p:nvPr/>
        </p:nvSpPr>
        <p:spPr>
          <a:xfrm>
            <a:off x="548640" y="1572768"/>
            <a:ext cx="4206240" cy="274320"/>
          </a:xfrm>
          <a:prstGeom prst="rect">
            <a:avLst/>
          </a:prstGeom>
          <a:noFill/>
        </p:spPr>
        <p:txBody>
          <a:bodyPr wrap="square" anchor="t" lIns="0" rIns="0" tIns="0" bIns="0">
            <a:spAutoFit/>
          </a:bodyPr>
          <a:lstStyle/>
          <a:p>
            <a:pPr algn="l">
              <a:lnSpc>
                <a:spcPct val="105000"/>
              </a:lnSpc>
              <a:spcAft>
                <a:spcPts val="600"/>
              </a:spcAft>
            </a:pPr>
            <a:r>
              <a:rPr sz="1300" b="1" i="0">
                <a:solidFill>
                  <a:srgbClr val="52606D"/>
                </a:solidFill>
                <a:latin typeface="Calibri"/>
              </a:rPr>
              <a:t>THE NAIVE APPROACH</a:t>
            </a:r>
          </a:p>
        </p:txBody>
      </p:sp>
      <p:sp>
        <p:nvSpPr>
          <p:cNvPr id="5" name="TextBox 4"/>
          <p:cNvSpPr txBox="1"/>
          <p:nvPr/>
        </p:nvSpPr>
        <p:spPr>
          <a:xfrm>
            <a:off x="5257800" y="1572768"/>
            <a:ext cx="4206240" cy="274320"/>
          </a:xfrm>
          <a:prstGeom prst="rect">
            <a:avLst/>
          </a:prstGeom>
          <a:noFill/>
        </p:spPr>
        <p:txBody>
          <a:bodyPr wrap="square" anchor="t" lIns="0" rIns="0" tIns="0" bIns="0">
            <a:spAutoFit/>
          </a:bodyPr>
          <a:lstStyle/>
          <a:p>
            <a:pPr algn="l">
              <a:lnSpc>
                <a:spcPct val="105000"/>
              </a:lnSpc>
              <a:spcAft>
                <a:spcPts val="600"/>
              </a:spcAft>
            </a:pPr>
            <a:r>
              <a:rPr sz="1300" b="1" i="0">
                <a:solidFill>
                  <a:srgbClr val="1B4F8A"/>
                </a:solidFill>
                <a:latin typeface="Calibri"/>
              </a:rPr>
              <a:t>PRAMAAN</a:t>
            </a:r>
          </a:p>
        </p:txBody>
      </p:sp>
      <p:sp>
        <p:nvSpPr>
          <p:cNvPr id="6" name="TextBox 5"/>
          <p:cNvSpPr txBox="1"/>
          <p:nvPr/>
        </p:nvSpPr>
        <p:spPr>
          <a:xfrm>
            <a:off x="10378440" y="1572768"/>
            <a:ext cx="1280160" cy="274320"/>
          </a:xfrm>
          <a:prstGeom prst="rect">
            <a:avLst/>
          </a:prstGeom>
          <a:noFill/>
        </p:spPr>
        <p:txBody>
          <a:bodyPr wrap="square" anchor="t" lIns="0" rIns="0" tIns="0" bIns="0">
            <a:spAutoFit/>
          </a:bodyPr>
          <a:lstStyle/>
          <a:p>
            <a:pPr algn="r">
              <a:lnSpc>
                <a:spcPct val="105000"/>
              </a:lnSpc>
              <a:spcAft>
                <a:spcPts val="600"/>
              </a:spcAft>
            </a:pPr>
            <a:r>
              <a:rPr sz="1300" b="1" i="0">
                <a:solidFill>
                  <a:srgbClr val="52606D"/>
                </a:solidFill>
                <a:latin typeface="Calibri"/>
              </a:rPr>
              <a:t>SEE SLIDE</a:t>
            </a:r>
          </a:p>
        </p:txBody>
      </p:sp>
      <p:sp>
        <p:nvSpPr>
          <p:cNvPr id="7" name="Naive 1"/>
          <p:cNvSpPr/>
          <p:nvPr/>
        </p:nvSpPr>
        <p:spPr>
          <a:xfrm>
            <a:off x="548640" y="1874519"/>
            <a:ext cx="4343400" cy="640080"/>
          </a:xfrm>
          <a:prstGeom prst="roundRect">
            <a:avLst>
              <a:gd name="adj" fmla="val 8000"/>
            </a:avLst>
          </a:prstGeom>
          <a:solidFill>
            <a:srgbClr val="EEF1F4"/>
          </a:solidFill>
          <a:ln w="22225">
            <a:solidFill>
              <a:srgbClr val="CFD6D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300"/>
              </a:spcAft>
            </a:pPr>
            <a:r>
              <a:rPr sz="1400" b="0" i="0">
                <a:solidFill>
                  <a:srgbClr val="3B4A5A"/>
                </a:solidFill>
                <a:latin typeface="Calibri"/>
              </a:rPr>
              <a:t>Liveness is judged on the preview; the capture is stored separately.</a:t>
            </a:r>
          </a:p>
        </p:txBody>
      </p:sp>
      <p:cxnSp>
        <p:nvCxnSpPr>
          <p:cNvPr id="8" name="Connector 7"/>
          <p:cNvCxnSpPr/>
          <p:nvPr/>
        </p:nvCxnSpPr>
        <p:spPr>
          <a:xfrm>
            <a:off x="4919472" y="2194560"/>
            <a:ext cx="310896" cy="0"/>
          </a:xfrm>
          <a:prstGeom prst="line">
            <a:avLst/>
          </a:prstGeom>
          <a:ln w="31750">
            <a:solidFill>
              <a:srgbClr val="52606D"/>
            </a:solidFill>
            <a:tailEnd type="triangle"/>
          </a:ln>
        </p:spPr>
        <p:style>
          <a:lnRef idx="2">
            <a:schemeClr val="accent1"/>
          </a:lnRef>
          <a:fillRef idx="0">
            <a:schemeClr val="accent1"/>
          </a:fillRef>
          <a:effectRef idx="1">
            <a:schemeClr val="accent1"/>
          </a:effectRef>
          <a:fontRef idx="minor">
            <a:schemeClr val="tx1"/>
          </a:fontRef>
        </p:style>
      </p:cxnSp>
      <p:sp>
        <p:nvSpPr>
          <p:cNvPr id="9" name="PRAMAAN 1"/>
          <p:cNvSpPr/>
          <p:nvPr/>
        </p:nvSpPr>
        <p:spPr>
          <a:xfrm>
            <a:off x="5257800" y="1874519"/>
            <a:ext cx="4983480" cy="640080"/>
          </a:xfrm>
          <a:prstGeom prst="roundRect">
            <a:avLst>
              <a:gd name="adj" fmla="val 8000"/>
            </a:avLst>
          </a:prstGeom>
          <a:solidFill>
            <a:srgbClr val="E7EFF8"/>
          </a:solidFill>
          <a:ln w="22225">
            <a:solidFill>
              <a:srgbClr val="1B4F8A"/>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rIns="502920" tIns="54864" bIns="54864"/>
          <a:lstStyle/>
          <a:p>
            <a:pPr algn="l">
              <a:spcAft>
                <a:spcPts val="300"/>
              </a:spcAft>
            </a:pPr>
            <a:r>
              <a:rPr sz="1400" b="0" i="0">
                <a:solidFill>
                  <a:srgbClr val="14202E"/>
                </a:solidFill>
                <a:latin typeface="Calibri"/>
              </a:rPr>
              <a:t>Preview and capture are bound: four locks prove the signed capture is the face that was watched.</a:t>
            </a:r>
          </a:p>
        </p:txBody>
      </p:sp>
      <p:sp>
        <p:nvSpPr>
          <p:cNvPr id="10" name="Idea 1"/>
          <p:cNvSpPr/>
          <p:nvPr/>
        </p:nvSpPr>
        <p:spPr>
          <a:xfrm>
            <a:off x="5376672" y="2029967"/>
            <a:ext cx="329184" cy="329184"/>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14202E"/>
                </a:solidFill>
                <a:latin typeface="Calibri"/>
              </a:rPr>
              <a:t>1</a:t>
            </a:r>
          </a:p>
        </p:txBody>
      </p:sp>
      <p:sp>
        <p:nvSpPr>
          <p:cNvPr id="11" name="TextBox 10"/>
          <p:cNvSpPr txBox="1"/>
          <p:nvPr/>
        </p:nvSpPr>
        <p:spPr>
          <a:xfrm>
            <a:off x="10424160" y="2057400"/>
            <a:ext cx="1188720" cy="274320"/>
          </a:xfrm>
          <a:prstGeom prst="rect">
            <a:avLst/>
          </a:prstGeom>
          <a:noFill/>
        </p:spPr>
        <p:txBody>
          <a:bodyPr wrap="square" anchor="t" lIns="0" rIns="0" tIns="0" bIns="0">
            <a:spAutoFit/>
          </a:bodyPr>
          <a:lstStyle/>
          <a:p>
            <a:pPr algn="r">
              <a:lnSpc>
                <a:spcPct val="105000"/>
              </a:lnSpc>
              <a:spcAft>
                <a:spcPts val="600"/>
              </a:spcAft>
            </a:pPr>
            <a:r>
              <a:rPr sz="1500" b="1" i="0">
                <a:solidFill>
                  <a:srgbClr val="1B4F8A"/>
                </a:solidFill>
                <a:latin typeface="Calibri"/>
              </a:rPr>
              <a:t>5</a:t>
            </a:r>
          </a:p>
        </p:txBody>
      </p:sp>
      <p:sp>
        <p:nvSpPr>
          <p:cNvPr id="12" name="Naive 2"/>
          <p:cNvSpPr/>
          <p:nvPr/>
        </p:nvSpPr>
        <p:spPr>
          <a:xfrm>
            <a:off x="548640" y="2587751"/>
            <a:ext cx="4343400" cy="640080"/>
          </a:xfrm>
          <a:prstGeom prst="roundRect">
            <a:avLst>
              <a:gd name="adj" fmla="val 8000"/>
            </a:avLst>
          </a:prstGeom>
          <a:solidFill>
            <a:srgbClr val="EEF1F4"/>
          </a:solidFill>
          <a:ln w="22225">
            <a:solidFill>
              <a:srgbClr val="CFD6D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300"/>
              </a:spcAft>
            </a:pPr>
            <a:r>
              <a:rPr sz="1400" b="0" i="0">
                <a:solidFill>
                  <a:srgbClr val="3B4A5A"/>
                </a:solidFill>
                <a:latin typeface="Calibri"/>
              </a:rPr>
              <a:t>The client says pass or fail, and the server has to trust it.</a:t>
            </a:r>
          </a:p>
        </p:txBody>
      </p:sp>
      <p:cxnSp>
        <p:nvCxnSpPr>
          <p:cNvPr id="13" name="Connector 12"/>
          <p:cNvCxnSpPr/>
          <p:nvPr/>
        </p:nvCxnSpPr>
        <p:spPr>
          <a:xfrm>
            <a:off x="4919472" y="2907791"/>
            <a:ext cx="310896" cy="0"/>
          </a:xfrm>
          <a:prstGeom prst="line">
            <a:avLst/>
          </a:prstGeom>
          <a:ln w="31750">
            <a:solidFill>
              <a:srgbClr val="52606D"/>
            </a:solidFill>
            <a:tailEnd type="triangle"/>
          </a:ln>
        </p:spPr>
        <p:style>
          <a:lnRef idx="2">
            <a:schemeClr val="accent1"/>
          </a:lnRef>
          <a:fillRef idx="0">
            <a:schemeClr val="accent1"/>
          </a:fillRef>
          <a:effectRef idx="1">
            <a:schemeClr val="accent1"/>
          </a:effectRef>
          <a:fontRef idx="minor">
            <a:schemeClr val="tx1"/>
          </a:fontRef>
        </p:style>
      </p:cxnSp>
      <p:sp>
        <p:nvSpPr>
          <p:cNvPr id="14" name="PRAMAAN 2"/>
          <p:cNvSpPr/>
          <p:nvPr/>
        </p:nvSpPr>
        <p:spPr>
          <a:xfrm>
            <a:off x="5257800" y="2587751"/>
            <a:ext cx="4983480" cy="640080"/>
          </a:xfrm>
          <a:prstGeom prst="roundRect">
            <a:avLst>
              <a:gd name="adj" fmla="val 8000"/>
            </a:avLst>
          </a:prstGeom>
          <a:solidFill>
            <a:srgbClr val="E7EFF8"/>
          </a:solidFill>
          <a:ln w="22225">
            <a:solidFill>
              <a:srgbClr val="1B4F8A"/>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rIns="502920" tIns="54864" bIns="54864"/>
          <a:lstStyle/>
          <a:p>
            <a:pPr algn="l">
              <a:spcAft>
                <a:spcPts val="300"/>
              </a:spcAft>
            </a:pPr>
            <a:r>
              <a:rPr sz="1400" b="0" i="0">
                <a:solidFill>
                  <a:srgbClr val="14202E"/>
                </a:solidFill>
                <a:latin typeface="Calibri"/>
              </a:rPr>
              <a:t>Signed evidence a server can re-check, or re-score with a better model years later.</a:t>
            </a:r>
          </a:p>
        </p:txBody>
      </p:sp>
      <p:sp>
        <p:nvSpPr>
          <p:cNvPr id="15" name="Idea 2"/>
          <p:cNvSpPr/>
          <p:nvPr/>
        </p:nvSpPr>
        <p:spPr>
          <a:xfrm>
            <a:off x="5376672" y="2743199"/>
            <a:ext cx="329184" cy="329184"/>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14202E"/>
                </a:solidFill>
                <a:latin typeface="Calibri"/>
              </a:rPr>
              <a:t>2</a:t>
            </a:r>
          </a:p>
        </p:txBody>
      </p:sp>
      <p:sp>
        <p:nvSpPr>
          <p:cNvPr id="16" name="TextBox 15"/>
          <p:cNvSpPr txBox="1"/>
          <p:nvPr/>
        </p:nvSpPr>
        <p:spPr>
          <a:xfrm>
            <a:off x="10424160" y="2770632"/>
            <a:ext cx="1188720" cy="274320"/>
          </a:xfrm>
          <a:prstGeom prst="rect">
            <a:avLst/>
          </a:prstGeom>
          <a:noFill/>
        </p:spPr>
        <p:txBody>
          <a:bodyPr wrap="square" anchor="t" lIns="0" rIns="0" tIns="0" bIns="0">
            <a:spAutoFit/>
          </a:bodyPr>
          <a:lstStyle/>
          <a:p>
            <a:pPr algn="r">
              <a:lnSpc>
                <a:spcPct val="105000"/>
              </a:lnSpc>
              <a:spcAft>
                <a:spcPts val="600"/>
              </a:spcAft>
            </a:pPr>
            <a:r>
              <a:rPr sz="1500" b="1" i="0">
                <a:solidFill>
                  <a:srgbClr val="1B4F8A"/>
                </a:solidFill>
                <a:latin typeface="Calibri"/>
              </a:rPr>
              <a:t>6</a:t>
            </a:r>
          </a:p>
        </p:txBody>
      </p:sp>
      <p:sp>
        <p:nvSpPr>
          <p:cNvPr id="17" name="Naive 3"/>
          <p:cNvSpPr/>
          <p:nvPr/>
        </p:nvSpPr>
        <p:spPr>
          <a:xfrm>
            <a:off x="548640" y="3300983"/>
            <a:ext cx="4343400" cy="640080"/>
          </a:xfrm>
          <a:prstGeom prst="roundRect">
            <a:avLst>
              <a:gd name="adj" fmla="val 8000"/>
            </a:avLst>
          </a:prstGeom>
          <a:solidFill>
            <a:srgbClr val="EEF1F4"/>
          </a:solidFill>
          <a:ln w="22225">
            <a:solidFill>
              <a:srgbClr val="CFD6D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300"/>
              </a:spcAft>
            </a:pPr>
            <a:r>
              <a:rPr sz="1400" b="0" i="0">
                <a:solidFill>
                  <a:srgbClr val="3B4A5A"/>
                </a:solidFill>
                <a:latin typeface="Calibri"/>
              </a:rPr>
              <a:t>One model, or a blink check.</a:t>
            </a:r>
          </a:p>
        </p:txBody>
      </p:sp>
      <p:cxnSp>
        <p:nvCxnSpPr>
          <p:cNvPr id="18" name="Connector 17"/>
          <p:cNvCxnSpPr/>
          <p:nvPr/>
        </p:nvCxnSpPr>
        <p:spPr>
          <a:xfrm>
            <a:off x="4919472" y="3621023"/>
            <a:ext cx="310896" cy="0"/>
          </a:xfrm>
          <a:prstGeom prst="line">
            <a:avLst/>
          </a:prstGeom>
          <a:ln w="31750">
            <a:solidFill>
              <a:srgbClr val="52606D"/>
            </a:solidFill>
            <a:tailEnd type="triangle"/>
          </a:ln>
        </p:spPr>
        <p:style>
          <a:lnRef idx="2">
            <a:schemeClr val="accent1"/>
          </a:lnRef>
          <a:fillRef idx="0">
            <a:schemeClr val="accent1"/>
          </a:fillRef>
          <a:effectRef idx="1">
            <a:schemeClr val="accent1"/>
          </a:effectRef>
          <a:fontRef idx="minor">
            <a:schemeClr val="tx1"/>
          </a:fontRef>
        </p:style>
      </p:cxnSp>
      <p:sp>
        <p:nvSpPr>
          <p:cNvPr id="19" name="PRAMAAN 3"/>
          <p:cNvSpPr/>
          <p:nvPr/>
        </p:nvSpPr>
        <p:spPr>
          <a:xfrm>
            <a:off x="5257800" y="3300983"/>
            <a:ext cx="4983480" cy="640080"/>
          </a:xfrm>
          <a:prstGeom prst="roundRect">
            <a:avLst>
              <a:gd name="adj" fmla="val 8000"/>
            </a:avLst>
          </a:prstGeom>
          <a:solidFill>
            <a:srgbClr val="E7EFF8"/>
          </a:solidFill>
          <a:ln w="22225">
            <a:solidFill>
              <a:srgbClr val="1B4F8A"/>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rIns="502920" tIns="54864" bIns="54864"/>
          <a:lstStyle/>
          <a:p>
            <a:pPr algn="l">
              <a:spcAft>
                <a:spcPts val="300"/>
              </a:spcAft>
            </a:pPr>
            <a:r>
              <a:rPr sz="1400" b="0" i="0">
                <a:solidFill>
                  <a:srgbClr val="14202E"/>
                </a:solidFill>
                <a:latin typeface="Calibri"/>
              </a:rPr>
              <a:t>Six cues that fail differently, fused. A cue that cannot run abstains; it never fails anyone.</a:t>
            </a:r>
          </a:p>
        </p:txBody>
      </p:sp>
      <p:sp>
        <p:nvSpPr>
          <p:cNvPr id="20" name="Idea 3"/>
          <p:cNvSpPr/>
          <p:nvPr/>
        </p:nvSpPr>
        <p:spPr>
          <a:xfrm>
            <a:off x="5376672" y="3456431"/>
            <a:ext cx="329184" cy="329184"/>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14202E"/>
                </a:solidFill>
                <a:latin typeface="Calibri"/>
              </a:rPr>
              <a:t>3</a:t>
            </a:r>
          </a:p>
        </p:txBody>
      </p:sp>
      <p:sp>
        <p:nvSpPr>
          <p:cNvPr id="21" name="TextBox 20"/>
          <p:cNvSpPr txBox="1"/>
          <p:nvPr/>
        </p:nvSpPr>
        <p:spPr>
          <a:xfrm>
            <a:off x="10424160" y="3483863"/>
            <a:ext cx="1188720" cy="274320"/>
          </a:xfrm>
          <a:prstGeom prst="rect">
            <a:avLst/>
          </a:prstGeom>
          <a:noFill/>
        </p:spPr>
        <p:txBody>
          <a:bodyPr wrap="square" anchor="t" lIns="0" rIns="0" tIns="0" bIns="0">
            <a:spAutoFit/>
          </a:bodyPr>
          <a:lstStyle/>
          <a:p>
            <a:pPr algn="r">
              <a:lnSpc>
                <a:spcPct val="105000"/>
              </a:lnSpc>
              <a:spcAft>
                <a:spcPts val="600"/>
              </a:spcAft>
            </a:pPr>
            <a:r>
              <a:rPr sz="1500" b="1" i="0">
                <a:solidFill>
                  <a:srgbClr val="1B4F8A"/>
                </a:solidFill>
                <a:latin typeface="Calibri"/>
              </a:rPr>
              <a:t>6</a:t>
            </a:r>
          </a:p>
        </p:txBody>
      </p:sp>
      <p:sp>
        <p:nvSpPr>
          <p:cNvPr id="22" name="Naive 4"/>
          <p:cNvSpPr/>
          <p:nvPr/>
        </p:nvSpPr>
        <p:spPr>
          <a:xfrm>
            <a:off x="548640" y="4014215"/>
            <a:ext cx="4343400" cy="640080"/>
          </a:xfrm>
          <a:prstGeom prst="roundRect">
            <a:avLst>
              <a:gd name="adj" fmla="val 8000"/>
            </a:avLst>
          </a:prstGeom>
          <a:solidFill>
            <a:srgbClr val="EEF1F4"/>
          </a:solidFill>
          <a:ln w="22225">
            <a:solidFill>
              <a:srgbClr val="CFD6D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300"/>
              </a:spcAft>
            </a:pPr>
            <a:r>
              <a:rPr sz="1400" b="0" i="0">
                <a:solidFill>
                  <a:srgbClr val="3B4A5A"/>
                </a:solidFill>
                <a:latin typeface="Calibri"/>
              </a:rPr>
              <a:t>A fixed challenge (blink, smile) that a recording or deepfake can follow.</a:t>
            </a:r>
          </a:p>
        </p:txBody>
      </p:sp>
      <p:cxnSp>
        <p:nvCxnSpPr>
          <p:cNvPr id="23" name="Connector 22"/>
          <p:cNvCxnSpPr/>
          <p:nvPr/>
        </p:nvCxnSpPr>
        <p:spPr>
          <a:xfrm>
            <a:off x="4919472" y="4334255"/>
            <a:ext cx="310896" cy="0"/>
          </a:xfrm>
          <a:prstGeom prst="line">
            <a:avLst/>
          </a:prstGeom>
          <a:ln w="31750">
            <a:solidFill>
              <a:srgbClr val="52606D"/>
            </a:solidFill>
            <a:tailEnd type="triangle"/>
          </a:ln>
        </p:spPr>
        <p:style>
          <a:lnRef idx="2">
            <a:schemeClr val="accent1"/>
          </a:lnRef>
          <a:fillRef idx="0">
            <a:schemeClr val="accent1"/>
          </a:fillRef>
          <a:effectRef idx="1">
            <a:schemeClr val="accent1"/>
          </a:effectRef>
          <a:fontRef idx="minor">
            <a:schemeClr val="tx1"/>
          </a:fontRef>
        </p:style>
      </p:cxnSp>
      <p:sp>
        <p:nvSpPr>
          <p:cNvPr id="24" name="PRAMAAN 4"/>
          <p:cNvSpPr/>
          <p:nvPr/>
        </p:nvSpPr>
        <p:spPr>
          <a:xfrm>
            <a:off x="5257800" y="4014215"/>
            <a:ext cx="4983480" cy="640080"/>
          </a:xfrm>
          <a:prstGeom prst="roundRect">
            <a:avLst>
              <a:gd name="adj" fmla="val 8000"/>
            </a:avLst>
          </a:prstGeom>
          <a:solidFill>
            <a:srgbClr val="E7EFF8"/>
          </a:solidFill>
          <a:ln w="22225">
            <a:solidFill>
              <a:srgbClr val="1B4F8A"/>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rIns="502920" tIns="54864" bIns="54864"/>
          <a:lstStyle/>
          <a:p>
            <a:pPr algn="l">
              <a:spcAft>
                <a:spcPts val="300"/>
              </a:spcAft>
            </a:pPr>
            <a:r>
              <a:rPr sz="1400" b="0" i="0">
                <a:solidFill>
                  <a:srgbClr val="14202E"/>
                </a:solidFill>
                <a:latin typeface="Calibri"/>
              </a:rPr>
              <a:t>A random challenge: a 20.7-bit flash code and a random onset, different every session.</a:t>
            </a:r>
          </a:p>
        </p:txBody>
      </p:sp>
      <p:sp>
        <p:nvSpPr>
          <p:cNvPr id="25" name="Idea 4"/>
          <p:cNvSpPr/>
          <p:nvPr/>
        </p:nvSpPr>
        <p:spPr>
          <a:xfrm>
            <a:off x="5376672" y="4169663"/>
            <a:ext cx="329184" cy="329184"/>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14202E"/>
                </a:solidFill>
                <a:latin typeface="Calibri"/>
              </a:rPr>
              <a:t>4</a:t>
            </a:r>
          </a:p>
        </p:txBody>
      </p:sp>
      <p:sp>
        <p:nvSpPr>
          <p:cNvPr id="26" name="TextBox 25"/>
          <p:cNvSpPr txBox="1"/>
          <p:nvPr/>
        </p:nvSpPr>
        <p:spPr>
          <a:xfrm>
            <a:off x="10424160" y="4197095"/>
            <a:ext cx="1188720" cy="274320"/>
          </a:xfrm>
          <a:prstGeom prst="rect">
            <a:avLst/>
          </a:prstGeom>
          <a:noFill/>
        </p:spPr>
        <p:txBody>
          <a:bodyPr wrap="square" anchor="t" lIns="0" rIns="0" tIns="0" bIns="0">
            <a:spAutoFit/>
          </a:bodyPr>
          <a:lstStyle/>
          <a:p>
            <a:pPr algn="r">
              <a:lnSpc>
                <a:spcPct val="105000"/>
              </a:lnSpc>
              <a:spcAft>
                <a:spcPts val="600"/>
              </a:spcAft>
            </a:pPr>
            <a:r>
              <a:rPr sz="1500" b="1" i="0">
                <a:solidFill>
                  <a:srgbClr val="1B4F8A"/>
                </a:solidFill>
                <a:latin typeface="Calibri"/>
              </a:rPr>
              <a:t>6</a:t>
            </a:r>
          </a:p>
        </p:txBody>
      </p:sp>
      <p:sp>
        <p:nvSpPr>
          <p:cNvPr id="27" name="Naive 5"/>
          <p:cNvSpPr/>
          <p:nvPr/>
        </p:nvSpPr>
        <p:spPr>
          <a:xfrm>
            <a:off x="548640" y="4727448"/>
            <a:ext cx="4343400" cy="640080"/>
          </a:xfrm>
          <a:prstGeom prst="roundRect">
            <a:avLst>
              <a:gd name="adj" fmla="val 8000"/>
            </a:avLst>
          </a:prstGeom>
          <a:solidFill>
            <a:srgbClr val="EEF1F4"/>
          </a:solidFill>
          <a:ln w="22225">
            <a:solidFill>
              <a:srgbClr val="CFD6D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300"/>
              </a:spcAft>
            </a:pPr>
            <a:r>
              <a:rPr sz="1400" b="0" i="0">
                <a:solidFill>
                  <a:srgbClr val="3B4A5A"/>
                </a:solidFill>
                <a:latin typeface="Calibri"/>
              </a:rPr>
              <a:t>Camera only: a virtual camera or injected video is invisible.</a:t>
            </a:r>
          </a:p>
        </p:txBody>
      </p:sp>
      <p:cxnSp>
        <p:nvCxnSpPr>
          <p:cNvPr id="28" name="Connector 27"/>
          <p:cNvCxnSpPr/>
          <p:nvPr/>
        </p:nvCxnSpPr>
        <p:spPr>
          <a:xfrm>
            <a:off x="4919472" y="5047488"/>
            <a:ext cx="310896" cy="0"/>
          </a:xfrm>
          <a:prstGeom prst="line">
            <a:avLst/>
          </a:prstGeom>
          <a:ln w="31750">
            <a:solidFill>
              <a:srgbClr val="52606D"/>
            </a:solidFill>
            <a:tailEnd type="triangle"/>
          </a:ln>
        </p:spPr>
        <p:style>
          <a:lnRef idx="2">
            <a:schemeClr val="accent1"/>
          </a:lnRef>
          <a:fillRef idx="0">
            <a:schemeClr val="accent1"/>
          </a:fillRef>
          <a:effectRef idx="1">
            <a:schemeClr val="accent1"/>
          </a:effectRef>
          <a:fontRef idx="minor">
            <a:schemeClr val="tx1"/>
          </a:fontRef>
        </p:style>
      </p:cxnSp>
      <p:sp>
        <p:nvSpPr>
          <p:cNvPr id="29" name="PRAMAAN 5"/>
          <p:cNvSpPr/>
          <p:nvPr/>
        </p:nvSpPr>
        <p:spPr>
          <a:xfrm>
            <a:off x="5257800" y="4727448"/>
            <a:ext cx="4983480" cy="640080"/>
          </a:xfrm>
          <a:prstGeom prst="roundRect">
            <a:avLst>
              <a:gd name="adj" fmla="val 8000"/>
            </a:avLst>
          </a:prstGeom>
          <a:solidFill>
            <a:srgbClr val="E7EFF8"/>
          </a:solidFill>
          <a:ln w="22225">
            <a:solidFill>
              <a:srgbClr val="1B4F8A"/>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rIns="502920" tIns="54864" bIns="54864"/>
          <a:lstStyle/>
          <a:p>
            <a:pPr algn="l">
              <a:spcAft>
                <a:spcPts val="300"/>
              </a:spcAft>
            </a:pPr>
            <a:r>
              <a:rPr sz="1400" b="0" i="0">
                <a:solidFill>
                  <a:srgbClr val="14202E"/>
                </a:solidFill>
                <a:latin typeface="Calibri"/>
              </a:rPr>
              <a:t>Device identity, the OS's camera registrations and a stream fingerprint.</a:t>
            </a:r>
          </a:p>
        </p:txBody>
      </p:sp>
      <p:sp>
        <p:nvSpPr>
          <p:cNvPr id="30" name="Idea 5"/>
          <p:cNvSpPr/>
          <p:nvPr/>
        </p:nvSpPr>
        <p:spPr>
          <a:xfrm>
            <a:off x="5376672" y="4882896"/>
            <a:ext cx="329184" cy="329184"/>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14202E"/>
                </a:solidFill>
                <a:latin typeface="Calibri"/>
              </a:rPr>
              <a:t>5</a:t>
            </a:r>
          </a:p>
        </p:txBody>
      </p:sp>
      <p:sp>
        <p:nvSpPr>
          <p:cNvPr id="31" name="TextBox 30"/>
          <p:cNvSpPr txBox="1"/>
          <p:nvPr/>
        </p:nvSpPr>
        <p:spPr>
          <a:xfrm>
            <a:off x="10424160" y="4910327"/>
            <a:ext cx="1188720" cy="274320"/>
          </a:xfrm>
          <a:prstGeom prst="rect">
            <a:avLst/>
          </a:prstGeom>
          <a:noFill/>
        </p:spPr>
        <p:txBody>
          <a:bodyPr wrap="square" anchor="t" lIns="0" rIns="0" tIns="0" bIns="0">
            <a:spAutoFit/>
          </a:bodyPr>
          <a:lstStyle/>
          <a:p>
            <a:pPr algn="r">
              <a:lnSpc>
                <a:spcPct val="105000"/>
              </a:lnSpc>
              <a:spcAft>
                <a:spcPts val="600"/>
              </a:spcAft>
            </a:pPr>
            <a:r>
              <a:rPr sz="1500" b="1" i="0">
                <a:solidFill>
                  <a:srgbClr val="1B4F8A"/>
                </a:solidFill>
                <a:latin typeface="Calibri"/>
              </a:rPr>
              <a:t>4</a:t>
            </a:r>
          </a:p>
        </p:txBody>
      </p:sp>
      <p:sp>
        <p:nvSpPr>
          <p:cNvPr id="32" name="Naive 6"/>
          <p:cNvSpPr/>
          <p:nvPr/>
        </p:nvSpPr>
        <p:spPr>
          <a:xfrm>
            <a:off x="548640" y="5440679"/>
            <a:ext cx="4343400" cy="640080"/>
          </a:xfrm>
          <a:prstGeom prst="roundRect">
            <a:avLst>
              <a:gd name="adj" fmla="val 8000"/>
            </a:avLst>
          </a:prstGeom>
          <a:solidFill>
            <a:srgbClr val="EEF1F4"/>
          </a:solidFill>
          <a:ln w="22225">
            <a:solidFill>
              <a:srgbClr val="CFD6D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300"/>
              </a:spcAft>
            </a:pPr>
            <a:r>
              <a:rPr sz="1400" b="0" i="0">
                <a:solidFill>
                  <a:srgbClr val="3B4A5A"/>
                </a:solidFill>
                <a:latin typeface="Calibri"/>
              </a:rPr>
              <a:t>Elderly, disabled and darker-skinned residents fail blink and pulse checks.</a:t>
            </a:r>
          </a:p>
        </p:txBody>
      </p:sp>
      <p:cxnSp>
        <p:nvCxnSpPr>
          <p:cNvPr id="33" name="Connector 32"/>
          <p:cNvCxnSpPr/>
          <p:nvPr/>
        </p:nvCxnSpPr>
        <p:spPr>
          <a:xfrm>
            <a:off x="4919472" y="5760719"/>
            <a:ext cx="310896" cy="0"/>
          </a:xfrm>
          <a:prstGeom prst="line">
            <a:avLst/>
          </a:prstGeom>
          <a:ln w="31750">
            <a:solidFill>
              <a:srgbClr val="52606D"/>
            </a:solidFill>
            <a:tailEnd type="triangle"/>
          </a:ln>
        </p:spPr>
        <p:style>
          <a:lnRef idx="2">
            <a:schemeClr val="accent1"/>
          </a:lnRef>
          <a:fillRef idx="0">
            <a:schemeClr val="accent1"/>
          </a:fillRef>
          <a:effectRef idx="1">
            <a:schemeClr val="accent1"/>
          </a:effectRef>
          <a:fontRef idx="minor">
            <a:schemeClr val="tx1"/>
          </a:fontRef>
        </p:style>
      </p:cxnSp>
      <p:sp>
        <p:nvSpPr>
          <p:cNvPr id="34" name="PRAMAAN 6"/>
          <p:cNvSpPr/>
          <p:nvPr/>
        </p:nvSpPr>
        <p:spPr>
          <a:xfrm>
            <a:off x="5257800" y="5440679"/>
            <a:ext cx="4983480" cy="640080"/>
          </a:xfrm>
          <a:prstGeom prst="roundRect">
            <a:avLst>
              <a:gd name="adj" fmla="val 8000"/>
            </a:avLst>
          </a:prstGeom>
          <a:solidFill>
            <a:srgbClr val="E7EFF8"/>
          </a:solidFill>
          <a:ln w="22225">
            <a:solidFill>
              <a:srgbClr val="1B4F8A"/>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rIns="502920" tIns="54864" bIns="54864"/>
          <a:lstStyle/>
          <a:p>
            <a:pPr algn="l">
              <a:spcAft>
                <a:spcPts val="300"/>
              </a:spcAft>
            </a:pPr>
            <a:r>
              <a:rPr sz="1400" b="0" i="0">
                <a:solidFill>
                  <a:srgbClr val="14202E"/>
                </a:solidFill>
                <a:latin typeface="Calibri"/>
              </a:rPr>
              <a:t>Those cues only ever vote for life; Hindi, icons and speech; a dual-control exception path.</a:t>
            </a:r>
          </a:p>
        </p:txBody>
      </p:sp>
      <p:sp>
        <p:nvSpPr>
          <p:cNvPr id="35" name="Idea 6"/>
          <p:cNvSpPr/>
          <p:nvPr/>
        </p:nvSpPr>
        <p:spPr>
          <a:xfrm>
            <a:off x="5376672" y="5596127"/>
            <a:ext cx="329184" cy="329184"/>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14202E"/>
                </a:solidFill>
                <a:latin typeface="Calibri"/>
              </a:rPr>
              <a:t>6</a:t>
            </a:r>
          </a:p>
        </p:txBody>
      </p:sp>
      <p:sp>
        <p:nvSpPr>
          <p:cNvPr id="36" name="TextBox 35"/>
          <p:cNvSpPr txBox="1"/>
          <p:nvPr/>
        </p:nvSpPr>
        <p:spPr>
          <a:xfrm>
            <a:off x="10424160" y="5623559"/>
            <a:ext cx="1188720" cy="274320"/>
          </a:xfrm>
          <a:prstGeom prst="rect">
            <a:avLst/>
          </a:prstGeom>
          <a:noFill/>
        </p:spPr>
        <p:txBody>
          <a:bodyPr wrap="square" anchor="t" lIns="0" rIns="0" tIns="0" bIns="0">
            <a:spAutoFit/>
          </a:bodyPr>
          <a:lstStyle/>
          <a:p>
            <a:pPr algn="r">
              <a:lnSpc>
                <a:spcPct val="105000"/>
              </a:lnSpc>
              <a:spcAft>
                <a:spcPts val="600"/>
              </a:spcAft>
            </a:pPr>
            <a:r>
              <a:rPr sz="1500" b="1" i="0">
                <a:solidFill>
                  <a:srgbClr val="1B4F8A"/>
                </a:solidFill>
                <a:latin typeface="Calibri"/>
              </a:rPr>
              <a:t>A1</a:t>
            </a:r>
          </a:p>
        </p:txBody>
      </p:sp>
      <p:sp>
        <p:nvSpPr>
          <p:cNvPr id="37" name="Footer"/>
          <p:cNvSpPr txBox="1"/>
          <p:nvPr/>
        </p:nvSpPr>
        <p:spPr>
          <a:xfrm>
            <a:off x="548640" y="6473952"/>
            <a:ext cx="8229600" cy="256032"/>
          </a:xfrm>
          <a:prstGeom prst="rect">
            <a:avLst/>
          </a:prstGeom>
          <a:noFill/>
        </p:spPr>
        <p:txBody>
          <a:bodyPr wrap="square" anchor="t" lIns="0" rIns="0" tIns="0" bIns="0">
            <a:spAutoFit/>
          </a:bodyPr>
          <a:lstStyle/>
          <a:p>
            <a:pPr algn="l">
              <a:lnSpc>
                <a:spcPct val="105000"/>
              </a:lnSpc>
              <a:spcAft>
                <a:spcPts val="600"/>
              </a:spcAft>
            </a:pPr>
            <a:r>
              <a:rPr sz="1200" b="0" i="0">
                <a:solidFill>
                  <a:srgbClr val="52606D"/>
                </a:solidFill>
                <a:latin typeface="Calibri"/>
              </a:rPr>
              <a:t>PRAMAAN  ·  MOSIP Decode 2026  ·  PS04</a:t>
            </a:r>
          </a:p>
        </p:txBody>
      </p:sp>
      <p:sp>
        <p:nvSpPr>
          <p:cNvPr id="38" name="Slide number"/>
          <p:cNvSpPr txBox="1"/>
          <p:nvPr/>
        </p:nvSpPr>
        <p:spPr>
          <a:xfrm>
            <a:off x="10698480" y="6473952"/>
            <a:ext cx="914400" cy="256032"/>
          </a:xfrm>
          <a:prstGeom prst="rect">
            <a:avLst/>
          </a:prstGeom>
          <a:noFill/>
        </p:spPr>
        <p:txBody>
          <a:bodyPr wrap="square" anchor="t" lIns="0" rIns="0" tIns="0" bIns="0">
            <a:spAutoFit/>
          </a:bodyPr>
          <a:lstStyle/>
          <a:p>
            <a:pPr algn="r">
              <a:lnSpc>
                <a:spcPct val="105000"/>
              </a:lnSpc>
              <a:spcAft>
                <a:spcPts val="600"/>
              </a:spcAft>
            </a:pPr>
            <a:r>
              <a:rPr sz="1200" b="0" i="0">
                <a:solidFill>
                  <a:srgbClr val="52606D"/>
                </a:solidFill>
                <a:latin typeface="Calibri"/>
              </a:rPr>
              <a:t>3 / 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47472"/>
            <a:ext cx="11064240" cy="685800"/>
          </a:xfrm>
          <a:prstGeom prst="rect">
            <a:avLst/>
          </a:prstGeom>
          <a:noFill/>
        </p:spPr>
        <p:txBody>
          <a:bodyPr wrap="square" anchor="t" lIns="0" rIns="0" tIns="0" bIns="0">
            <a:spAutoFit/>
          </a:bodyPr>
          <a:lstStyle/>
          <a:p>
            <a:pPr algn="l">
              <a:lnSpc>
                <a:spcPct val="105000"/>
              </a:lnSpc>
              <a:spcAft>
                <a:spcPts val="600"/>
              </a:spcAft>
            </a:pPr>
            <a:r>
              <a:rPr sz="3600" b="1" i="0">
                <a:solidFill>
                  <a:srgbClr val="1B4F8A"/>
                </a:solidFill>
                <a:latin typeface="Calibri"/>
              </a:rPr>
              <a:t>Architecture: two paths leave the device</a:t>
            </a:r>
          </a:p>
        </p:txBody>
      </p:sp>
      <p:sp>
        <p:nvSpPr>
          <p:cNvPr id="3" name="Device trust boundary"/>
          <p:cNvSpPr/>
          <p:nvPr/>
        </p:nvSpPr>
        <p:spPr>
          <a:xfrm>
            <a:off x="457200" y="1234440"/>
            <a:ext cx="2377440" cy="4709160"/>
          </a:xfrm>
          <a:prstGeom prst="roundRect">
            <a:avLst>
              <a:gd name="adj" fmla="val 8000"/>
            </a:avLst>
          </a:prstGeom>
          <a:noFill/>
          <a:ln w="19050">
            <a:solidFill>
              <a:srgbClr val="52606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4" name="TextBox 3"/>
          <p:cNvSpPr txBox="1"/>
          <p:nvPr/>
        </p:nvSpPr>
        <p:spPr>
          <a:xfrm>
            <a:off x="594360" y="1298448"/>
            <a:ext cx="2194560" cy="457200"/>
          </a:xfrm>
          <a:prstGeom prst="rect">
            <a:avLst/>
          </a:prstGeom>
          <a:noFill/>
        </p:spPr>
        <p:txBody>
          <a:bodyPr wrap="square" anchor="t" lIns="0" rIns="0" tIns="0" bIns="0">
            <a:spAutoFit/>
          </a:bodyPr>
          <a:lstStyle/>
          <a:p>
            <a:pPr algn="l">
              <a:lnSpc>
                <a:spcPct val="105000"/>
              </a:lnSpc>
              <a:spcAft>
                <a:spcPts val="0"/>
              </a:spcAft>
            </a:pPr>
            <a:r>
              <a:rPr sz="1300" b="1" i="0">
                <a:solidFill>
                  <a:srgbClr val="52606D"/>
                </a:solidFill>
                <a:latin typeface="Calibri"/>
              </a:rPr>
              <a:t>Device trust boundary</a:t>
            </a:r>
          </a:p>
          <a:p>
            <a:pPr algn="l">
              <a:lnSpc>
                <a:spcPct val="105000"/>
              </a:lnSpc>
              <a:spcAft>
                <a:spcPts val="0"/>
              </a:spcAft>
            </a:pPr>
            <a:r>
              <a:rPr sz="1200" b="0" i="0">
                <a:solidFill>
                  <a:srgbClr val="52606D"/>
                </a:solidFill>
                <a:latin typeface="Calibri"/>
              </a:rPr>
              <a:t>L0 key in software; L1 in hardware</a:t>
            </a:r>
          </a:p>
        </p:txBody>
      </p:sp>
      <p:sp>
        <p:nvSpPr>
          <p:cNvPr id="5" name="Camera"/>
          <p:cNvSpPr/>
          <p:nvPr/>
        </p:nvSpPr>
        <p:spPr>
          <a:xfrm>
            <a:off x="640080" y="1965960"/>
            <a:ext cx="2011680" cy="1005840"/>
          </a:xfrm>
          <a:prstGeom prst="roundRect">
            <a:avLst>
              <a:gd name="adj" fmla="val 8000"/>
            </a:avLst>
          </a:prstGeom>
          <a:solidFill>
            <a:srgbClr val="E7EFF8"/>
          </a:solidFill>
          <a:ln w="22225">
            <a:solidFill>
              <a:srgbClr val="1B4F8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300"/>
              </a:spcAft>
            </a:pPr>
            <a:r>
              <a:rPr sz="1600" b="1" i="0">
                <a:solidFill>
                  <a:srgbClr val="173F70"/>
                </a:solidFill>
                <a:latin typeface="Calibri"/>
              </a:rPr>
              <a:t>Camera</a:t>
            </a:r>
          </a:p>
          <a:p>
            <a:pPr algn="ctr">
              <a:spcAft>
                <a:spcPts val="300"/>
              </a:spcAft>
            </a:pPr>
            <a:r>
              <a:rPr sz="1300" b="0" i="0">
                <a:solidFill>
                  <a:srgbClr val="173F70"/>
                </a:solidFill>
                <a:latin typeface="Calibri"/>
              </a:rPr>
              <a:t>the sensor</a:t>
            </a:r>
          </a:p>
        </p:txBody>
      </p:sp>
      <p:cxnSp>
        <p:nvCxnSpPr>
          <p:cNvPr id="6" name="Connector 5"/>
          <p:cNvCxnSpPr/>
          <p:nvPr/>
        </p:nvCxnSpPr>
        <p:spPr>
          <a:xfrm>
            <a:off x="1645920" y="2990088"/>
            <a:ext cx="0" cy="466344"/>
          </a:xfrm>
          <a:prstGeom prst="line">
            <a:avLst/>
          </a:prstGeom>
          <a:ln w="25400">
            <a:solidFill>
              <a:srgbClr val="3B4A5A"/>
            </a:solidFill>
            <a:tailEnd type="triangle"/>
          </a:ln>
        </p:spPr>
        <p:style>
          <a:lnRef idx="2">
            <a:schemeClr val="accent1"/>
          </a:lnRef>
          <a:fillRef idx="0">
            <a:schemeClr val="accent1"/>
          </a:fillRef>
          <a:effectRef idx="1">
            <a:schemeClr val="accent1"/>
          </a:effectRef>
          <a:fontRef idx="minor">
            <a:schemeClr val="tx1"/>
          </a:fontRef>
        </p:style>
      </p:cxnSp>
      <p:sp>
        <p:nvSpPr>
          <p:cNvPr id="7" name="SBI device service"/>
          <p:cNvSpPr/>
          <p:nvPr/>
        </p:nvSpPr>
        <p:spPr>
          <a:xfrm>
            <a:off x="640080" y="3474720"/>
            <a:ext cx="2011680" cy="2194560"/>
          </a:xfrm>
          <a:prstGeom prst="roundRect">
            <a:avLst>
              <a:gd name="adj" fmla="val 8000"/>
            </a:avLst>
          </a:prstGeom>
          <a:solidFill>
            <a:srgbClr val="E7EFF8"/>
          </a:solidFill>
          <a:ln w="22225">
            <a:solidFill>
              <a:srgbClr val="1B4F8A"/>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500"/>
              </a:spcAft>
            </a:pPr>
            <a:r>
              <a:rPr sz="1500" b="1" i="0">
                <a:solidFill>
                  <a:srgbClr val="173F70"/>
                </a:solidFill>
                <a:latin typeface="Calibri"/>
              </a:rPr>
              <a:t>SBI device service</a:t>
            </a:r>
          </a:p>
          <a:p>
            <a:pPr algn="l">
              <a:spcAft>
                <a:spcPts val="500"/>
              </a:spcAft>
            </a:pPr>
            <a:r>
              <a:rPr sz="1200" b="0" i="0">
                <a:solidFill>
                  <a:srgbClr val="173F70"/>
                </a:solidFill>
                <a:latin typeface="Calibri"/>
              </a:rPr>
              <a:t>127.0.0.1, ports 4501-4600</a:t>
            </a:r>
          </a:p>
          <a:p>
            <a:pPr algn="l">
              <a:spcAft>
                <a:spcPts val="500"/>
              </a:spcAft>
            </a:pPr>
            <a:r>
              <a:rPr sz="1200" b="0" i="0">
                <a:solidFill>
                  <a:srgbClr val="173F70"/>
                </a:solidFill>
                <a:latin typeface="Calibri"/>
              </a:rPr>
              <a:t>signs every capture, the session nonce inside</a:t>
            </a:r>
          </a:p>
          <a:p>
            <a:pPr algn="l">
              <a:spcAft>
                <a:spcPts val="500"/>
              </a:spcAft>
            </a:pPr>
            <a:r>
              <a:rPr sz="1200" b="0" i="0">
                <a:solidFill>
                  <a:srgbClr val="173F70"/>
                </a:solidFill>
                <a:latin typeface="Calibri"/>
              </a:rPr>
              <a:t>optional: Liveness Profile</a:t>
            </a:r>
          </a:p>
        </p:txBody>
      </p:sp>
      <p:cxnSp>
        <p:nvCxnSpPr>
          <p:cNvPr id="8" name="Unsigned path"/>
          <p:cNvCxnSpPr/>
          <p:nvPr/>
        </p:nvCxnSpPr>
        <p:spPr>
          <a:xfrm>
            <a:off x="2852928" y="2468880"/>
            <a:ext cx="1005840" cy="0"/>
          </a:xfrm>
          <a:prstGeom prst="line">
            <a:avLst/>
          </a:prstGeom>
          <a:ln w="38100">
            <a:solidFill>
              <a:srgbClr val="8E1220"/>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852928" y="1938528"/>
            <a:ext cx="1005840" cy="457200"/>
          </a:xfrm>
          <a:prstGeom prst="rect">
            <a:avLst/>
          </a:prstGeom>
          <a:noFill/>
        </p:spPr>
        <p:txBody>
          <a:bodyPr wrap="square" anchor="t" lIns="0" rIns="0" tIns="0" bIns="0">
            <a:spAutoFit/>
          </a:bodyPr>
          <a:lstStyle/>
          <a:p>
            <a:pPr algn="ctr">
              <a:lnSpc>
                <a:spcPct val="105000"/>
              </a:lnSpc>
              <a:spcAft>
                <a:spcPts val="0"/>
              </a:spcAft>
            </a:pPr>
            <a:r>
              <a:rPr sz="1200" b="1" i="0">
                <a:solidFill>
                  <a:srgbClr val="8E1220"/>
                </a:solidFill>
                <a:latin typeface="Calibri"/>
              </a:rPr>
              <a:t>unsigned</a:t>
            </a:r>
          </a:p>
          <a:p>
            <a:pPr algn="ctr">
              <a:lnSpc>
                <a:spcPct val="105000"/>
              </a:lnSpc>
              <a:spcAft>
                <a:spcPts val="0"/>
              </a:spcAft>
            </a:pPr>
            <a:r>
              <a:rPr sz="1200" b="1" i="0">
                <a:solidFill>
                  <a:srgbClr val="8E1220"/>
                </a:solidFill>
                <a:latin typeface="Calibri"/>
              </a:rPr>
              <a:t>preview</a:t>
            </a:r>
          </a:p>
        </p:txBody>
      </p:sp>
      <p:cxnSp>
        <p:nvCxnSpPr>
          <p:cNvPr id="10" name="Signed path"/>
          <p:cNvCxnSpPr/>
          <p:nvPr/>
        </p:nvCxnSpPr>
        <p:spPr>
          <a:xfrm>
            <a:off x="2852928" y="4160520"/>
            <a:ext cx="1005840" cy="0"/>
          </a:xfrm>
          <a:prstGeom prst="line">
            <a:avLst/>
          </a:prstGeom>
          <a:ln w="38100">
            <a:solidFill>
              <a:srgbClr val="1B6E3C"/>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852928" y="3630168"/>
            <a:ext cx="1005840" cy="457200"/>
          </a:xfrm>
          <a:prstGeom prst="rect">
            <a:avLst/>
          </a:prstGeom>
          <a:noFill/>
        </p:spPr>
        <p:txBody>
          <a:bodyPr wrap="square" anchor="t" lIns="0" rIns="0" tIns="0" bIns="0">
            <a:spAutoFit/>
          </a:bodyPr>
          <a:lstStyle/>
          <a:p>
            <a:pPr algn="ctr">
              <a:lnSpc>
                <a:spcPct val="105000"/>
              </a:lnSpc>
              <a:spcAft>
                <a:spcPts val="0"/>
              </a:spcAft>
            </a:pPr>
            <a:r>
              <a:rPr sz="1200" b="1" i="0">
                <a:solidFill>
                  <a:srgbClr val="1B6E3C"/>
                </a:solidFill>
                <a:latin typeface="Calibri"/>
              </a:rPr>
              <a:t>signed</a:t>
            </a:r>
          </a:p>
          <a:p>
            <a:pPr algn="ctr">
              <a:lnSpc>
                <a:spcPct val="105000"/>
              </a:lnSpc>
              <a:spcAft>
                <a:spcPts val="0"/>
              </a:spcAft>
            </a:pPr>
            <a:r>
              <a:rPr sz="1200" b="1" i="0">
                <a:solidFill>
                  <a:srgbClr val="1B6E3C"/>
                </a:solidFill>
                <a:latin typeface="Calibri"/>
              </a:rPr>
              <a:t>capture</a:t>
            </a:r>
          </a:p>
        </p:txBody>
      </p:sp>
      <p:sp>
        <p:nvSpPr>
          <p:cNvPr id="12" name="Station"/>
          <p:cNvSpPr/>
          <p:nvPr/>
        </p:nvSpPr>
        <p:spPr>
          <a:xfrm>
            <a:off x="3886200" y="1234440"/>
            <a:ext cx="5532120" cy="4709160"/>
          </a:xfrm>
          <a:prstGeom prst="roundRect">
            <a:avLst>
              <a:gd name="adj" fmla="val 8000"/>
            </a:avLst>
          </a:prstGeom>
          <a:noFill/>
          <a:ln w="19050">
            <a:solidFill>
              <a:srgbClr val="52606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3" name="TextBox 12"/>
          <p:cNvSpPr txBox="1"/>
          <p:nvPr/>
        </p:nvSpPr>
        <p:spPr>
          <a:xfrm>
            <a:off x="4023360" y="1298448"/>
            <a:ext cx="5303520" cy="274320"/>
          </a:xfrm>
          <a:prstGeom prst="rect">
            <a:avLst/>
          </a:prstGeom>
          <a:noFill/>
        </p:spPr>
        <p:txBody>
          <a:bodyPr wrap="square" anchor="t" lIns="0" rIns="0" tIns="0" bIns="0">
            <a:spAutoFit/>
          </a:bodyPr>
          <a:lstStyle/>
          <a:p>
            <a:pPr algn="l">
              <a:lnSpc>
                <a:spcPct val="105000"/>
              </a:lnSpc>
              <a:spcAft>
                <a:spcPts val="600"/>
              </a:spcAft>
            </a:pPr>
            <a:r>
              <a:rPr sz="1300" b="1" i="0">
                <a:solidFill>
                  <a:srgbClr val="52606D"/>
                </a:solidFill>
                <a:latin typeface="Calibri"/>
              </a:rPr>
              <a:t>Station: Registration Client (desktop) or SBI app (Android)</a:t>
            </a:r>
          </a:p>
        </p:txBody>
      </p:sp>
      <p:sp>
        <p:nvSpPr>
          <p:cNvPr id="14" name="SbiFrameSource"/>
          <p:cNvSpPr/>
          <p:nvPr/>
        </p:nvSpPr>
        <p:spPr>
          <a:xfrm>
            <a:off x="4069080" y="1965960"/>
            <a:ext cx="2194560" cy="1143000"/>
          </a:xfrm>
          <a:prstGeom prst="roundRect">
            <a:avLst>
              <a:gd name="adj" fmla="val 8000"/>
            </a:avLst>
          </a:prstGeom>
          <a:solidFill>
            <a:srgbClr val="E7EFF8"/>
          </a:solidFill>
          <a:ln w="22225">
            <a:solidFill>
              <a:srgbClr val="1B4F8A"/>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300"/>
              </a:spcAft>
            </a:pPr>
            <a:r>
              <a:rPr sz="1500" b="1" i="0">
                <a:solidFill>
                  <a:srgbClr val="173F70"/>
                </a:solidFill>
                <a:latin typeface="Calibri"/>
              </a:rPr>
              <a:t>SbiFrameSource</a:t>
            </a:r>
          </a:p>
          <a:p>
            <a:pPr algn="l">
              <a:spcAft>
                <a:spcPts val="300"/>
              </a:spcAft>
            </a:pPr>
            <a:r>
              <a:rPr sz="1200" b="0" i="0">
                <a:solidFill>
                  <a:srgbClr val="173F70"/>
                </a:solidFill>
                <a:latin typeface="Calibri"/>
              </a:rPr>
              <a:t>frames and the signed capture, one object</a:t>
            </a:r>
          </a:p>
        </p:txBody>
      </p:sp>
      <p:sp>
        <p:nvSpPr>
          <p:cNvPr id="15" name="Idea 5"/>
          <p:cNvSpPr/>
          <p:nvPr/>
        </p:nvSpPr>
        <p:spPr>
          <a:xfrm>
            <a:off x="5943600" y="1828800"/>
            <a:ext cx="329184" cy="329184"/>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14202E"/>
                </a:solidFill>
                <a:latin typeface="Calibri"/>
              </a:rPr>
              <a:t>5</a:t>
            </a:r>
          </a:p>
        </p:txBody>
      </p:sp>
      <p:sp>
        <p:nvSpPr>
          <p:cNvPr id="16" name="LivenessEngine"/>
          <p:cNvSpPr/>
          <p:nvPr/>
        </p:nvSpPr>
        <p:spPr>
          <a:xfrm>
            <a:off x="6537960" y="1828800"/>
            <a:ext cx="2743200" cy="2331720"/>
          </a:xfrm>
          <a:prstGeom prst="roundRect">
            <a:avLst>
              <a:gd name="adj" fmla="val 8000"/>
            </a:avLst>
          </a:prstGeom>
          <a:solidFill>
            <a:srgbClr val="E7EFF8"/>
          </a:solidFill>
          <a:ln w="22225">
            <a:solidFill>
              <a:srgbClr val="1B4F8A"/>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200"/>
              </a:spcAft>
            </a:pPr>
            <a:r>
              <a:rPr sz="1500" b="1" i="0">
                <a:solidFill>
                  <a:srgbClr val="173F70"/>
                </a:solidFill>
                <a:latin typeface="Calibri"/>
              </a:rPr>
              <a:t>LivenessEngine</a:t>
            </a:r>
          </a:p>
          <a:p>
            <a:pPr algn="l">
              <a:spcAft>
                <a:spcPts val="200"/>
              </a:spcAft>
            </a:pPr>
            <a:r>
              <a:rPr sz="1200" b="0" i="0">
                <a:solidFill>
                  <a:srgbClr val="173F70"/>
                </a:solidFill>
                <a:latin typeface="Calibri"/>
              </a:rPr>
              <a:t>source integrity, injection veto</a:t>
            </a:r>
          </a:p>
          <a:p>
            <a:pPr algn="l">
              <a:spcAft>
                <a:spcPts val="200"/>
              </a:spcAft>
            </a:pPr>
            <a:r>
              <a:rPr sz="1200" b="0" i="0">
                <a:solidFill>
                  <a:srgbClr val="173F70"/>
                </a:solidFill>
                <a:latin typeface="Calibri"/>
              </a:rPr>
              <a:t>one usable face, quality gate</a:t>
            </a:r>
          </a:p>
          <a:p>
            <a:pPr algn="l">
              <a:spcAft>
                <a:spcPts val="200"/>
              </a:spcAft>
            </a:pPr>
            <a:r>
              <a:rPr sz="1200" b="0" i="0">
                <a:solidFill>
                  <a:srgbClr val="173F70"/>
                </a:solidFill>
                <a:latin typeface="Calibri"/>
              </a:rPr>
              <a:t>passive model: asks nothing</a:t>
            </a:r>
          </a:p>
          <a:p>
            <a:pPr algn="l">
              <a:spcAft>
                <a:spcPts val="200"/>
              </a:spcAft>
            </a:pPr>
            <a:r>
              <a:rPr sz="1200" b="0" i="0">
                <a:solidFill>
                  <a:srgbClr val="173F70"/>
                </a:solidFill>
                <a:latin typeface="Calibri"/>
              </a:rPr>
              <a:t>attack cues, each may abstain</a:t>
            </a:r>
          </a:p>
          <a:p>
            <a:pPr algn="l">
              <a:spcAft>
                <a:spcPts val="200"/>
              </a:spcAft>
            </a:pPr>
            <a:r>
              <a:rPr sz="1200" b="0" i="0">
                <a:solidFill>
                  <a:srgbClr val="173F70"/>
                </a:solidFill>
                <a:latin typeface="Calibri"/>
              </a:rPr>
              <a:t>fusion: accept / challenge / reject</a:t>
            </a:r>
          </a:p>
          <a:p>
            <a:pPr algn="l">
              <a:spcAft>
                <a:spcPts val="200"/>
              </a:spcAft>
            </a:pPr>
            <a:r>
              <a:rPr sz="1200" b="0" i="0">
                <a:solidFill>
                  <a:srgbClr val="173F70"/>
                </a:solidFill>
                <a:latin typeface="Calibri"/>
              </a:rPr>
              <a:t>random challenge</a:t>
            </a:r>
          </a:p>
          <a:p>
            <a:pPr algn="l">
              <a:spcAft>
                <a:spcPts val="200"/>
              </a:spcAft>
            </a:pPr>
            <a:r>
              <a:rPr sz="1200" b="1" i="0">
                <a:solidFill>
                  <a:srgbClr val="173F70"/>
                </a:solidFill>
                <a:latin typeface="Calibri"/>
              </a:rPr>
              <a:t>fails closed; no score to the screen</a:t>
            </a:r>
          </a:p>
        </p:txBody>
      </p:sp>
      <p:sp>
        <p:nvSpPr>
          <p:cNvPr id="17" name="Idea 3"/>
          <p:cNvSpPr/>
          <p:nvPr/>
        </p:nvSpPr>
        <p:spPr>
          <a:xfrm>
            <a:off x="7955279" y="1691640"/>
            <a:ext cx="329184" cy="329184"/>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14202E"/>
                </a:solidFill>
                <a:latin typeface="Calibri"/>
              </a:rPr>
              <a:t>3</a:t>
            </a:r>
          </a:p>
        </p:txBody>
      </p:sp>
      <p:sp>
        <p:nvSpPr>
          <p:cNvPr id="18" name="Idea 4"/>
          <p:cNvSpPr/>
          <p:nvPr/>
        </p:nvSpPr>
        <p:spPr>
          <a:xfrm>
            <a:off x="8321040" y="1691640"/>
            <a:ext cx="329184" cy="329184"/>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14202E"/>
                </a:solidFill>
                <a:latin typeface="Calibri"/>
              </a:rPr>
              <a:t>4</a:t>
            </a:r>
          </a:p>
        </p:txBody>
      </p:sp>
      <p:sp>
        <p:nvSpPr>
          <p:cNvPr id="19" name="Idea 6"/>
          <p:cNvSpPr/>
          <p:nvPr/>
        </p:nvSpPr>
        <p:spPr>
          <a:xfrm>
            <a:off x="8686800" y="1691640"/>
            <a:ext cx="329184" cy="329184"/>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14202E"/>
                </a:solidFill>
                <a:latin typeface="Calibri"/>
              </a:rPr>
              <a:t>6</a:t>
            </a:r>
          </a:p>
        </p:txBody>
      </p:sp>
      <p:cxnSp>
        <p:nvCxnSpPr>
          <p:cNvPr id="20" name="Connector 19"/>
          <p:cNvCxnSpPr/>
          <p:nvPr/>
        </p:nvCxnSpPr>
        <p:spPr>
          <a:xfrm>
            <a:off x="6281928" y="2377440"/>
            <a:ext cx="237744" cy="0"/>
          </a:xfrm>
          <a:prstGeom prst="line">
            <a:avLst/>
          </a:prstGeom>
          <a:ln w="25400">
            <a:solidFill>
              <a:srgbClr val="3B4A5A"/>
            </a:solidFill>
            <a:tailEnd type="triangle"/>
          </a:ln>
        </p:spPr>
        <p:style>
          <a:lnRef idx="2">
            <a:schemeClr val="accent1"/>
          </a:lnRef>
          <a:fillRef idx="0">
            <a:schemeClr val="accent1"/>
          </a:fillRef>
          <a:effectRef idx="1">
            <a:schemeClr val="accent1"/>
          </a:effectRef>
          <a:fontRef idx="minor">
            <a:schemeClr val="tx1"/>
          </a:fontRef>
        </p:style>
      </p:cxnSp>
      <p:sp>
        <p:nvSpPr>
          <p:cNvPr id="21" name="CaptureBinder"/>
          <p:cNvSpPr/>
          <p:nvPr/>
        </p:nvSpPr>
        <p:spPr>
          <a:xfrm>
            <a:off x="4069080" y="3474720"/>
            <a:ext cx="2194560" cy="1188720"/>
          </a:xfrm>
          <a:prstGeom prst="roundRect">
            <a:avLst>
              <a:gd name="adj" fmla="val 8000"/>
            </a:avLst>
          </a:prstGeom>
          <a:solidFill>
            <a:srgbClr val="E6F4EA"/>
          </a:solidFill>
          <a:ln w="22225">
            <a:solidFill>
              <a:srgbClr val="1B6E3C"/>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300"/>
              </a:spcAft>
            </a:pPr>
            <a:r>
              <a:rPr sz="1500" b="1" i="0">
                <a:solidFill>
                  <a:srgbClr val="1B6E3C"/>
                </a:solidFill>
                <a:latin typeface="Calibri"/>
              </a:rPr>
              <a:t>CaptureBinder</a:t>
            </a:r>
          </a:p>
          <a:p>
            <a:pPr algn="l">
              <a:spcAft>
                <a:spcPts val="300"/>
              </a:spcAft>
            </a:pPr>
            <a:r>
              <a:rPr sz="1200" b="0" i="0">
                <a:solidFill>
                  <a:srgbClr val="1B6E3C"/>
                </a:solidFill>
                <a:latin typeface="Calibri"/>
              </a:rPr>
              <a:t>four locks: nonce, chain, same face, time</a:t>
            </a:r>
          </a:p>
        </p:txBody>
      </p:sp>
      <p:sp>
        <p:nvSpPr>
          <p:cNvPr id="22" name="Idea 1"/>
          <p:cNvSpPr/>
          <p:nvPr/>
        </p:nvSpPr>
        <p:spPr>
          <a:xfrm>
            <a:off x="5943600" y="3337560"/>
            <a:ext cx="329184" cy="329184"/>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14202E"/>
                </a:solidFill>
                <a:latin typeface="Calibri"/>
              </a:rPr>
              <a:t>1</a:t>
            </a:r>
          </a:p>
        </p:txBody>
      </p:sp>
      <p:cxnSp>
        <p:nvCxnSpPr>
          <p:cNvPr id="23" name="Connector 22"/>
          <p:cNvCxnSpPr/>
          <p:nvPr/>
        </p:nvCxnSpPr>
        <p:spPr>
          <a:xfrm>
            <a:off x="5166360" y="3127248"/>
            <a:ext cx="0" cy="329184"/>
          </a:xfrm>
          <a:prstGeom prst="line">
            <a:avLst/>
          </a:prstGeom>
          <a:ln w="25400">
            <a:solidFill>
              <a:srgbClr val="3B4A5A"/>
            </a:solidFill>
            <a:tailEnd type="triangle"/>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6281928" y="3931920"/>
            <a:ext cx="237744" cy="0"/>
          </a:xfrm>
          <a:prstGeom prst="line">
            <a:avLst/>
          </a:prstGeom>
          <a:ln w="25400">
            <a:solidFill>
              <a:srgbClr val="3B4A5A"/>
            </a:solidFill>
            <a:tailEnd type="triangle"/>
          </a:ln>
        </p:spPr>
        <p:style>
          <a:lnRef idx="2">
            <a:schemeClr val="accent1"/>
          </a:lnRef>
          <a:fillRef idx="0">
            <a:schemeClr val="accent1"/>
          </a:fillRef>
          <a:effectRef idx="1">
            <a:schemeClr val="accent1"/>
          </a:effectRef>
          <a:fontRef idx="minor">
            <a:schemeClr val="tx1"/>
          </a:fontRef>
        </p:style>
      </p:cxnSp>
      <p:sp>
        <p:nvSpPr>
          <p:cNvPr id="25" name="EvidencePackager"/>
          <p:cNvSpPr/>
          <p:nvPr/>
        </p:nvSpPr>
        <p:spPr>
          <a:xfrm>
            <a:off x="6537960" y="4526280"/>
            <a:ext cx="2743200" cy="1051560"/>
          </a:xfrm>
          <a:prstGeom prst="roundRect">
            <a:avLst>
              <a:gd name="adj" fmla="val 8000"/>
            </a:avLst>
          </a:prstGeom>
          <a:solidFill>
            <a:srgbClr val="E7EFF8"/>
          </a:solidFill>
          <a:ln w="22225">
            <a:solidFill>
              <a:srgbClr val="1B4F8A"/>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300"/>
              </a:spcAft>
            </a:pPr>
            <a:r>
              <a:rPr sz="1500" b="1" i="0">
                <a:solidFill>
                  <a:srgbClr val="173F70"/>
                </a:solidFill>
                <a:latin typeface="Calibri"/>
              </a:rPr>
              <a:t>EvidencePackager</a:t>
            </a:r>
          </a:p>
          <a:p>
            <a:pPr algn="l">
              <a:spcAft>
                <a:spcPts val="300"/>
              </a:spcAft>
            </a:pPr>
            <a:r>
              <a:rPr sz="1200" b="0" i="0">
                <a:solidFill>
                  <a:srgbClr val="173F70"/>
                </a:solidFill>
                <a:latin typeface="Calibri"/>
              </a:rPr>
              <a:t>signed JWS: decision, cues, model hashes, binding level</a:t>
            </a:r>
          </a:p>
        </p:txBody>
      </p:sp>
      <p:sp>
        <p:nvSpPr>
          <p:cNvPr id="26" name="Idea 2"/>
          <p:cNvSpPr/>
          <p:nvPr/>
        </p:nvSpPr>
        <p:spPr>
          <a:xfrm>
            <a:off x="8961120" y="4389120"/>
            <a:ext cx="329184" cy="329184"/>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14202E"/>
                </a:solidFill>
                <a:latin typeface="Calibri"/>
              </a:rPr>
              <a:t>2</a:t>
            </a:r>
          </a:p>
        </p:txBody>
      </p:sp>
      <p:cxnSp>
        <p:nvCxnSpPr>
          <p:cNvPr id="27" name="Connector 26"/>
          <p:cNvCxnSpPr/>
          <p:nvPr/>
        </p:nvCxnSpPr>
        <p:spPr>
          <a:xfrm>
            <a:off x="6281928" y="4343400"/>
            <a:ext cx="237744" cy="502920"/>
          </a:xfrm>
          <a:prstGeom prst="line">
            <a:avLst/>
          </a:prstGeom>
          <a:ln w="25400">
            <a:solidFill>
              <a:srgbClr val="3B4A5A"/>
            </a:solidFill>
            <a:tailEnd type="triangle"/>
          </a:ln>
        </p:spPr>
        <p:style>
          <a:lnRef idx="2">
            <a:schemeClr val="accent1"/>
          </a:lnRef>
          <a:fillRef idx="0">
            <a:schemeClr val="accent1"/>
          </a:fillRef>
          <a:effectRef idx="1">
            <a:schemeClr val="accent1"/>
          </a:effectRef>
          <a:fontRef idx="minor">
            <a:schemeClr val="tx1"/>
          </a:fontRef>
        </p:style>
      </p:cxnSp>
      <p:sp>
        <p:nvSpPr>
          <p:cNvPr id="28" name="Station screens"/>
          <p:cNvSpPr/>
          <p:nvPr/>
        </p:nvSpPr>
        <p:spPr>
          <a:xfrm>
            <a:off x="4069080" y="4937760"/>
            <a:ext cx="2194560" cy="777240"/>
          </a:xfrm>
          <a:prstGeom prst="roundRect">
            <a:avLst>
              <a:gd name="adj" fmla="val 8000"/>
            </a:avLst>
          </a:prstGeom>
          <a:solidFill>
            <a:srgbClr val="FFF4D6"/>
          </a:solidFill>
          <a:ln w="22225">
            <a:solidFill>
              <a:srgbClr val="6B4500"/>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300"/>
              </a:spcAft>
            </a:pPr>
            <a:r>
              <a:rPr sz="1400" b="1" i="0">
                <a:solidFill>
                  <a:srgbClr val="6B4500"/>
                </a:solidFill>
                <a:latin typeface="Calibri"/>
              </a:rPr>
              <a:t>Station screens</a:t>
            </a:r>
          </a:p>
          <a:p>
            <a:pPr algn="l">
              <a:spcAft>
                <a:spcPts val="300"/>
              </a:spcAft>
            </a:pPr>
            <a:r>
              <a:rPr sz="1200" b="0" i="0">
                <a:solidFill>
                  <a:srgbClr val="6B4500"/>
                </a:solidFill>
                <a:latin typeface="Calibri"/>
              </a:rPr>
              <a:t>one sentence and an icon</a:t>
            </a:r>
          </a:p>
        </p:txBody>
      </p:sp>
      <p:sp>
        <p:nvSpPr>
          <p:cNvPr id="29" name="Idea 6"/>
          <p:cNvSpPr/>
          <p:nvPr/>
        </p:nvSpPr>
        <p:spPr>
          <a:xfrm>
            <a:off x="5943600" y="4800600"/>
            <a:ext cx="329184" cy="329184"/>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14202E"/>
                </a:solidFill>
                <a:latin typeface="Calibri"/>
              </a:rPr>
              <a:t>6</a:t>
            </a:r>
          </a:p>
        </p:txBody>
      </p:sp>
      <p:sp>
        <p:nvSpPr>
          <p:cNvPr id="30" name="Registration packet"/>
          <p:cNvSpPr/>
          <p:nvPr/>
        </p:nvSpPr>
        <p:spPr>
          <a:xfrm>
            <a:off x="9692640" y="4160520"/>
            <a:ext cx="2011680" cy="1417320"/>
          </a:xfrm>
          <a:prstGeom prst="roundRect">
            <a:avLst>
              <a:gd name="adj" fmla="val 8000"/>
            </a:avLst>
          </a:prstGeom>
          <a:solidFill>
            <a:srgbClr val="E7EFF8"/>
          </a:solidFill>
          <a:ln w="22225">
            <a:solidFill>
              <a:srgbClr val="1B4F8A"/>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300"/>
              </a:spcAft>
            </a:pPr>
            <a:r>
              <a:rPr sz="1500" b="1" i="0">
                <a:solidFill>
                  <a:srgbClr val="173F70"/>
                </a:solidFill>
                <a:latin typeface="Calibri"/>
              </a:rPr>
              <a:t>Registration packet</a:t>
            </a:r>
          </a:p>
          <a:p>
            <a:pPr algn="l">
              <a:spcAft>
                <a:spcPts val="300"/>
              </a:spcAft>
            </a:pPr>
            <a:r>
              <a:rPr sz="1200" b="0" i="0">
                <a:solidFill>
                  <a:srgbClr val="173F70"/>
                </a:solidFill>
                <a:latin typeface="Calibri"/>
              </a:rPr>
              <a:t>face BIR: bdb untouched</a:t>
            </a:r>
          </a:p>
          <a:p>
            <a:pPr algn="l">
              <a:spcAft>
                <a:spcPts val="300"/>
              </a:spcAft>
            </a:pPr>
            <a:r>
              <a:rPr sz="1200" b="0" i="0">
                <a:solidFill>
                  <a:srgbClr val="173F70"/>
                </a:solidFill>
                <a:latin typeface="Calibri"/>
              </a:rPr>
              <a:t>others = signed evidence</a:t>
            </a:r>
          </a:p>
        </p:txBody>
      </p:sp>
      <p:cxnSp>
        <p:nvCxnSpPr>
          <p:cNvPr id="31" name="Connector 30"/>
          <p:cNvCxnSpPr/>
          <p:nvPr/>
        </p:nvCxnSpPr>
        <p:spPr>
          <a:xfrm>
            <a:off x="9299448" y="5029200"/>
            <a:ext cx="365760" cy="0"/>
          </a:xfrm>
          <a:prstGeom prst="line">
            <a:avLst/>
          </a:prstGeom>
          <a:ln w="25400">
            <a:solidFill>
              <a:srgbClr val="3B4A5A"/>
            </a:solidFill>
            <a:tailEnd type="triangle"/>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10698480" y="3794760"/>
            <a:ext cx="0" cy="338327"/>
          </a:xfrm>
          <a:prstGeom prst="line">
            <a:avLst/>
          </a:prstGeom>
          <a:ln w="25400">
            <a:solidFill>
              <a:srgbClr val="3B4A5A"/>
            </a:solidFill>
            <a:tailEnd type="triangle"/>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10789920" y="3840480"/>
            <a:ext cx="822960" cy="274320"/>
          </a:xfrm>
          <a:prstGeom prst="rect">
            <a:avLst/>
          </a:prstGeom>
          <a:noFill/>
        </p:spPr>
        <p:txBody>
          <a:bodyPr wrap="square" anchor="t" lIns="0" rIns="0" tIns="0" bIns="0">
            <a:spAutoFit/>
          </a:bodyPr>
          <a:lstStyle/>
          <a:p>
            <a:pPr algn="l">
              <a:lnSpc>
                <a:spcPct val="105000"/>
              </a:lnSpc>
              <a:spcAft>
                <a:spcPts val="600"/>
              </a:spcAft>
            </a:pPr>
            <a:r>
              <a:rPr sz="1200" b="0" i="0">
                <a:solidFill>
                  <a:srgbClr val="52606D"/>
                </a:solidFill>
                <a:latin typeface="Calibri"/>
              </a:rPr>
              <a:t>sync</a:t>
            </a:r>
          </a:p>
        </p:txBody>
      </p:sp>
      <p:sp>
        <p:nvSpPr>
          <p:cNvPr id="34" name="Server"/>
          <p:cNvSpPr/>
          <p:nvPr/>
        </p:nvSpPr>
        <p:spPr>
          <a:xfrm>
            <a:off x="9692640" y="1737360"/>
            <a:ext cx="2011680" cy="2011680"/>
          </a:xfrm>
          <a:prstGeom prst="roundRect">
            <a:avLst>
              <a:gd name="adj" fmla="val 8000"/>
            </a:avLst>
          </a:prstGeom>
          <a:solidFill>
            <a:srgbClr val="E6F4EA"/>
          </a:solidFill>
          <a:ln w="22225">
            <a:solidFill>
              <a:srgbClr val="1B6E3C"/>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400"/>
              </a:spcAft>
            </a:pPr>
            <a:r>
              <a:rPr sz="1400" b="1" i="0">
                <a:solidFill>
                  <a:srgbClr val="1B6E3C"/>
                </a:solidFill>
                <a:latin typeface="Calibri"/>
              </a:rPr>
              <a:t>Server, any time later</a:t>
            </a:r>
          </a:p>
          <a:p>
            <a:pPr algn="l">
              <a:spcAft>
                <a:spcPts val="400"/>
              </a:spcAft>
            </a:pPr>
            <a:r>
              <a:rPr sz="1200" b="0" i="0">
                <a:solidFill>
                  <a:srgbClr val="1B6E3C"/>
                </a:solidFill>
                <a:latin typeface="Calibri"/>
              </a:rPr>
              <a:t>verifyEvidence: one command</a:t>
            </a:r>
          </a:p>
          <a:p>
            <a:pPr algn="l">
              <a:spcAft>
                <a:spcPts val="400"/>
              </a:spcAft>
            </a:pPr>
            <a:r>
              <a:rPr sz="1200" b="0" i="0">
                <a:solidFill>
                  <a:srgbClr val="1B6E3C"/>
                </a:solidFill>
                <a:latin typeface="Calibri"/>
              </a:rPr>
              <a:t>rescanEvidence: a newer model</a:t>
            </a:r>
          </a:p>
          <a:p>
            <a:pPr algn="l">
              <a:spcAft>
                <a:spcPts val="400"/>
              </a:spcAft>
            </a:pPr>
            <a:r>
              <a:rPr sz="1200" b="0" i="0">
                <a:solidFill>
                  <a:srgbClr val="1B6E3C"/>
                </a:solidFill>
                <a:latin typeface="Calibri"/>
              </a:rPr>
              <a:t>transparency log</a:t>
            </a:r>
          </a:p>
        </p:txBody>
      </p:sp>
      <p:sp>
        <p:nvSpPr>
          <p:cNvPr id="35" name="Idea 2"/>
          <p:cNvSpPr/>
          <p:nvPr/>
        </p:nvSpPr>
        <p:spPr>
          <a:xfrm>
            <a:off x="11384280" y="1600200"/>
            <a:ext cx="329184" cy="329184"/>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14202E"/>
                </a:solidFill>
                <a:latin typeface="Calibri"/>
              </a:rPr>
              <a:t>2</a:t>
            </a:r>
          </a:p>
        </p:txBody>
      </p:sp>
      <p:sp>
        <p:nvSpPr>
          <p:cNvPr id="36" name="Legend 1"/>
          <p:cNvSpPr/>
          <p:nvPr/>
        </p:nvSpPr>
        <p:spPr>
          <a:xfrm>
            <a:off x="457200" y="6126480"/>
            <a:ext cx="274320" cy="27432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00" b="1" i="0">
                <a:solidFill>
                  <a:srgbClr val="14202E"/>
                </a:solidFill>
                <a:latin typeface="Calibri"/>
              </a:rPr>
              <a:t>1</a:t>
            </a:r>
          </a:p>
        </p:txBody>
      </p:sp>
      <p:sp>
        <p:nvSpPr>
          <p:cNvPr id="37" name="TextBox 36"/>
          <p:cNvSpPr txBox="1"/>
          <p:nvPr/>
        </p:nvSpPr>
        <p:spPr>
          <a:xfrm>
            <a:off x="804672" y="6126480"/>
            <a:ext cx="635508" cy="274320"/>
          </a:xfrm>
          <a:prstGeom prst="rect">
            <a:avLst/>
          </a:prstGeom>
          <a:noFill/>
        </p:spPr>
        <p:txBody>
          <a:bodyPr wrap="square" anchor="ctr" lIns="0" rIns="0" tIns="0" bIns="0">
            <a:spAutoFit/>
          </a:bodyPr>
          <a:lstStyle/>
          <a:p>
            <a:pPr algn="l">
              <a:lnSpc>
                <a:spcPct val="105000"/>
              </a:lnSpc>
              <a:spcAft>
                <a:spcPts val="0"/>
              </a:spcAft>
            </a:pPr>
            <a:r>
              <a:rPr sz="1200" b="0" i="0">
                <a:solidFill>
                  <a:srgbClr val="14202E"/>
                </a:solidFill>
                <a:latin typeface="Calibri"/>
              </a:rPr>
              <a:t>Binding</a:t>
            </a:r>
          </a:p>
        </p:txBody>
      </p:sp>
      <p:sp>
        <p:nvSpPr>
          <p:cNvPr id="38" name="Legend 2"/>
          <p:cNvSpPr/>
          <p:nvPr/>
        </p:nvSpPr>
        <p:spPr>
          <a:xfrm>
            <a:off x="1549908" y="6126480"/>
            <a:ext cx="274320" cy="27432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00" b="1" i="0">
                <a:solidFill>
                  <a:srgbClr val="14202E"/>
                </a:solidFill>
                <a:latin typeface="Calibri"/>
              </a:rPr>
              <a:t>2</a:t>
            </a:r>
          </a:p>
        </p:txBody>
      </p:sp>
      <p:sp>
        <p:nvSpPr>
          <p:cNvPr id="39" name="TextBox 38"/>
          <p:cNvSpPr txBox="1"/>
          <p:nvPr/>
        </p:nvSpPr>
        <p:spPr>
          <a:xfrm>
            <a:off x="1897380" y="6126480"/>
            <a:ext cx="1257300" cy="274320"/>
          </a:xfrm>
          <a:prstGeom prst="rect">
            <a:avLst/>
          </a:prstGeom>
          <a:noFill/>
        </p:spPr>
        <p:txBody>
          <a:bodyPr wrap="square" anchor="ctr" lIns="0" rIns="0" tIns="0" bIns="0">
            <a:spAutoFit/>
          </a:bodyPr>
          <a:lstStyle/>
          <a:p>
            <a:pPr algn="l">
              <a:lnSpc>
                <a:spcPct val="105000"/>
              </a:lnSpc>
              <a:spcAft>
                <a:spcPts val="0"/>
              </a:spcAft>
            </a:pPr>
            <a:r>
              <a:rPr sz="1200" b="0" i="0">
                <a:solidFill>
                  <a:srgbClr val="14202E"/>
                </a:solidFill>
                <a:latin typeface="Calibri"/>
              </a:rPr>
              <a:t>Signed evidence</a:t>
            </a:r>
          </a:p>
        </p:txBody>
      </p:sp>
      <p:sp>
        <p:nvSpPr>
          <p:cNvPr id="40" name="Legend 3"/>
          <p:cNvSpPr/>
          <p:nvPr/>
        </p:nvSpPr>
        <p:spPr>
          <a:xfrm>
            <a:off x="3264408" y="6126480"/>
            <a:ext cx="274320" cy="27432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00" b="1" i="0">
                <a:solidFill>
                  <a:srgbClr val="14202E"/>
                </a:solidFill>
                <a:latin typeface="Calibri"/>
              </a:rPr>
              <a:t>3</a:t>
            </a:r>
          </a:p>
        </p:txBody>
      </p:sp>
      <p:sp>
        <p:nvSpPr>
          <p:cNvPr id="41" name="TextBox 40"/>
          <p:cNvSpPr txBox="1"/>
          <p:nvPr/>
        </p:nvSpPr>
        <p:spPr>
          <a:xfrm>
            <a:off x="3611880" y="6126480"/>
            <a:ext cx="1179576" cy="274320"/>
          </a:xfrm>
          <a:prstGeom prst="rect">
            <a:avLst/>
          </a:prstGeom>
          <a:noFill/>
        </p:spPr>
        <p:txBody>
          <a:bodyPr wrap="square" anchor="ctr" lIns="0" rIns="0" tIns="0" bIns="0">
            <a:spAutoFit/>
          </a:bodyPr>
          <a:lstStyle/>
          <a:p>
            <a:pPr algn="l">
              <a:lnSpc>
                <a:spcPct val="105000"/>
              </a:lnSpc>
              <a:spcAft>
                <a:spcPts val="0"/>
              </a:spcAft>
            </a:pPr>
            <a:r>
              <a:rPr sz="1200" b="0" i="0">
                <a:solidFill>
                  <a:srgbClr val="14202E"/>
                </a:solidFill>
                <a:latin typeface="Calibri"/>
              </a:rPr>
              <a:t>Differing cues</a:t>
            </a:r>
          </a:p>
        </p:txBody>
      </p:sp>
      <p:sp>
        <p:nvSpPr>
          <p:cNvPr id="42" name="Legend 4"/>
          <p:cNvSpPr/>
          <p:nvPr/>
        </p:nvSpPr>
        <p:spPr>
          <a:xfrm>
            <a:off x="4901184" y="6126480"/>
            <a:ext cx="274320" cy="27432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00" b="1" i="0">
                <a:solidFill>
                  <a:srgbClr val="14202E"/>
                </a:solidFill>
                <a:latin typeface="Calibri"/>
              </a:rPr>
              <a:t>4</a:t>
            </a:r>
          </a:p>
        </p:txBody>
      </p:sp>
      <p:sp>
        <p:nvSpPr>
          <p:cNvPr id="43" name="TextBox 42"/>
          <p:cNvSpPr txBox="1"/>
          <p:nvPr/>
        </p:nvSpPr>
        <p:spPr>
          <a:xfrm>
            <a:off x="5248656" y="6126480"/>
            <a:ext cx="1335024" cy="274320"/>
          </a:xfrm>
          <a:prstGeom prst="rect">
            <a:avLst/>
          </a:prstGeom>
          <a:noFill/>
        </p:spPr>
        <p:txBody>
          <a:bodyPr wrap="square" anchor="ctr" lIns="0" rIns="0" tIns="0" bIns="0">
            <a:spAutoFit/>
          </a:bodyPr>
          <a:lstStyle/>
          <a:p>
            <a:pPr algn="l">
              <a:lnSpc>
                <a:spcPct val="105000"/>
              </a:lnSpc>
              <a:spcAft>
                <a:spcPts val="0"/>
              </a:spcAft>
            </a:pPr>
            <a:r>
              <a:rPr sz="1200" b="0" i="0">
                <a:solidFill>
                  <a:srgbClr val="14202E"/>
                </a:solidFill>
                <a:latin typeface="Calibri"/>
              </a:rPr>
              <a:t>Random challenge</a:t>
            </a:r>
          </a:p>
        </p:txBody>
      </p:sp>
      <p:sp>
        <p:nvSpPr>
          <p:cNvPr id="44" name="Legend 5"/>
          <p:cNvSpPr/>
          <p:nvPr/>
        </p:nvSpPr>
        <p:spPr>
          <a:xfrm>
            <a:off x="6693408" y="6126480"/>
            <a:ext cx="274320" cy="27432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00" b="1" i="0">
                <a:solidFill>
                  <a:srgbClr val="14202E"/>
                </a:solidFill>
                <a:latin typeface="Calibri"/>
              </a:rPr>
              <a:t>5</a:t>
            </a:r>
          </a:p>
        </p:txBody>
      </p:sp>
      <p:sp>
        <p:nvSpPr>
          <p:cNvPr id="45" name="TextBox 44"/>
          <p:cNvSpPr txBox="1"/>
          <p:nvPr/>
        </p:nvSpPr>
        <p:spPr>
          <a:xfrm>
            <a:off x="7040880" y="6126480"/>
            <a:ext cx="1412748" cy="274320"/>
          </a:xfrm>
          <a:prstGeom prst="rect">
            <a:avLst/>
          </a:prstGeom>
          <a:noFill/>
        </p:spPr>
        <p:txBody>
          <a:bodyPr wrap="square" anchor="ctr" lIns="0" rIns="0" tIns="0" bIns="0">
            <a:spAutoFit/>
          </a:bodyPr>
          <a:lstStyle/>
          <a:p>
            <a:pPr algn="l">
              <a:lnSpc>
                <a:spcPct val="105000"/>
              </a:lnSpc>
              <a:spcAft>
                <a:spcPts val="0"/>
              </a:spcAft>
            </a:pPr>
            <a:r>
              <a:rPr sz="1200" b="0" i="0">
                <a:solidFill>
                  <a:srgbClr val="14202E"/>
                </a:solidFill>
                <a:latin typeface="Calibri"/>
              </a:rPr>
              <a:t>Injection defence</a:t>
            </a:r>
          </a:p>
        </p:txBody>
      </p:sp>
      <p:sp>
        <p:nvSpPr>
          <p:cNvPr id="46" name="Legend 6"/>
          <p:cNvSpPr/>
          <p:nvPr/>
        </p:nvSpPr>
        <p:spPr>
          <a:xfrm>
            <a:off x="8563356" y="6126480"/>
            <a:ext cx="274320" cy="27432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00" b="1" i="0">
                <a:solidFill>
                  <a:srgbClr val="14202E"/>
                </a:solidFill>
                <a:latin typeface="Calibri"/>
              </a:rPr>
              <a:t>6</a:t>
            </a:r>
          </a:p>
        </p:txBody>
      </p:sp>
      <p:sp>
        <p:nvSpPr>
          <p:cNvPr id="47" name="TextBox 46"/>
          <p:cNvSpPr txBox="1"/>
          <p:nvPr/>
        </p:nvSpPr>
        <p:spPr>
          <a:xfrm>
            <a:off x="8910828" y="6126480"/>
            <a:ext cx="790956" cy="274320"/>
          </a:xfrm>
          <a:prstGeom prst="rect">
            <a:avLst/>
          </a:prstGeom>
          <a:noFill/>
        </p:spPr>
        <p:txBody>
          <a:bodyPr wrap="square" anchor="ctr" lIns="0" rIns="0" tIns="0" bIns="0">
            <a:spAutoFit/>
          </a:bodyPr>
          <a:lstStyle/>
          <a:p>
            <a:pPr algn="l">
              <a:lnSpc>
                <a:spcPct val="105000"/>
              </a:lnSpc>
              <a:spcAft>
                <a:spcPts val="0"/>
              </a:spcAft>
            </a:pPr>
            <a:r>
              <a:rPr sz="1200" b="0" i="0">
                <a:solidFill>
                  <a:srgbClr val="14202E"/>
                </a:solidFill>
                <a:latin typeface="Calibri"/>
              </a:rPr>
              <a:t>Inclusion</a:t>
            </a:r>
          </a:p>
        </p:txBody>
      </p:sp>
      <p:sp>
        <p:nvSpPr>
          <p:cNvPr id="48" name="Footer"/>
          <p:cNvSpPr txBox="1"/>
          <p:nvPr/>
        </p:nvSpPr>
        <p:spPr>
          <a:xfrm>
            <a:off x="548640" y="6473952"/>
            <a:ext cx="8229600" cy="256032"/>
          </a:xfrm>
          <a:prstGeom prst="rect">
            <a:avLst/>
          </a:prstGeom>
          <a:noFill/>
        </p:spPr>
        <p:txBody>
          <a:bodyPr wrap="square" anchor="t" lIns="0" rIns="0" tIns="0" bIns="0">
            <a:spAutoFit/>
          </a:bodyPr>
          <a:lstStyle/>
          <a:p>
            <a:pPr algn="l">
              <a:lnSpc>
                <a:spcPct val="105000"/>
              </a:lnSpc>
              <a:spcAft>
                <a:spcPts val="600"/>
              </a:spcAft>
            </a:pPr>
            <a:r>
              <a:rPr sz="1200" b="0" i="0">
                <a:solidFill>
                  <a:srgbClr val="52606D"/>
                </a:solidFill>
                <a:latin typeface="Calibri"/>
              </a:rPr>
              <a:t>PRAMAAN  ·  MOSIP Decode 2026  ·  PS04</a:t>
            </a:r>
          </a:p>
        </p:txBody>
      </p:sp>
      <p:sp>
        <p:nvSpPr>
          <p:cNvPr id="49" name="Slide number"/>
          <p:cNvSpPr txBox="1"/>
          <p:nvPr/>
        </p:nvSpPr>
        <p:spPr>
          <a:xfrm>
            <a:off x="10698480" y="6473952"/>
            <a:ext cx="914400" cy="256032"/>
          </a:xfrm>
          <a:prstGeom prst="rect">
            <a:avLst/>
          </a:prstGeom>
          <a:noFill/>
        </p:spPr>
        <p:txBody>
          <a:bodyPr wrap="square" anchor="t" lIns="0" rIns="0" tIns="0" bIns="0">
            <a:spAutoFit/>
          </a:bodyPr>
          <a:lstStyle/>
          <a:p>
            <a:pPr algn="r">
              <a:lnSpc>
                <a:spcPct val="105000"/>
              </a:lnSpc>
              <a:spcAft>
                <a:spcPts val="600"/>
              </a:spcAft>
            </a:pPr>
            <a:r>
              <a:rPr sz="1200" b="0" i="0">
                <a:solidFill>
                  <a:srgbClr val="52606D"/>
                </a:solidFill>
                <a:latin typeface="Calibri"/>
              </a:rPr>
              <a:t>4 / 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47472"/>
            <a:ext cx="11064240" cy="685800"/>
          </a:xfrm>
          <a:prstGeom prst="rect">
            <a:avLst/>
          </a:prstGeom>
          <a:noFill/>
        </p:spPr>
        <p:txBody>
          <a:bodyPr wrap="square" anchor="t" lIns="0" rIns="0" tIns="0" bIns="0">
            <a:spAutoFit/>
          </a:bodyPr>
          <a:lstStyle/>
          <a:p>
            <a:pPr algn="l">
              <a:lnSpc>
                <a:spcPct val="105000"/>
              </a:lnSpc>
              <a:spcAft>
                <a:spcPts val="600"/>
              </a:spcAft>
            </a:pPr>
            <a:r>
              <a:rPr sz="3600" b="1" i="0">
                <a:solidFill>
                  <a:srgbClr val="1B4F8A"/>
                </a:solidFill>
                <a:latin typeface="Calibri"/>
              </a:rPr>
              <a:t>How idea 1 works: four locks stop the capture swap</a:t>
            </a:r>
          </a:p>
        </p:txBody>
      </p:sp>
      <p:sp>
        <p:nvSpPr>
          <p:cNvPr id="3" name="Step Start"/>
          <p:cNvSpPr/>
          <p:nvPr/>
        </p:nvSpPr>
        <p:spPr>
          <a:xfrm>
            <a:off x="548640" y="1234440"/>
            <a:ext cx="2103120" cy="1417320"/>
          </a:xfrm>
          <a:prstGeom prst="roundRect">
            <a:avLst>
              <a:gd name="adj" fmla="val 8000"/>
            </a:avLst>
          </a:prstGeom>
          <a:solidFill>
            <a:srgbClr val="E7EFF8"/>
          </a:solidFill>
          <a:ln w="22225">
            <a:solidFill>
              <a:srgbClr val="1B4F8A"/>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400"/>
              </a:spcAft>
            </a:pPr>
            <a:r>
              <a:rPr sz="1600" b="1" i="0">
                <a:solidFill>
                  <a:srgbClr val="1B4F8A"/>
                </a:solidFill>
                <a:latin typeface="Calibri"/>
              </a:rPr>
              <a:t>1  Start</a:t>
            </a:r>
          </a:p>
          <a:p>
            <a:pPr algn="l">
              <a:spcAft>
                <a:spcPts val="400"/>
              </a:spcAft>
            </a:pPr>
            <a:r>
              <a:rPr sz="1300" b="0" i="0">
                <a:solidFill>
                  <a:srgbClr val="14202E"/>
                </a:solidFill>
                <a:latin typeface="Calibri"/>
              </a:rPr>
              <a:t>The client makes a random 32-character nonce for this session.</a:t>
            </a:r>
          </a:p>
        </p:txBody>
      </p:sp>
      <p:cxnSp>
        <p:nvCxnSpPr>
          <p:cNvPr id="4" name="Connector 3"/>
          <p:cNvCxnSpPr/>
          <p:nvPr/>
        </p:nvCxnSpPr>
        <p:spPr>
          <a:xfrm>
            <a:off x="2660903" y="1920240"/>
            <a:ext cx="118873" cy="0"/>
          </a:xfrm>
          <a:prstGeom prst="line">
            <a:avLst/>
          </a:prstGeom>
          <a:ln w="25400">
            <a:solidFill>
              <a:srgbClr val="3B4A5A"/>
            </a:solidFill>
            <a:tailEnd type="triangle"/>
          </a:ln>
        </p:spPr>
        <p:style>
          <a:lnRef idx="2">
            <a:schemeClr val="accent1"/>
          </a:lnRef>
          <a:fillRef idx="0">
            <a:schemeClr val="accent1"/>
          </a:fillRef>
          <a:effectRef idx="1">
            <a:schemeClr val="accent1"/>
          </a:effectRef>
          <a:fontRef idx="minor">
            <a:schemeClr val="tx1"/>
          </a:fontRef>
        </p:style>
      </p:cxnSp>
      <p:sp>
        <p:nvSpPr>
          <p:cNvPr id="5" name="Step Preview"/>
          <p:cNvSpPr/>
          <p:nvPr/>
        </p:nvSpPr>
        <p:spPr>
          <a:xfrm>
            <a:off x="2788920" y="1234440"/>
            <a:ext cx="2103120" cy="1417320"/>
          </a:xfrm>
          <a:prstGeom prst="roundRect">
            <a:avLst>
              <a:gd name="adj" fmla="val 8000"/>
            </a:avLst>
          </a:prstGeom>
          <a:solidFill>
            <a:srgbClr val="E7EFF8"/>
          </a:solidFill>
          <a:ln w="22225">
            <a:solidFill>
              <a:srgbClr val="1B4F8A"/>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400"/>
              </a:spcAft>
            </a:pPr>
            <a:r>
              <a:rPr sz="1600" b="1" i="0">
                <a:solidFill>
                  <a:srgbClr val="1B4F8A"/>
                </a:solidFill>
                <a:latin typeface="Calibri"/>
              </a:rPr>
              <a:t>2  Preview</a:t>
            </a:r>
          </a:p>
          <a:p>
            <a:pPr algn="l">
              <a:spcAft>
                <a:spcPts val="400"/>
              </a:spcAft>
            </a:pPr>
            <a:r>
              <a:rPr sz="1300" b="0" i="0">
                <a:solidFill>
                  <a:srgbClr val="14202E"/>
                </a:solidFill>
                <a:latin typeface="Calibri"/>
              </a:rPr>
              <a:t>Every frame it analyses is hashed into a chain.</a:t>
            </a:r>
          </a:p>
        </p:txBody>
      </p:sp>
      <p:cxnSp>
        <p:nvCxnSpPr>
          <p:cNvPr id="6" name="Connector 5"/>
          <p:cNvCxnSpPr/>
          <p:nvPr/>
        </p:nvCxnSpPr>
        <p:spPr>
          <a:xfrm>
            <a:off x="4901183" y="1920240"/>
            <a:ext cx="118873" cy="0"/>
          </a:xfrm>
          <a:prstGeom prst="line">
            <a:avLst/>
          </a:prstGeom>
          <a:ln w="25400">
            <a:solidFill>
              <a:srgbClr val="3B4A5A"/>
            </a:solidFill>
            <a:tailEnd type="triangle"/>
          </a:ln>
        </p:spPr>
        <p:style>
          <a:lnRef idx="2">
            <a:schemeClr val="accent1"/>
          </a:lnRef>
          <a:fillRef idx="0">
            <a:schemeClr val="accent1"/>
          </a:fillRef>
          <a:effectRef idx="1">
            <a:schemeClr val="accent1"/>
          </a:effectRef>
          <a:fontRef idx="minor">
            <a:schemeClr val="tx1"/>
          </a:fontRef>
        </p:style>
      </p:cxnSp>
      <p:sp>
        <p:nvSpPr>
          <p:cNvPr id="7" name="Step Challenge"/>
          <p:cNvSpPr/>
          <p:nvPr/>
        </p:nvSpPr>
        <p:spPr>
          <a:xfrm>
            <a:off x="5029199" y="1234440"/>
            <a:ext cx="2103120" cy="1417320"/>
          </a:xfrm>
          <a:prstGeom prst="roundRect">
            <a:avLst>
              <a:gd name="adj" fmla="val 8000"/>
            </a:avLst>
          </a:prstGeom>
          <a:solidFill>
            <a:srgbClr val="E7EFF8"/>
          </a:solidFill>
          <a:ln w="22225">
            <a:solidFill>
              <a:srgbClr val="1B4F8A"/>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400"/>
              </a:spcAft>
            </a:pPr>
            <a:r>
              <a:rPr sz="1600" b="1" i="0">
                <a:solidFill>
                  <a:srgbClr val="1B4F8A"/>
                </a:solidFill>
                <a:latin typeface="Calibri"/>
              </a:rPr>
              <a:t>3  Challenge</a:t>
            </a:r>
          </a:p>
          <a:p>
            <a:pPr algn="l">
              <a:spcAft>
                <a:spcPts val="400"/>
              </a:spcAft>
            </a:pPr>
            <a:r>
              <a:rPr sz="1300" b="0" i="0">
                <a:solidFill>
                  <a:srgbClr val="14202E"/>
                </a:solidFill>
                <a:latin typeface="Calibri"/>
              </a:rPr>
              <a:t>A random prompt, at a random time.</a:t>
            </a:r>
          </a:p>
        </p:txBody>
      </p:sp>
      <p:cxnSp>
        <p:nvCxnSpPr>
          <p:cNvPr id="8" name="Connector 7"/>
          <p:cNvCxnSpPr/>
          <p:nvPr/>
        </p:nvCxnSpPr>
        <p:spPr>
          <a:xfrm>
            <a:off x="7141463" y="1920240"/>
            <a:ext cx="118873" cy="0"/>
          </a:xfrm>
          <a:prstGeom prst="line">
            <a:avLst/>
          </a:prstGeom>
          <a:ln w="25400">
            <a:solidFill>
              <a:srgbClr val="3B4A5A"/>
            </a:solidFill>
            <a:tailEnd type="triangle"/>
          </a:ln>
        </p:spPr>
        <p:style>
          <a:lnRef idx="2">
            <a:schemeClr val="accent1"/>
          </a:lnRef>
          <a:fillRef idx="0">
            <a:schemeClr val="accent1"/>
          </a:fillRef>
          <a:effectRef idx="1">
            <a:schemeClr val="accent1"/>
          </a:effectRef>
          <a:fontRef idx="minor">
            <a:schemeClr val="tx1"/>
          </a:fontRef>
        </p:style>
      </p:cxnSp>
      <p:sp>
        <p:nvSpPr>
          <p:cNvPr id="9" name="Step Capture"/>
          <p:cNvSpPr/>
          <p:nvPr/>
        </p:nvSpPr>
        <p:spPr>
          <a:xfrm>
            <a:off x="7269479" y="1234440"/>
            <a:ext cx="2103120" cy="1417320"/>
          </a:xfrm>
          <a:prstGeom prst="roundRect">
            <a:avLst>
              <a:gd name="adj" fmla="val 8000"/>
            </a:avLst>
          </a:prstGeom>
          <a:solidFill>
            <a:srgbClr val="E7EFF8"/>
          </a:solidFill>
          <a:ln w="22225">
            <a:solidFill>
              <a:srgbClr val="1B4F8A"/>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400"/>
              </a:spcAft>
            </a:pPr>
            <a:r>
              <a:rPr sz="1600" b="1" i="0">
                <a:solidFill>
                  <a:srgbClr val="1B4F8A"/>
                </a:solidFill>
                <a:latin typeface="Calibri"/>
              </a:rPr>
              <a:t>4  Capture</a:t>
            </a:r>
          </a:p>
          <a:p>
            <a:pPr algn="l">
              <a:spcAft>
                <a:spcPts val="400"/>
              </a:spcAft>
            </a:pPr>
            <a:r>
              <a:rPr sz="1300" b="0" i="0">
                <a:solidFill>
                  <a:srgbClr val="14202E"/>
                </a:solidFill>
                <a:latin typeface="Calibri"/>
              </a:rPr>
              <a:t>The nonce goes to the device as the transaction ID; the device signs it inside the capture.</a:t>
            </a:r>
          </a:p>
        </p:txBody>
      </p:sp>
      <p:cxnSp>
        <p:nvCxnSpPr>
          <p:cNvPr id="10" name="Connector 9"/>
          <p:cNvCxnSpPr/>
          <p:nvPr/>
        </p:nvCxnSpPr>
        <p:spPr>
          <a:xfrm>
            <a:off x="9381744" y="1920240"/>
            <a:ext cx="118872" cy="0"/>
          </a:xfrm>
          <a:prstGeom prst="line">
            <a:avLst/>
          </a:prstGeom>
          <a:ln w="25400">
            <a:solidFill>
              <a:srgbClr val="3B4A5A"/>
            </a:solidFill>
            <a:tailEnd type="triangle"/>
          </a:ln>
        </p:spPr>
        <p:style>
          <a:lnRef idx="2">
            <a:schemeClr val="accent1"/>
          </a:lnRef>
          <a:fillRef idx="0">
            <a:schemeClr val="accent1"/>
          </a:fillRef>
          <a:effectRef idx="1">
            <a:schemeClr val="accent1"/>
          </a:effectRef>
          <a:fontRef idx="minor">
            <a:schemeClr val="tx1"/>
          </a:fontRef>
        </p:style>
      </p:cxnSp>
      <p:sp>
        <p:nvSpPr>
          <p:cNvPr id="11" name="Step Decide"/>
          <p:cNvSpPr/>
          <p:nvPr/>
        </p:nvSpPr>
        <p:spPr>
          <a:xfrm>
            <a:off x="9509759" y="1234440"/>
            <a:ext cx="2103120" cy="1417320"/>
          </a:xfrm>
          <a:prstGeom prst="roundRect">
            <a:avLst>
              <a:gd name="adj" fmla="val 8000"/>
            </a:avLst>
          </a:prstGeom>
          <a:solidFill>
            <a:srgbClr val="E6F4EA"/>
          </a:solidFill>
          <a:ln w="22225">
            <a:solidFill>
              <a:srgbClr val="1B6E3C"/>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400"/>
              </a:spcAft>
            </a:pPr>
            <a:r>
              <a:rPr sz="1600" b="1" i="0">
                <a:solidFill>
                  <a:srgbClr val="1B6E3C"/>
                </a:solidFill>
                <a:latin typeface="Calibri"/>
              </a:rPr>
              <a:t>5  Decide</a:t>
            </a:r>
          </a:p>
          <a:p>
            <a:pPr algn="l">
              <a:spcAft>
                <a:spcPts val="400"/>
              </a:spcAft>
            </a:pPr>
            <a:r>
              <a:rPr sz="1300" b="0" i="0">
                <a:solidFill>
                  <a:srgbClr val="14202E"/>
                </a:solidFill>
                <a:latin typeface="Calibri"/>
              </a:rPr>
              <a:t>Four locks must all hold before anything is accepted.</a:t>
            </a:r>
          </a:p>
        </p:txBody>
      </p:sp>
      <p:sp>
        <p:nvSpPr>
          <p:cNvPr id="12" name="TextBox 11"/>
          <p:cNvSpPr txBox="1"/>
          <p:nvPr/>
        </p:nvSpPr>
        <p:spPr>
          <a:xfrm>
            <a:off x="548640" y="2816352"/>
            <a:ext cx="5486400" cy="274320"/>
          </a:xfrm>
          <a:prstGeom prst="rect">
            <a:avLst/>
          </a:prstGeom>
          <a:noFill/>
        </p:spPr>
        <p:txBody>
          <a:bodyPr wrap="square" anchor="t" lIns="0" rIns="0" tIns="0" bIns="0">
            <a:spAutoFit/>
          </a:bodyPr>
          <a:lstStyle/>
          <a:p>
            <a:pPr algn="l">
              <a:lnSpc>
                <a:spcPct val="105000"/>
              </a:lnSpc>
              <a:spcAft>
                <a:spcPts val="600"/>
              </a:spcAft>
            </a:pPr>
            <a:r>
              <a:rPr sz="1300" b="1" i="0">
                <a:solidFill>
                  <a:srgbClr val="52606D"/>
                </a:solidFill>
                <a:latin typeface="Calibri"/>
              </a:rPr>
              <a:t>THE FOUR LOCKS</a:t>
            </a:r>
          </a:p>
        </p:txBody>
      </p:sp>
      <p:sp>
        <p:nvSpPr>
          <p:cNvPr id="13" name="Lock 1  Nonce"/>
          <p:cNvSpPr/>
          <p:nvPr/>
        </p:nvSpPr>
        <p:spPr>
          <a:xfrm>
            <a:off x="548640" y="3108960"/>
            <a:ext cx="2697480" cy="1828800"/>
          </a:xfrm>
          <a:prstGeom prst="roundRect">
            <a:avLst>
              <a:gd name="adj" fmla="val 8000"/>
            </a:avLst>
          </a:prstGeom>
          <a:solidFill>
            <a:srgbClr val="EEF1F4"/>
          </a:solidFill>
          <a:ln w="19050">
            <a:solidFill>
              <a:srgbClr val="CFD6DD"/>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500"/>
              </a:spcAft>
            </a:pPr>
            <a:r>
              <a:rPr sz="1700" b="1" i="0">
                <a:solidFill>
                  <a:srgbClr val="1B4F8A"/>
                </a:solidFill>
                <a:latin typeface="Calibri"/>
              </a:rPr>
              <a:t>1  Nonce</a:t>
            </a:r>
          </a:p>
          <a:p>
            <a:pPr algn="l">
              <a:spcAft>
                <a:spcPts val="500"/>
              </a:spcAft>
            </a:pPr>
            <a:r>
              <a:rPr sz="1300" b="1" i="0">
                <a:solidFill>
                  <a:srgbClr val="14202E"/>
                </a:solidFill>
                <a:latin typeface="Calibri"/>
              </a:rPr>
              <a:t>Checks: </a:t>
            </a:r>
            <a:r>
              <a:rPr sz="1300" b="0" i="0">
                <a:solidFill>
                  <a:srgbClr val="14202E"/>
                </a:solidFill>
                <a:latin typeface="Calibri"/>
              </a:rPr>
              <a:t>the signed capture echoes this session's nonce</a:t>
            </a:r>
          </a:p>
          <a:p>
            <a:pPr algn="l">
              <a:spcAft>
                <a:spcPts val="500"/>
              </a:spcAft>
            </a:pPr>
            <a:r>
              <a:rPr sz="1300" b="1" i="0">
                <a:solidFill>
                  <a:srgbClr val="8E1220"/>
                </a:solidFill>
                <a:latin typeface="Calibri"/>
              </a:rPr>
              <a:t>Stops: </a:t>
            </a:r>
            <a:r>
              <a:rPr sz="1300" b="0" i="0">
                <a:solidFill>
                  <a:srgbClr val="14202E"/>
                </a:solidFill>
                <a:latin typeface="Calibri"/>
              </a:rPr>
              <a:t>an old or foreign capture replayed</a:t>
            </a:r>
          </a:p>
        </p:txBody>
      </p:sp>
      <p:sp>
        <p:nvSpPr>
          <p:cNvPr id="14" name="Lock 2  Chain"/>
          <p:cNvSpPr/>
          <p:nvPr/>
        </p:nvSpPr>
        <p:spPr>
          <a:xfrm>
            <a:off x="3337560" y="3108960"/>
            <a:ext cx="2697480" cy="1828800"/>
          </a:xfrm>
          <a:prstGeom prst="roundRect">
            <a:avLst>
              <a:gd name="adj" fmla="val 8000"/>
            </a:avLst>
          </a:prstGeom>
          <a:solidFill>
            <a:srgbClr val="EEF1F4"/>
          </a:solidFill>
          <a:ln w="19050">
            <a:solidFill>
              <a:srgbClr val="CFD6DD"/>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500"/>
              </a:spcAft>
            </a:pPr>
            <a:r>
              <a:rPr sz="1700" b="1" i="0">
                <a:solidFill>
                  <a:srgbClr val="1B4F8A"/>
                </a:solidFill>
                <a:latin typeface="Calibri"/>
              </a:rPr>
              <a:t>2  Chain</a:t>
            </a:r>
          </a:p>
          <a:p>
            <a:pPr algn="l">
              <a:spcAft>
                <a:spcPts val="500"/>
              </a:spcAft>
            </a:pPr>
            <a:r>
              <a:rPr sz="1300" b="1" i="0">
                <a:solidFill>
                  <a:srgbClr val="14202E"/>
                </a:solidFill>
                <a:latin typeface="Calibri"/>
              </a:rPr>
              <a:t>Checks: </a:t>
            </a:r>
            <a:r>
              <a:rPr sz="1300" b="0" i="0">
                <a:solidFill>
                  <a:srgbClr val="14202E"/>
                </a:solidFill>
                <a:latin typeface="Calibri"/>
              </a:rPr>
              <a:t>a hash chain over the analysed frames links to the device's capture chain</a:t>
            </a:r>
          </a:p>
          <a:p>
            <a:pPr algn="l">
              <a:spcAft>
                <a:spcPts val="500"/>
              </a:spcAft>
            </a:pPr>
            <a:r>
              <a:rPr sz="1300" b="1" i="0">
                <a:solidFill>
                  <a:srgbClr val="8E1220"/>
                </a:solidFill>
                <a:latin typeface="Calibri"/>
              </a:rPr>
              <a:t>Stops: </a:t>
            </a:r>
            <a:r>
              <a:rPr sz="1300" b="0" i="0">
                <a:solidFill>
                  <a:srgbClr val="14202E"/>
                </a:solidFill>
                <a:latin typeface="Calibri"/>
              </a:rPr>
              <a:t>frames dropped, inserted or reordered</a:t>
            </a:r>
          </a:p>
        </p:txBody>
      </p:sp>
      <p:sp>
        <p:nvSpPr>
          <p:cNvPr id="15" name="Lock 3  Same face"/>
          <p:cNvSpPr/>
          <p:nvPr/>
        </p:nvSpPr>
        <p:spPr>
          <a:xfrm>
            <a:off x="6126480" y="3108960"/>
            <a:ext cx="2697480" cy="1828800"/>
          </a:xfrm>
          <a:prstGeom prst="roundRect">
            <a:avLst>
              <a:gd name="adj" fmla="val 8000"/>
            </a:avLst>
          </a:prstGeom>
          <a:solidFill>
            <a:srgbClr val="FDE8EA"/>
          </a:solidFill>
          <a:ln w="31750">
            <a:solidFill>
              <a:srgbClr val="8E1220"/>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500"/>
              </a:spcAft>
            </a:pPr>
            <a:r>
              <a:rPr sz="1700" b="1" i="0">
                <a:solidFill>
                  <a:srgbClr val="8E1220"/>
                </a:solidFill>
                <a:latin typeface="Calibri"/>
              </a:rPr>
              <a:t>3  Same face</a:t>
            </a:r>
          </a:p>
          <a:p>
            <a:pPr algn="l">
              <a:spcAft>
                <a:spcPts val="500"/>
              </a:spcAft>
            </a:pPr>
            <a:r>
              <a:rPr sz="1300" b="1" i="0">
                <a:solidFill>
                  <a:srgbClr val="14202E"/>
                </a:solidFill>
                <a:latin typeface="Calibri"/>
              </a:rPr>
              <a:t>Checks: </a:t>
            </a:r>
            <a:r>
              <a:rPr sz="1300" b="0" i="0">
                <a:solidFill>
                  <a:srgbClr val="14202E"/>
                </a:solidFill>
                <a:latin typeface="Calibri"/>
              </a:rPr>
              <a:t>the face in the signed capture matches the face tracked in the preview</a:t>
            </a:r>
          </a:p>
          <a:p>
            <a:pPr algn="l">
              <a:spcAft>
                <a:spcPts val="500"/>
              </a:spcAft>
            </a:pPr>
            <a:r>
              <a:rPr sz="1300" b="1" i="0">
                <a:solidFill>
                  <a:srgbClr val="8E1220"/>
                </a:solidFill>
                <a:latin typeface="Calibri"/>
              </a:rPr>
              <a:t>Stops: </a:t>
            </a:r>
            <a:r>
              <a:rPr sz="1300" b="1" i="0">
                <a:solidFill>
                  <a:srgbClr val="14202E"/>
                </a:solidFill>
                <a:latin typeface="Calibri"/>
              </a:rPr>
              <a:t>THE CAPTURE SWAP</a:t>
            </a:r>
          </a:p>
        </p:txBody>
      </p:sp>
      <p:sp>
        <p:nvSpPr>
          <p:cNvPr id="16" name="Lock 4  Time"/>
          <p:cNvSpPr/>
          <p:nvPr/>
        </p:nvSpPr>
        <p:spPr>
          <a:xfrm>
            <a:off x="8915400" y="3108960"/>
            <a:ext cx="2697480" cy="1828800"/>
          </a:xfrm>
          <a:prstGeom prst="roundRect">
            <a:avLst>
              <a:gd name="adj" fmla="val 8000"/>
            </a:avLst>
          </a:prstGeom>
          <a:solidFill>
            <a:srgbClr val="EEF1F4"/>
          </a:solidFill>
          <a:ln w="19050">
            <a:solidFill>
              <a:srgbClr val="CFD6DD"/>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500"/>
              </a:spcAft>
            </a:pPr>
            <a:r>
              <a:rPr sz="1700" b="1" i="0">
                <a:solidFill>
                  <a:srgbClr val="1B4F8A"/>
                </a:solidFill>
                <a:latin typeface="Calibri"/>
              </a:rPr>
              <a:t>4  Time</a:t>
            </a:r>
          </a:p>
          <a:p>
            <a:pPr algn="l">
              <a:spcAft>
                <a:spcPts val="500"/>
              </a:spcAft>
            </a:pPr>
            <a:r>
              <a:rPr sz="1300" b="1" i="0">
                <a:solidFill>
                  <a:srgbClr val="14202E"/>
                </a:solidFill>
                <a:latin typeface="Calibri"/>
              </a:rPr>
              <a:t>Checks: </a:t>
            </a:r>
            <a:r>
              <a:rPr sz="1300" b="0" i="0">
                <a:solidFill>
                  <a:srgbClr val="14202E"/>
                </a:solidFill>
                <a:latin typeface="Calibri"/>
              </a:rPr>
              <a:t>the capture is recent compared with the last verified frame</a:t>
            </a:r>
          </a:p>
          <a:p>
            <a:pPr algn="l">
              <a:spcAft>
                <a:spcPts val="500"/>
              </a:spcAft>
            </a:pPr>
            <a:r>
              <a:rPr sz="1300" b="1" i="0">
                <a:solidFill>
                  <a:srgbClr val="8E1220"/>
                </a:solidFill>
                <a:latin typeface="Calibri"/>
              </a:rPr>
              <a:t>Stops: </a:t>
            </a:r>
            <a:r>
              <a:rPr sz="1300" b="0" i="0">
                <a:solidFill>
                  <a:srgbClr val="14202E"/>
                </a:solidFill>
                <a:latin typeface="Calibri"/>
              </a:rPr>
              <a:t>a capture taken long after the analysis</a:t>
            </a:r>
          </a:p>
        </p:txBody>
      </p:sp>
      <p:sp>
        <p:nvSpPr>
          <p:cNvPr id="17" name="The attack"/>
          <p:cNvSpPr/>
          <p:nvPr/>
        </p:nvSpPr>
        <p:spPr>
          <a:xfrm>
            <a:off x="548640" y="5120640"/>
            <a:ext cx="5715000" cy="1188720"/>
          </a:xfrm>
          <a:prstGeom prst="roundRect">
            <a:avLst>
              <a:gd name="adj" fmla="val 8000"/>
            </a:avLst>
          </a:prstGeom>
          <a:solidFill>
            <a:srgbClr val="FDE8EA"/>
          </a:solidFill>
          <a:ln w="22225">
            <a:solidFill>
              <a:srgbClr val="8E1220"/>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400"/>
              </a:spcAft>
            </a:pPr>
            <a:r>
              <a:rPr sz="1500" b="1" i="0">
                <a:solidFill>
                  <a:srgbClr val="8E1220"/>
                </a:solidFill>
                <a:latin typeface="Calibri"/>
              </a:rPr>
              <a:t>The attack, and what happens</a:t>
            </a:r>
          </a:p>
          <a:p>
            <a:pPr algn="l">
              <a:spcAft>
                <a:spcPts val="400"/>
              </a:spcAft>
            </a:pPr>
            <a:r>
              <a:rPr sz="1300" b="0" i="0">
                <a:solidFill>
                  <a:srgbClr val="14202E"/>
                </a:solidFill>
                <a:latin typeface="Calibri"/>
              </a:rPr>
              <a:t>Pass liveness with face A, then return a signed capture of face B. Lock 3 fails and the session ends with REJECT_BINDING. Each swap is a test: BindingAttacksTest, 8 cases, all passing.</a:t>
            </a:r>
          </a:p>
        </p:txBody>
      </p:sp>
      <p:sp>
        <p:nvSpPr>
          <p:cNvPr id="18" name="Real response"/>
          <p:cNvSpPr/>
          <p:nvPr/>
        </p:nvSpPr>
        <p:spPr>
          <a:xfrm>
            <a:off x="6400800" y="5120640"/>
            <a:ext cx="5212080" cy="1188720"/>
          </a:xfrm>
          <a:prstGeom prst="roundRect">
            <a:avLst>
              <a:gd name="adj" fmla="val 8000"/>
            </a:avLst>
          </a:prstGeom>
          <a:solidFill>
            <a:srgbClr val="F6F8FA"/>
          </a:solidFill>
          <a:ln w="22225">
            <a:solidFill>
              <a:srgbClr val="CFD6DD"/>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300"/>
              </a:spcAft>
            </a:pPr>
            <a:r>
              <a:rPr sz="1200" b="1" i="0">
                <a:solidFill>
                  <a:srgbClr val="3B4A5A"/>
                </a:solidFill>
                <a:latin typeface="Calibri"/>
              </a:rPr>
              <a:t>Real response from the reference device (signed data)</a:t>
            </a:r>
          </a:p>
          <a:p>
            <a:pPr algn="l">
              <a:spcAft>
                <a:spcPts val="300"/>
              </a:spcAft>
            </a:pPr>
            <a:r>
              <a:rPr sz="1100" b="0" i="0">
                <a:solidFill>
                  <a:srgbClr val="14202E"/>
                </a:solidFill>
                <a:latin typeface="Courier New"/>
              </a:rPr>
              <a:t>"transactionId": "0123456789abcdef0123456789abcdef"</a:t>
            </a:r>
          </a:p>
          <a:p>
            <a:pPr algn="l">
              <a:spcAft>
                <a:spcPts val="300"/>
              </a:spcAft>
            </a:pPr>
            <a:r>
              <a:rPr sz="1100" b="0" i="0">
                <a:solidFill>
                  <a:srgbClr val="14202E"/>
                </a:solidFill>
                <a:latin typeface="Courier New"/>
              </a:rPr>
              <a:t>"streamTagHead": "158b9f4cdc6ca35c7d22a3bd7b0535..."</a:t>
            </a:r>
          </a:p>
          <a:p>
            <a:pPr algn="l">
              <a:spcAft>
                <a:spcPts val="300"/>
              </a:spcAft>
            </a:pPr>
            <a:r>
              <a:rPr sz="1200" b="0" i="0">
                <a:solidFill>
                  <a:srgbClr val="14202E"/>
                </a:solidFill>
                <a:latin typeface="Calibri"/>
              </a:rPr>
              <a:t>Locks 1 to 4 need no device change. The optional Liveness Profile adds a signed stream and a burst.</a:t>
            </a:r>
          </a:p>
        </p:txBody>
      </p:sp>
      <p:sp>
        <p:nvSpPr>
          <p:cNvPr id="19" name="Footer"/>
          <p:cNvSpPr txBox="1"/>
          <p:nvPr/>
        </p:nvSpPr>
        <p:spPr>
          <a:xfrm>
            <a:off x="548640" y="6473952"/>
            <a:ext cx="8229600" cy="256032"/>
          </a:xfrm>
          <a:prstGeom prst="rect">
            <a:avLst/>
          </a:prstGeom>
          <a:noFill/>
        </p:spPr>
        <p:txBody>
          <a:bodyPr wrap="square" anchor="t" lIns="0" rIns="0" tIns="0" bIns="0">
            <a:spAutoFit/>
          </a:bodyPr>
          <a:lstStyle/>
          <a:p>
            <a:pPr algn="l">
              <a:lnSpc>
                <a:spcPct val="105000"/>
              </a:lnSpc>
              <a:spcAft>
                <a:spcPts val="600"/>
              </a:spcAft>
            </a:pPr>
            <a:r>
              <a:rPr sz="1200" b="0" i="0">
                <a:solidFill>
                  <a:srgbClr val="52606D"/>
                </a:solidFill>
                <a:latin typeface="Calibri"/>
              </a:rPr>
              <a:t>PRAMAAN  ·  MOSIP Decode 2026  ·  PS04</a:t>
            </a:r>
          </a:p>
        </p:txBody>
      </p:sp>
      <p:sp>
        <p:nvSpPr>
          <p:cNvPr id="20" name="Slide number"/>
          <p:cNvSpPr txBox="1"/>
          <p:nvPr/>
        </p:nvSpPr>
        <p:spPr>
          <a:xfrm>
            <a:off x="10698480" y="6473952"/>
            <a:ext cx="914400" cy="256032"/>
          </a:xfrm>
          <a:prstGeom prst="rect">
            <a:avLst/>
          </a:prstGeom>
          <a:noFill/>
        </p:spPr>
        <p:txBody>
          <a:bodyPr wrap="square" anchor="t" lIns="0" rIns="0" tIns="0" bIns="0">
            <a:spAutoFit/>
          </a:bodyPr>
          <a:lstStyle/>
          <a:p>
            <a:pPr algn="r">
              <a:lnSpc>
                <a:spcPct val="105000"/>
              </a:lnSpc>
              <a:spcAft>
                <a:spcPts val="600"/>
              </a:spcAft>
            </a:pPr>
            <a:r>
              <a:rPr sz="1200" b="0" i="0">
                <a:solidFill>
                  <a:srgbClr val="52606D"/>
                </a:solidFill>
                <a:latin typeface="Calibri"/>
              </a:rPr>
              <a:t>5 / 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47472"/>
            <a:ext cx="11064240" cy="685800"/>
          </a:xfrm>
          <a:prstGeom prst="rect">
            <a:avLst/>
          </a:prstGeom>
          <a:noFill/>
        </p:spPr>
        <p:txBody>
          <a:bodyPr wrap="square" anchor="t" lIns="0" rIns="0" tIns="0" bIns="0">
            <a:spAutoFit/>
          </a:bodyPr>
          <a:lstStyle/>
          <a:p>
            <a:pPr algn="l">
              <a:lnSpc>
                <a:spcPct val="105000"/>
              </a:lnSpc>
              <a:spcAft>
                <a:spcPts val="600"/>
              </a:spcAft>
            </a:pPr>
            <a:r>
              <a:rPr sz="3600" b="1" i="0">
                <a:solidFill>
                  <a:srgbClr val="1B4F8A"/>
                </a:solidFill>
                <a:latin typeface="Calibri"/>
              </a:rPr>
              <a:t>Ideas 2 to 4: cues, challenge and evidence</a:t>
            </a:r>
          </a:p>
        </p:txBody>
      </p:sp>
      <p:sp>
        <p:nvSpPr>
          <p:cNvPr id="3" name="Idea 3"/>
          <p:cNvSpPr/>
          <p:nvPr/>
        </p:nvSpPr>
        <p:spPr>
          <a:xfrm>
            <a:off x="548640" y="1280160"/>
            <a:ext cx="329184" cy="329184"/>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14202E"/>
                </a:solidFill>
                <a:latin typeface="Calibri"/>
              </a:rPr>
              <a:t>3</a:t>
            </a:r>
          </a:p>
        </p:txBody>
      </p:sp>
      <p:sp>
        <p:nvSpPr>
          <p:cNvPr id="4" name="TextBox 3"/>
          <p:cNvSpPr txBox="1"/>
          <p:nvPr/>
        </p:nvSpPr>
        <p:spPr>
          <a:xfrm>
            <a:off x="960120" y="1280160"/>
            <a:ext cx="4297680" cy="329184"/>
          </a:xfrm>
          <a:prstGeom prst="rect">
            <a:avLst/>
          </a:prstGeom>
          <a:noFill/>
        </p:spPr>
        <p:txBody>
          <a:bodyPr wrap="square" anchor="ctr" lIns="0" rIns="0" tIns="0" bIns="0">
            <a:spAutoFit/>
          </a:bodyPr>
          <a:lstStyle/>
          <a:p>
            <a:pPr algn="l">
              <a:lnSpc>
                <a:spcPct val="105000"/>
              </a:lnSpc>
              <a:spcAft>
                <a:spcPts val="600"/>
              </a:spcAft>
            </a:pPr>
            <a:r>
              <a:rPr sz="1800" b="1" i="0">
                <a:solidFill>
                  <a:srgbClr val="1B4F8A"/>
                </a:solidFill>
                <a:latin typeface="Calibri"/>
              </a:rPr>
              <a:t>Cues that fail differently</a:t>
            </a:r>
          </a:p>
        </p:txBody>
      </p:sp>
      <p:sp>
        <p:nvSpPr>
          <p:cNvPr id="5" name="TextBox 4"/>
          <p:cNvSpPr txBox="1"/>
          <p:nvPr/>
        </p:nvSpPr>
        <p:spPr>
          <a:xfrm>
            <a:off x="548640" y="1737360"/>
            <a:ext cx="1371600" cy="228600"/>
          </a:xfrm>
          <a:prstGeom prst="rect">
            <a:avLst/>
          </a:prstGeom>
          <a:noFill/>
        </p:spPr>
        <p:txBody>
          <a:bodyPr wrap="square" anchor="t" lIns="0" rIns="0" tIns="0" bIns="0">
            <a:spAutoFit/>
          </a:bodyPr>
          <a:lstStyle/>
          <a:p>
            <a:pPr algn="l">
              <a:lnSpc>
                <a:spcPct val="105000"/>
              </a:lnSpc>
              <a:spcAft>
                <a:spcPts val="600"/>
              </a:spcAft>
            </a:pPr>
            <a:r>
              <a:rPr sz="1100" b="1" i="0">
                <a:solidFill>
                  <a:srgbClr val="52606D"/>
                </a:solidFill>
                <a:latin typeface="Calibri"/>
              </a:rPr>
              <a:t>CUE</a:t>
            </a:r>
          </a:p>
        </p:txBody>
      </p:sp>
      <p:sp>
        <p:nvSpPr>
          <p:cNvPr id="6" name="TextBox 5"/>
          <p:cNvSpPr txBox="1"/>
          <p:nvPr/>
        </p:nvSpPr>
        <p:spPr>
          <a:xfrm>
            <a:off x="2011680" y="1737360"/>
            <a:ext cx="1463040" cy="228600"/>
          </a:xfrm>
          <a:prstGeom prst="rect">
            <a:avLst/>
          </a:prstGeom>
          <a:noFill/>
        </p:spPr>
        <p:txBody>
          <a:bodyPr wrap="square" anchor="t" lIns="0" rIns="0" tIns="0" bIns="0">
            <a:spAutoFit/>
          </a:bodyPr>
          <a:lstStyle/>
          <a:p>
            <a:pPr algn="l">
              <a:lnSpc>
                <a:spcPct val="105000"/>
              </a:lnSpc>
              <a:spcAft>
                <a:spcPts val="600"/>
              </a:spcAft>
            </a:pPr>
            <a:r>
              <a:rPr sz="1100" b="1" i="0">
                <a:solidFill>
                  <a:srgbClr val="1B6E3C"/>
                </a:solidFill>
                <a:latin typeface="Calibri"/>
              </a:rPr>
              <a:t>CATCHES</a:t>
            </a:r>
          </a:p>
        </p:txBody>
      </p:sp>
      <p:sp>
        <p:nvSpPr>
          <p:cNvPr id="7" name="TextBox 6"/>
          <p:cNvSpPr txBox="1"/>
          <p:nvPr/>
        </p:nvSpPr>
        <p:spPr>
          <a:xfrm>
            <a:off x="3611880" y="1737360"/>
            <a:ext cx="1645920" cy="228600"/>
          </a:xfrm>
          <a:prstGeom prst="rect">
            <a:avLst/>
          </a:prstGeom>
          <a:noFill/>
        </p:spPr>
        <p:txBody>
          <a:bodyPr wrap="square" anchor="t" lIns="0" rIns="0" tIns="0" bIns="0">
            <a:spAutoFit/>
          </a:bodyPr>
          <a:lstStyle/>
          <a:p>
            <a:pPr algn="l">
              <a:lnSpc>
                <a:spcPct val="105000"/>
              </a:lnSpc>
              <a:spcAft>
                <a:spcPts val="600"/>
              </a:spcAft>
            </a:pPr>
            <a:r>
              <a:rPr sz="1100" b="1" i="0">
                <a:solidFill>
                  <a:srgbClr val="8E1220"/>
                </a:solidFill>
                <a:latin typeface="Calibri"/>
              </a:rPr>
              <a:t>BLIND TO</a:t>
            </a:r>
          </a:p>
        </p:txBody>
      </p:sp>
      <p:sp>
        <p:nvSpPr>
          <p:cNvPr id="8" name="Cue Passive model"/>
          <p:cNvSpPr/>
          <p:nvPr/>
        </p:nvSpPr>
        <p:spPr>
          <a:xfrm>
            <a:off x="548640" y="1984248"/>
            <a:ext cx="1417320" cy="566928"/>
          </a:xfrm>
          <a:prstGeom prst="roundRect">
            <a:avLst>
              <a:gd name="adj" fmla="val 8000"/>
            </a:avLst>
          </a:prstGeom>
          <a:solidFill>
            <a:srgbClr val="E7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l">
              <a:spcAft>
                <a:spcPts val="300"/>
              </a:spcAft>
            </a:pPr>
            <a:r>
              <a:rPr sz="1200" b="1" i="0">
                <a:solidFill>
                  <a:srgbClr val="173F70"/>
                </a:solidFill>
                <a:latin typeface="Calibri"/>
              </a:rPr>
              <a:t>Passive model</a:t>
            </a:r>
          </a:p>
        </p:txBody>
      </p:sp>
      <p:sp>
        <p:nvSpPr>
          <p:cNvPr id="9" name="Catches Passive model"/>
          <p:cNvSpPr/>
          <p:nvPr/>
        </p:nvSpPr>
        <p:spPr>
          <a:xfrm>
            <a:off x="2011680" y="1984248"/>
            <a:ext cx="1554480" cy="566928"/>
          </a:xfrm>
          <a:prstGeom prst="roundRect">
            <a:avLst>
              <a:gd name="adj" fmla="val 8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l">
              <a:spcAft>
                <a:spcPts val="300"/>
              </a:spcAft>
            </a:pPr>
            <a:r>
              <a:rPr sz="1200" b="0" i="0">
                <a:solidFill>
                  <a:srgbClr val="14202E"/>
                </a:solidFill>
                <a:latin typeface="Calibri"/>
              </a:rPr>
              <a:t>print, screen</a:t>
            </a:r>
          </a:p>
        </p:txBody>
      </p:sp>
      <p:sp>
        <p:nvSpPr>
          <p:cNvPr id="10" name="Blind Passive model"/>
          <p:cNvSpPr/>
          <p:nvPr/>
        </p:nvSpPr>
        <p:spPr>
          <a:xfrm>
            <a:off x="3611880" y="1984248"/>
            <a:ext cx="1783080" cy="566928"/>
          </a:xfrm>
          <a:prstGeom prst="roundRect">
            <a:avLst>
              <a:gd name="adj" fmla="val 8000"/>
            </a:avLst>
          </a:prstGeom>
          <a:solidFill>
            <a:srgbClr val="FD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l">
              <a:spcAft>
                <a:spcPts val="300"/>
              </a:spcAft>
            </a:pPr>
            <a:r>
              <a:rPr sz="1200" b="0" i="0">
                <a:solidFill>
                  <a:srgbClr val="14202E"/>
                </a:solidFill>
                <a:latin typeface="Calibri"/>
              </a:rPr>
              <a:t>what it was not trained on</a:t>
            </a:r>
          </a:p>
        </p:txBody>
      </p:sp>
      <p:sp>
        <p:nvSpPr>
          <p:cNvPr id="11" name="Cue Moiré"/>
          <p:cNvSpPr/>
          <p:nvPr/>
        </p:nvSpPr>
        <p:spPr>
          <a:xfrm>
            <a:off x="548640" y="2606039"/>
            <a:ext cx="1417320" cy="566928"/>
          </a:xfrm>
          <a:prstGeom prst="roundRect">
            <a:avLst>
              <a:gd name="adj" fmla="val 8000"/>
            </a:avLst>
          </a:prstGeom>
          <a:solidFill>
            <a:srgbClr val="E7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l">
              <a:spcAft>
                <a:spcPts val="300"/>
              </a:spcAft>
            </a:pPr>
            <a:r>
              <a:rPr sz="1200" b="1" i="0">
                <a:solidFill>
                  <a:srgbClr val="173F70"/>
                </a:solidFill>
                <a:latin typeface="Calibri"/>
              </a:rPr>
              <a:t>Moiré</a:t>
            </a:r>
          </a:p>
        </p:txBody>
      </p:sp>
      <p:sp>
        <p:nvSpPr>
          <p:cNvPr id="12" name="Catches Moiré"/>
          <p:cNvSpPr/>
          <p:nvPr/>
        </p:nvSpPr>
        <p:spPr>
          <a:xfrm>
            <a:off x="2011680" y="2606039"/>
            <a:ext cx="1554480" cy="566928"/>
          </a:xfrm>
          <a:prstGeom prst="roundRect">
            <a:avLst>
              <a:gd name="adj" fmla="val 8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l">
              <a:spcAft>
                <a:spcPts val="300"/>
              </a:spcAft>
            </a:pPr>
            <a:r>
              <a:rPr sz="1200" b="0" i="0">
                <a:solidFill>
                  <a:srgbClr val="14202E"/>
                </a:solidFill>
                <a:latin typeface="Calibri"/>
              </a:rPr>
              <a:t>screen recapture</a:t>
            </a:r>
          </a:p>
        </p:txBody>
      </p:sp>
      <p:sp>
        <p:nvSpPr>
          <p:cNvPr id="13" name="Blind Moiré"/>
          <p:cNvSpPr/>
          <p:nvPr/>
        </p:nvSpPr>
        <p:spPr>
          <a:xfrm>
            <a:off x="3611880" y="2606039"/>
            <a:ext cx="1783080" cy="566928"/>
          </a:xfrm>
          <a:prstGeom prst="roundRect">
            <a:avLst>
              <a:gd name="adj" fmla="val 8000"/>
            </a:avLst>
          </a:prstGeom>
          <a:solidFill>
            <a:srgbClr val="FD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l">
              <a:spcAft>
                <a:spcPts val="300"/>
              </a:spcAft>
            </a:pPr>
            <a:r>
              <a:rPr sz="1200" b="0" i="0">
                <a:solidFill>
                  <a:srgbClr val="14202E"/>
                </a:solidFill>
                <a:latin typeface="Calibri"/>
              </a:rPr>
              <a:t>some display pitches (we found them)</a:t>
            </a:r>
          </a:p>
        </p:txBody>
      </p:sp>
      <p:sp>
        <p:nvSpPr>
          <p:cNvPr id="14" name="Cue Flash reflection"/>
          <p:cNvSpPr/>
          <p:nvPr/>
        </p:nvSpPr>
        <p:spPr>
          <a:xfrm>
            <a:off x="548640" y="3227832"/>
            <a:ext cx="1417320" cy="566928"/>
          </a:xfrm>
          <a:prstGeom prst="roundRect">
            <a:avLst>
              <a:gd name="adj" fmla="val 8000"/>
            </a:avLst>
          </a:prstGeom>
          <a:solidFill>
            <a:srgbClr val="E7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l">
              <a:spcAft>
                <a:spcPts val="300"/>
              </a:spcAft>
            </a:pPr>
            <a:r>
              <a:rPr sz="1200" b="1" i="0">
                <a:solidFill>
                  <a:srgbClr val="173F70"/>
                </a:solidFill>
                <a:latin typeface="Calibri"/>
              </a:rPr>
              <a:t>Flash reflection</a:t>
            </a:r>
          </a:p>
        </p:txBody>
      </p:sp>
      <p:sp>
        <p:nvSpPr>
          <p:cNvPr id="15" name="Catches Flash reflection"/>
          <p:cNvSpPr/>
          <p:nvPr/>
        </p:nvSpPr>
        <p:spPr>
          <a:xfrm>
            <a:off x="2011680" y="3227832"/>
            <a:ext cx="1554480" cy="566928"/>
          </a:xfrm>
          <a:prstGeom prst="roundRect">
            <a:avLst>
              <a:gd name="adj" fmla="val 8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l">
              <a:spcAft>
                <a:spcPts val="300"/>
              </a:spcAft>
            </a:pPr>
            <a:r>
              <a:rPr sz="1200" b="0" i="0">
                <a:solidFill>
                  <a:srgbClr val="14202E"/>
                </a:solidFill>
                <a:latin typeface="Calibri"/>
              </a:rPr>
              <a:t>replay, injection</a:t>
            </a:r>
          </a:p>
        </p:txBody>
      </p:sp>
      <p:sp>
        <p:nvSpPr>
          <p:cNvPr id="16" name="Blind Flash reflection"/>
          <p:cNvSpPr/>
          <p:nvPr/>
        </p:nvSpPr>
        <p:spPr>
          <a:xfrm>
            <a:off x="3611880" y="3227832"/>
            <a:ext cx="1783080" cy="566928"/>
          </a:xfrm>
          <a:prstGeom prst="roundRect">
            <a:avLst>
              <a:gd name="adj" fmla="val 8000"/>
            </a:avLst>
          </a:prstGeom>
          <a:solidFill>
            <a:srgbClr val="FD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l">
              <a:spcAft>
                <a:spcPts val="300"/>
              </a:spcAft>
            </a:pPr>
            <a:r>
              <a:rPr sz="1200" b="0" i="0">
                <a:solidFill>
                  <a:srgbClr val="14202E"/>
                </a:solidFill>
                <a:latin typeface="Calibri"/>
              </a:rPr>
              <a:t>a projected mask; needs a light</a:t>
            </a:r>
          </a:p>
        </p:txBody>
      </p:sp>
      <p:sp>
        <p:nvSpPr>
          <p:cNvPr id="17" name="Cue Scene + light"/>
          <p:cNvSpPr/>
          <p:nvPr/>
        </p:nvSpPr>
        <p:spPr>
          <a:xfrm>
            <a:off x="548640" y="3849624"/>
            <a:ext cx="1417320" cy="566928"/>
          </a:xfrm>
          <a:prstGeom prst="roundRect">
            <a:avLst>
              <a:gd name="adj" fmla="val 8000"/>
            </a:avLst>
          </a:prstGeom>
          <a:solidFill>
            <a:srgbClr val="E7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l">
              <a:spcAft>
                <a:spcPts val="300"/>
              </a:spcAft>
            </a:pPr>
            <a:r>
              <a:rPr sz="1200" b="1" i="0">
                <a:solidFill>
                  <a:srgbClr val="173F70"/>
                </a:solidFill>
                <a:latin typeface="Calibri"/>
              </a:rPr>
              <a:t>Scene + light</a:t>
            </a:r>
          </a:p>
        </p:txBody>
      </p:sp>
      <p:sp>
        <p:nvSpPr>
          <p:cNvPr id="18" name="Catches Scene + light"/>
          <p:cNvSpPr/>
          <p:nvPr/>
        </p:nvSpPr>
        <p:spPr>
          <a:xfrm>
            <a:off x="2011680" y="3849624"/>
            <a:ext cx="1554480" cy="566928"/>
          </a:xfrm>
          <a:prstGeom prst="roundRect">
            <a:avLst>
              <a:gd name="adj" fmla="val 8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l">
              <a:spcAft>
                <a:spcPts val="300"/>
              </a:spcAft>
            </a:pPr>
            <a:r>
              <a:rPr sz="1200" b="0" i="0">
                <a:solidFill>
                  <a:srgbClr val="14202E"/>
                </a:solidFill>
                <a:latin typeface="Calibri"/>
              </a:rPr>
              <a:t>the wrong room</a:t>
            </a:r>
          </a:p>
        </p:txBody>
      </p:sp>
      <p:sp>
        <p:nvSpPr>
          <p:cNvPr id="19" name="Blind Scene + light"/>
          <p:cNvSpPr/>
          <p:nvPr/>
        </p:nvSpPr>
        <p:spPr>
          <a:xfrm>
            <a:off x="3611880" y="3849624"/>
            <a:ext cx="1783080" cy="566928"/>
          </a:xfrm>
          <a:prstGeom prst="roundRect">
            <a:avLst>
              <a:gd name="adj" fmla="val 8000"/>
            </a:avLst>
          </a:prstGeom>
          <a:solidFill>
            <a:srgbClr val="FD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l">
              <a:spcAft>
                <a:spcPts val="300"/>
              </a:spcAft>
            </a:pPr>
            <a:r>
              <a:rPr sz="1200" b="0" i="0">
                <a:solidFill>
                  <a:srgbClr val="14202E"/>
                </a:solidFill>
                <a:latin typeface="Calibri"/>
              </a:rPr>
              <a:t>a replay of the right room</a:t>
            </a:r>
          </a:p>
        </p:txBody>
      </p:sp>
      <p:sp>
        <p:nvSpPr>
          <p:cNvPr id="20" name="Cue Stereo depth"/>
          <p:cNvSpPr/>
          <p:nvPr/>
        </p:nvSpPr>
        <p:spPr>
          <a:xfrm>
            <a:off x="548640" y="4471416"/>
            <a:ext cx="1417320" cy="566928"/>
          </a:xfrm>
          <a:prstGeom prst="roundRect">
            <a:avLst>
              <a:gd name="adj" fmla="val 8000"/>
            </a:avLst>
          </a:prstGeom>
          <a:solidFill>
            <a:srgbClr val="E7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l">
              <a:spcAft>
                <a:spcPts val="300"/>
              </a:spcAft>
            </a:pPr>
            <a:r>
              <a:rPr sz="1200" b="1" i="0">
                <a:solidFill>
                  <a:srgbClr val="173F70"/>
                </a:solidFill>
                <a:latin typeface="Calibri"/>
              </a:rPr>
              <a:t>Stereo depth</a:t>
            </a:r>
          </a:p>
        </p:txBody>
      </p:sp>
      <p:sp>
        <p:nvSpPr>
          <p:cNvPr id="21" name="Catches Stereo depth"/>
          <p:cNvSpPr/>
          <p:nvPr/>
        </p:nvSpPr>
        <p:spPr>
          <a:xfrm>
            <a:off x="2011680" y="4471416"/>
            <a:ext cx="1554480" cy="566928"/>
          </a:xfrm>
          <a:prstGeom prst="roundRect">
            <a:avLst>
              <a:gd name="adj" fmla="val 8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l">
              <a:spcAft>
                <a:spcPts val="300"/>
              </a:spcAft>
            </a:pPr>
            <a:r>
              <a:rPr sz="1200" b="0" i="0">
                <a:solidFill>
                  <a:srgbClr val="14202E"/>
                </a:solidFill>
                <a:latin typeface="Calibri"/>
              </a:rPr>
              <a:t>flat things</a:t>
            </a:r>
          </a:p>
        </p:txBody>
      </p:sp>
      <p:sp>
        <p:nvSpPr>
          <p:cNvPr id="22" name="Blind Stereo depth"/>
          <p:cNvSpPr/>
          <p:nvPr/>
        </p:nvSpPr>
        <p:spPr>
          <a:xfrm>
            <a:off x="3611880" y="4471416"/>
            <a:ext cx="1783080" cy="566928"/>
          </a:xfrm>
          <a:prstGeom prst="roundRect">
            <a:avLst>
              <a:gd name="adj" fmla="val 8000"/>
            </a:avLst>
          </a:prstGeom>
          <a:solidFill>
            <a:srgbClr val="FD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l">
              <a:spcAft>
                <a:spcPts val="300"/>
              </a:spcAft>
            </a:pPr>
            <a:r>
              <a:rPr sz="1200" b="0" i="0">
                <a:solidFill>
                  <a:srgbClr val="14202E"/>
                </a:solidFill>
                <a:latin typeface="Calibri"/>
              </a:rPr>
              <a:t>needs a second camera</a:t>
            </a:r>
          </a:p>
        </p:txBody>
      </p:sp>
      <p:sp>
        <p:nvSpPr>
          <p:cNvPr id="23" name="Cue Stream fingerprint"/>
          <p:cNvSpPr/>
          <p:nvPr/>
        </p:nvSpPr>
        <p:spPr>
          <a:xfrm>
            <a:off x="548640" y="5093207"/>
            <a:ext cx="1417320" cy="566928"/>
          </a:xfrm>
          <a:prstGeom prst="roundRect">
            <a:avLst>
              <a:gd name="adj" fmla="val 8000"/>
            </a:avLst>
          </a:prstGeom>
          <a:solidFill>
            <a:srgbClr val="E7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l">
              <a:spcAft>
                <a:spcPts val="300"/>
              </a:spcAft>
            </a:pPr>
            <a:r>
              <a:rPr sz="1200" b="1" i="0">
                <a:solidFill>
                  <a:srgbClr val="173F70"/>
                </a:solidFill>
                <a:latin typeface="Calibri"/>
              </a:rPr>
              <a:t>Stream fingerprint</a:t>
            </a:r>
          </a:p>
        </p:txBody>
      </p:sp>
      <p:sp>
        <p:nvSpPr>
          <p:cNvPr id="24" name="Catches Stream fingerprint"/>
          <p:cNvSpPr/>
          <p:nvPr/>
        </p:nvSpPr>
        <p:spPr>
          <a:xfrm>
            <a:off x="2011680" y="5093207"/>
            <a:ext cx="1554480" cy="566928"/>
          </a:xfrm>
          <a:prstGeom prst="roundRect">
            <a:avLst>
              <a:gd name="adj" fmla="val 8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l">
              <a:spcAft>
                <a:spcPts val="300"/>
              </a:spcAft>
            </a:pPr>
            <a:r>
              <a:rPr sz="1200" b="0" i="0">
                <a:solidFill>
                  <a:srgbClr val="14202E"/>
                </a:solidFill>
                <a:latin typeface="Calibri"/>
              </a:rPr>
              <a:t>a re-encoding virtual camera</a:t>
            </a:r>
          </a:p>
        </p:txBody>
      </p:sp>
      <p:sp>
        <p:nvSpPr>
          <p:cNvPr id="25" name="Blind Stream fingerprint"/>
          <p:cNvSpPr/>
          <p:nvPr/>
        </p:nvSpPr>
        <p:spPr>
          <a:xfrm>
            <a:off x="3611880" y="5093207"/>
            <a:ext cx="1783080" cy="566928"/>
          </a:xfrm>
          <a:prstGeom prst="roundRect">
            <a:avLst>
              <a:gd name="adj" fmla="val 8000"/>
            </a:avLst>
          </a:prstGeom>
          <a:solidFill>
            <a:srgbClr val="FD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l">
              <a:spcAft>
                <a:spcPts val="300"/>
              </a:spcAft>
            </a:pPr>
            <a:r>
              <a:rPr sz="1200" b="0" i="0">
                <a:solidFill>
                  <a:srgbClr val="14202E"/>
                </a:solidFill>
                <a:latin typeface="Calibri"/>
              </a:rPr>
              <a:t>one that copies the encoder</a:t>
            </a:r>
          </a:p>
        </p:txBody>
      </p:sp>
      <p:sp>
        <p:nvSpPr>
          <p:cNvPr id="26" name="TextBox 25"/>
          <p:cNvSpPr txBox="1"/>
          <p:nvPr/>
        </p:nvSpPr>
        <p:spPr>
          <a:xfrm>
            <a:off x="548640" y="5715000"/>
            <a:ext cx="4846320" cy="640080"/>
          </a:xfrm>
          <a:prstGeom prst="rect">
            <a:avLst/>
          </a:prstGeom>
          <a:noFill/>
        </p:spPr>
        <p:txBody>
          <a:bodyPr wrap="square" anchor="t" lIns="0" rIns="0" tIns="0" bIns="0">
            <a:spAutoFit/>
          </a:bodyPr>
          <a:lstStyle/>
          <a:p>
            <a:pPr algn="l">
              <a:lnSpc>
                <a:spcPct val="105000"/>
              </a:lnSpc>
              <a:spcAft>
                <a:spcPts val="600"/>
              </a:spcAft>
            </a:pPr>
            <a:r>
              <a:rPr sz="1300" b="1" i="0">
                <a:solidFill>
                  <a:srgbClr val="14202E"/>
                </a:solidFill>
                <a:latin typeface="Calibri"/>
              </a:rPr>
              <a:t>Every cue has a hole; the holes should not overlap. </a:t>
            </a:r>
            <a:r>
              <a:rPr sz="1300" b="0" i="0">
                <a:solidFill>
                  <a:srgbClr val="14202E"/>
                </a:solidFill>
                <a:latin typeface="Calibri"/>
              </a:rPr>
              <a:t>A cue that cannot run abstains. It is never a failure.</a:t>
            </a:r>
          </a:p>
        </p:txBody>
      </p:sp>
      <p:sp>
        <p:nvSpPr>
          <p:cNvPr id="27" name="Idea 4"/>
          <p:cNvSpPr/>
          <p:nvPr/>
        </p:nvSpPr>
        <p:spPr>
          <a:xfrm>
            <a:off x="5669280" y="1280160"/>
            <a:ext cx="329184" cy="329184"/>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14202E"/>
                </a:solidFill>
                <a:latin typeface="Calibri"/>
              </a:rPr>
              <a:t>4</a:t>
            </a:r>
          </a:p>
        </p:txBody>
      </p:sp>
      <p:sp>
        <p:nvSpPr>
          <p:cNvPr id="28" name="TextBox 27"/>
          <p:cNvSpPr txBox="1"/>
          <p:nvPr/>
        </p:nvSpPr>
        <p:spPr>
          <a:xfrm>
            <a:off x="6080760" y="1280160"/>
            <a:ext cx="2834640" cy="329184"/>
          </a:xfrm>
          <a:prstGeom prst="rect">
            <a:avLst/>
          </a:prstGeom>
          <a:noFill/>
        </p:spPr>
        <p:txBody>
          <a:bodyPr wrap="square" anchor="ctr" lIns="0" rIns="0" tIns="0" bIns="0">
            <a:spAutoFit/>
          </a:bodyPr>
          <a:lstStyle/>
          <a:p>
            <a:pPr algn="l">
              <a:lnSpc>
                <a:spcPct val="105000"/>
              </a:lnSpc>
              <a:spcAft>
                <a:spcPts val="600"/>
              </a:spcAft>
            </a:pPr>
            <a:r>
              <a:rPr sz="1800" b="1" i="0">
                <a:solidFill>
                  <a:srgbClr val="1B4F8A"/>
                </a:solidFill>
                <a:latin typeface="Calibri"/>
              </a:rPr>
              <a:t>A random challenge</a:t>
            </a:r>
          </a:p>
        </p:txBody>
      </p:sp>
      <p:sp>
        <p:nvSpPr>
          <p:cNvPr id="29" name="TextBox 28"/>
          <p:cNvSpPr txBox="1"/>
          <p:nvPr/>
        </p:nvSpPr>
        <p:spPr>
          <a:xfrm>
            <a:off x="5669280" y="1783080"/>
            <a:ext cx="3291840" cy="457200"/>
          </a:xfrm>
          <a:prstGeom prst="rect">
            <a:avLst/>
          </a:prstGeom>
          <a:noFill/>
        </p:spPr>
        <p:txBody>
          <a:bodyPr wrap="square" anchor="t" lIns="0" rIns="0" tIns="0" bIns="0">
            <a:spAutoFit/>
          </a:bodyPr>
          <a:lstStyle/>
          <a:p>
            <a:pPr algn="l">
              <a:lnSpc>
                <a:spcPct val="105000"/>
              </a:lnSpc>
              <a:spcAft>
                <a:spcPts val="600"/>
              </a:spcAft>
            </a:pPr>
            <a:r>
              <a:rPr sz="1200" b="0" i="0">
                <a:solidFill>
                  <a:srgbClr val="3B4A5A"/>
                </a:solidFill>
                <a:latin typeface="Calibri"/>
              </a:rPr>
              <a:t>The screen flashes a random colour code; a live face reflects it. Example (random every session):</a:t>
            </a:r>
          </a:p>
        </p:txBody>
      </p:sp>
      <p:sp>
        <p:nvSpPr>
          <p:cNvPr id="30" name="Flash step 1 GREEN"/>
          <p:cNvSpPr/>
          <p:nvPr/>
        </p:nvSpPr>
        <p:spPr>
          <a:xfrm>
            <a:off x="5669280" y="2377440"/>
            <a:ext cx="365760" cy="365760"/>
          </a:xfrm>
          <a:prstGeom prst="rect">
            <a:avLst/>
          </a:prstGeom>
          <a:solidFill>
            <a:srgbClr val="33FF33"/>
          </a:solidFill>
          <a:ln w="9525">
            <a:solidFill>
              <a:srgbClr val="52606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31" name="Flash step 2 BLUE"/>
          <p:cNvSpPr/>
          <p:nvPr/>
        </p:nvSpPr>
        <p:spPr>
          <a:xfrm>
            <a:off x="6053328" y="2377440"/>
            <a:ext cx="365760" cy="365760"/>
          </a:xfrm>
          <a:prstGeom prst="rect">
            <a:avLst/>
          </a:prstGeom>
          <a:solidFill>
            <a:srgbClr val="334DFF"/>
          </a:solidFill>
          <a:ln w="9525">
            <a:solidFill>
              <a:srgbClr val="52606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32" name="Flash step 3 WHITE"/>
          <p:cNvSpPr/>
          <p:nvPr/>
        </p:nvSpPr>
        <p:spPr>
          <a:xfrm>
            <a:off x="6437376" y="2377440"/>
            <a:ext cx="365760" cy="365760"/>
          </a:xfrm>
          <a:prstGeom prst="rect">
            <a:avLst/>
          </a:prstGeom>
          <a:solidFill>
            <a:srgbClr val="FFFFFF"/>
          </a:solidFill>
          <a:ln w="9525">
            <a:solidFill>
              <a:srgbClr val="52606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33" name="Flash step 4 YELLOW"/>
          <p:cNvSpPr/>
          <p:nvPr/>
        </p:nvSpPr>
        <p:spPr>
          <a:xfrm>
            <a:off x="6821424" y="2377440"/>
            <a:ext cx="365760" cy="365760"/>
          </a:xfrm>
          <a:prstGeom prst="rect">
            <a:avLst/>
          </a:prstGeom>
          <a:solidFill>
            <a:srgbClr val="FFE933"/>
          </a:solidFill>
          <a:ln w="9525">
            <a:solidFill>
              <a:srgbClr val="52606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34" name="Flash step 5 CYAN"/>
          <p:cNvSpPr/>
          <p:nvPr/>
        </p:nvSpPr>
        <p:spPr>
          <a:xfrm>
            <a:off x="7205472" y="2377440"/>
            <a:ext cx="365760" cy="365760"/>
          </a:xfrm>
          <a:prstGeom prst="rect">
            <a:avLst/>
          </a:prstGeom>
          <a:solidFill>
            <a:srgbClr val="33FFFF"/>
          </a:solidFill>
          <a:ln w="9525">
            <a:solidFill>
              <a:srgbClr val="52606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35" name="Flash step 6 BLUE"/>
          <p:cNvSpPr/>
          <p:nvPr/>
        </p:nvSpPr>
        <p:spPr>
          <a:xfrm>
            <a:off x="7589520" y="2377440"/>
            <a:ext cx="365760" cy="365760"/>
          </a:xfrm>
          <a:prstGeom prst="rect">
            <a:avLst/>
          </a:prstGeom>
          <a:solidFill>
            <a:srgbClr val="334DFF"/>
          </a:solidFill>
          <a:ln w="9525">
            <a:solidFill>
              <a:srgbClr val="52606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36" name="Flash step 7 MAGENTA"/>
          <p:cNvSpPr/>
          <p:nvPr/>
        </p:nvSpPr>
        <p:spPr>
          <a:xfrm>
            <a:off x="7973568" y="2377440"/>
            <a:ext cx="365760" cy="365760"/>
          </a:xfrm>
          <a:prstGeom prst="rect">
            <a:avLst/>
          </a:prstGeom>
          <a:solidFill>
            <a:srgbClr val="FF4DFF"/>
          </a:solidFill>
          <a:ln w="9525">
            <a:solidFill>
              <a:srgbClr val="52606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37" name="Flash step 8 GREEN"/>
          <p:cNvSpPr/>
          <p:nvPr/>
        </p:nvSpPr>
        <p:spPr>
          <a:xfrm>
            <a:off x="8357616" y="2377440"/>
            <a:ext cx="365760" cy="365760"/>
          </a:xfrm>
          <a:prstGeom prst="rect">
            <a:avLst/>
          </a:prstGeom>
          <a:solidFill>
            <a:srgbClr val="33FF33"/>
          </a:solidFill>
          <a:ln w="9525">
            <a:solidFill>
              <a:srgbClr val="52606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38" name="TextBox 37"/>
          <p:cNvSpPr txBox="1"/>
          <p:nvPr/>
        </p:nvSpPr>
        <p:spPr>
          <a:xfrm>
            <a:off x="5669280" y="2816352"/>
            <a:ext cx="3291840" cy="228600"/>
          </a:xfrm>
          <a:prstGeom prst="rect">
            <a:avLst/>
          </a:prstGeom>
          <a:noFill/>
        </p:spPr>
        <p:txBody>
          <a:bodyPr wrap="square" anchor="t" lIns="0" rIns="0" tIns="0" bIns="0">
            <a:spAutoFit/>
          </a:bodyPr>
          <a:lstStyle/>
          <a:p>
            <a:pPr algn="l">
              <a:lnSpc>
                <a:spcPct val="105000"/>
              </a:lnSpc>
              <a:spcAft>
                <a:spcPts val="600"/>
              </a:spcAft>
            </a:pPr>
            <a:r>
              <a:rPr sz="1100" b="0" i="0">
                <a:solidFill>
                  <a:srgbClr val="52606D"/>
                </a:solidFill>
                <a:latin typeface="Calibri"/>
              </a:rPr>
              <a:t>step 1 ... step 8, 400 to 450 ms each</a:t>
            </a:r>
          </a:p>
        </p:txBody>
      </p:sp>
      <p:sp>
        <p:nvSpPr>
          <p:cNvPr id="39" name="Flash maths"/>
          <p:cNvSpPr/>
          <p:nvPr/>
        </p:nvSpPr>
        <p:spPr>
          <a:xfrm>
            <a:off x="5669280" y="3200400"/>
            <a:ext cx="3291840" cy="1188720"/>
          </a:xfrm>
          <a:prstGeom prst="roundRect">
            <a:avLst>
              <a:gd name="adj" fmla="val 8000"/>
            </a:avLst>
          </a:prstGeom>
          <a:solidFill>
            <a:srgbClr val="E7EFF8"/>
          </a:solidFill>
          <a:ln w="22225">
            <a:solidFill>
              <a:srgbClr val="1B4F8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0"/>
              </a:spcAft>
            </a:pPr>
            <a:r>
              <a:rPr sz="1500" b="1" i="0">
                <a:solidFill>
                  <a:srgbClr val="14202E"/>
                </a:solidFill>
                <a:latin typeface="Calibri"/>
              </a:rPr>
              <a:t>6 colours × 8 steps</a:t>
            </a:r>
          </a:p>
          <a:p>
            <a:pPr algn="ctr">
              <a:spcAft>
                <a:spcPts val="0"/>
              </a:spcAft>
            </a:pPr>
            <a:r>
              <a:rPr sz="1500" b="0" i="0">
                <a:solidFill>
                  <a:srgbClr val="14202E"/>
                </a:solidFill>
                <a:latin typeface="Calibri"/>
              </a:rPr>
              <a:t>= 1,679,616 sequences</a:t>
            </a:r>
          </a:p>
          <a:p>
            <a:pPr algn="ctr">
              <a:spcAft>
                <a:spcPts val="0"/>
              </a:spcAft>
            </a:pPr>
            <a:r>
              <a:rPr sz="2000" b="1" i="0">
                <a:solidFill>
                  <a:srgbClr val="1B4F8A"/>
                </a:solidFill>
                <a:latin typeface="Calibri"/>
              </a:rPr>
              <a:t>= 20.7 bits</a:t>
            </a:r>
          </a:p>
        </p:txBody>
      </p:sp>
      <p:sp>
        <p:nvSpPr>
          <p:cNvPr id="40" name="TextBox 39"/>
          <p:cNvSpPr txBox="1"/>
          <p:nvPr/>
        </p:nvSpPr>
        <p:spPr>
          <a:xfrm>
            <a:off x="5669280" y="4526280"/>
            <a:ext cx="3291840" cy="1737360"/>
          </a:xfrm>
          <a:prstGeom prst="rect">
            <a:avLst/>
          </a:prstGeom>
          <a:noFill/>
        </p:spPr>
        <p:txBody>
          <a:bodyPr wrap="square" anchor="t" lIns="0" rIns="0" tIns="0" bIns="0">
            <a:spAutoFit/>
          </a:bodyPr>
          <a:lstStyle/>
          <a:p>
            <a:pPr algn="l">
              <a:lnSpc>
                <a:spcPct val="105000"/>
              </a:lnSpc>
              <a:spcAft>
                <a:spcPts val="500"/>
              </a:spcAft>
            </a:pPr>
            <a:r>
              <a:rPr sz="1200" b="1" i="0">
                <a:solidFill>
                  <a:srgbClr val="14202E"/>
                </a:solidFill>
                <a:latin typeface="Calibri"/>
              </a:rPr>
              <a:t>Random onset</a:t>
            </a:r>
            <a:r>
              <a:rPr sz="1200" b="0" i="0">
                <a:solidFill>
                  <a:srgbClr val="14202E"/>
                </a:solidFill>
                <a:latin typeface="Calibri"/>
              </a:rPr>
              <a:t> for the prompt, and a random action.</a:t>
            </a:r>
          </a:p>
          <a:p>
            <a:pPr algn="l">
              <a:lnSpc>
                <a:spcPct val="105000"/>
              </a:lnSpc>
              <a:spcAft>
                <a:spcPts val="500"/>
              </a:spcAft>
            </a:pPr>
            <a:r>
              <a:rPr sz="1200" b="1" i="0">
                <a:solidFill>
                  <a:srgbClr val="14202E"/>
                </a:solidFill>
                <a:latin typeface="Calibri"/>
              </a:rPr>
              <a:t>At most 3 colour changes a second</a:t>
            </a:r>
            <a:r>
              <a:rPr sz="1200" b="0" i="0">
                <a:solidFill>
                  <a:srgbClr val="14202E"/>
                </a:solidFill>
                <a:latin typeface="Calibri"/>
              </a:rPr>
              <a:t>, no saturated red: checked on 900 sequences.</a:t>
            </a:r>
          </a:p>
          <a:p>
            <a:pPr algn="l">
              <a:lnSpc>
                <a:spcPct val="105000"/>
              </a:lnSpc>
              <a:spcAft>
                <a:spcPts val="500"/>
              </a:spcAft>
            </a:pPr>
            <a:r>
              <a:rPr sz="1200" b="1" i="0">
                <a:solidFill>
                  <a:srgbClr val="6B4500"/>
                </a:solidFill>
                <a:latin typeface="Calibri"/>
              </a:rPr>
              <a:t>Honest limit: </a:t>
            </a:r>
            <a:r>
              <a:rPr sz="1200" b="0" i="0">
                <a:solidFill>
                  <a:srgbClr val="14202E"/>
                </a:solidFill>
                <a:latin typeface="Calibri"/>
              </a:rPr>
              <a:t>built and tested on synthetic data; it needs a light facing the resident.</a:t>
            </a:r>
          </a:p>
        </p:txBody>
      </p:sp>
      <p:sp>
        <p:nvSpPr>
          <p:cNvPr id="41" name="Idea 2"/>
          <p:cNvSpPr/>
          <p:nvPr/>
        </p:nvSpPr>
        <p:spPr>
          <a:xfrm>
            <a:off x="9281160" y="1280160"/>
            <a:ext cx="329184" cy="329184"/>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14202E"/>
                </a:solidFill>
                <a:latin typeface="Calibri"/>
              </a:rPr>
              <a:t>2</a:t>
            </a:r>
          </a:p>
        </p:txBody>
      </p:sp>
      <p:sp>
        <p:nvSpPr>
          <p:cNvPr id="42" name="TextBox 41"/>
          <p:cNvSpPr txBox="1"/>
          <p:nvPr/>
        </p:nvSpPr>
        <p:spPr>
          <a:xfrm>
            <a:off x="9692640" y="1280160"/>
            <a:ext cx="2011680" cy="329184"/>
          </a:xfrm>
          <a:prstGeom prst="rect">
            <a:avLst/>
          </a:prstGeom>
          <a:noFill/>
        </p:spPr>
        <p:txBody>
          <a:bodyPr wrap="square" anchor="ctr" lIns="0" rIns="0" tIns="0" bIns="0">
            <a:spAutoFit/>
          </a:bodyPr>
          <a:lstStyle/>
          <a:p>
            <a:pPr algn="l">
              <a:lnSpc>
                <a:spcPct val="105000"/>
              </a:lnSpc>
              <a:spcAft>
                <a:spcPts val="600"/>
              </a:spcAft>
            </a:pPr>
            <a:r>
              <a:rPr sz="1800" b="1" i="0">
                <a:solidFill>
                  <a:srgbClr val="1B4F8A"/>
                </a:solidFill>
                <a:latin typeface="Calibri"/>
              </a:rPr>
              <a:t>Lasting evidence</a:t>
            </a:r>
          </a:p>
        </p:txBody>
      </p:sp>
      <p:sp>
        <p:nvSpPr>
          <p:cNvPr id="43" name="Evidence Signed JWS in the face BIR"/>
          <p:cNvSpPr/>
          <p:nvPr/>
        </p:nvSpPr>
        <p:spPr>
          <a:xfrm>
            <a:off x="9281160" y="1828800"/>
            <a:ext cx="2331720" cy="868680"/>
          </a:xfrm>
          <a:prstGeom prst="roundRect">
            <a:avLst>
              <a:gd name="adj" fmla="val 8000"/>
            </a:avLst>
          </a:prstGeom>
          <a:solidFill>
            <a:srgbClr val="E7EFF8"/>
          </a:solidFill>
          <a:ln w="22225">
            <a:solidFill>
              <a:srgbClr val="1B4F8A"/>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200"/>
              </a:spcAft>
            </a:pPr>
            <a:r>
              <a:rPr sz="1400" b="1" i="0">
                <a:solidFill>
                  <a:srgbClr val="14202E"/>
                </a:solidFill>
                <a:latin typeface="Calibri"/>
              </a:rPr>
              <a:t>Signed JWS in the face BIR</a:t>
            </a:r>
          </a:p>
          <a:p>
            <a:pPr algn="l">
              <a:spcAft>
                <a:spcPts val="200"/>
              </a:spcAft>
            </a:pPr>
            <a:r>
              <a:rPr sz="1200" b="0" i="0">
                <a:solidFill>
                  <a:srgbClr val="14202E"/>
                </a:solidFill>
                <a:latin typeface="Calibri"/>
              </a:rPr>
              <a:t>bdb untouched; evidence in others</a:t>
            </a:r>
          </a:p>
        </p:txBody>
      </p:sp>
      <p:cxnSp>
        <p:nvCxnSpPr>
          <p:cNvPr id="44" name="Connector 43"/>
          <p:cNvCxnSpPr/>
          <p:nvPr/>
        </p:nvCxnSpPr>
        <p:spPr>
          <a:xfrm>
            <a:off x="10442448" y="2706624"/>
            <a:ext cx="0" cy="256032"/>
          </a:xfrm>
          <a:prstGeom prst="line">
            <a:avLst/>
          </a:prstGeom>
          <a:ln w="25400">
            <a:solidFill>
              <a:srgbClr val="3B4A5A"/>
            </a:solidFill>
            <a:tailEnd type="triangle"/>
          </a:ln>
        </p:spPr>
        <p:style>
          <a:lnRef idx="2">
            <a:schemeClr val="accent1"/>
          </a:lnRef>
          <a:fillRef idx="0">
            <a:schemeClr val="accent1"/>
          </a:fillRef>
          <a:effectRef idx="1">
            <a:schemeClr val="accent1"/>
          </a:effectRef>
          <a:fontRef idx="minor">
            <a:schemeClr val="tx1"/>
          </a:fontRef>
        </p:style>
      </p:cxnSp>
      <p:sp>
        <p:nvSpPr>
          <p:cNvPr id="45" name="Evidence Server re-checks"/>
          <p:cNvSpPr/>
          <p:nvPr/>
        </p:nvSpPr>
        <p:spPr>
          <a:xfrm>
            <a:off x="9281160" y="2971800"/>
            <a:ext cx="2331720" cy="868680"/>
          </a:xfrm>
          <a:prstGeom prst="roundRect">
            <a:avLst>
              <a:gd name="adj" fmla="val 8000"/>
            </a:avLst>
          </a:prstGeom>
          <a:solidFill>
            <a:srgbClr val="E7EFF8"/>
          </a:solidFill>
          <a:ln w="22225">
            <a:solidFill>
              <a:srgbClr val="1B4F8A"/>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200"/>
              </a:spcAft>
            </a:pPr>
            <a:r>
              <a:rPr sz="1400" b="1" i="0">
                <a:solidFill>
                  <a:srgbClr val="14202E"/>
                </a:solidFill>
                <a:latin typeface="Calibri"/>
              </a:rPr>
              <a:t>Server re-checks</a:t>
            </a:r>
          </a:p>
          <a:p>
            <a:pPr algn="l">
              <a:spcAft>
                <a:spcPts val="200"/>
              </a:spcAft>
            </a:pPr>
            <a:r>
              <a:rPr sz="1200" b="0" i="0">
                <a:solidFill>
                  <a:srgbClr val="14202E"/>
                </a:solidFill>
                <a:latin typeface="Calibri"/>
              </a:rPr>
              <a:t>verifyEvidence, one command</a:t>
            </a:r>
          </a:p>
        </p:txBody>
      </p:sp>
      <p:cxnSp>
        <p:nvCxnSpPr>
          <p:cNvPr id="46" name="Connector 45"/>
          <p:cNvCxnSpPr/>
          <p:nvPr/>
        </p:nvCxnSpPr>
        <p:spPr>
          <a:xfrm>
            <a:off x="10442448" y="3849624"/>
            <a:ext cx="0" cy="256032"/>
          </a:xfrm>
          <a:prstGeom prst="line">
            <a:avLst/>
          </a:prstGeom>
          <a:ln w="25400">
            <a:solidFill>
              <a:srgbClr val="3B4A5A"/>
            </a:solidFill>
            <a:tailEnd type="triangle"/>
          </a:ln>
        </p:spPr>
        <p:style>
          <a:lnRef idx="2">
            <a:schemeClr val="accent1"/>
          </a:lnRef>
          <a:fillRef idx="0">
            <a:schemeClr val="accent1"/>
          </a:fillRef>
          <a:effectRef idx="1">
            <a:schemeClr val="accent1"/>
          </a:effectRef>
          <a:fontRef idx="minor">
            <a:schemeClr val="tx1"/>
          </a:fontRef>
        </p:style>
      </p:cxnSp>
      <p:sp>
        <p:nvSpPr>
          <p:cNvPr id="47" name="Evidence Years later"/>
          <p:cNvSpPr/>
          <p:nvPr/>
        </p:nvSpPr>
        <p:spPr>
          <a:xfrm>
            <a:off x="9281160" y="4114800"/>
            <a:ext cx="2331720" cy="868680"/>
          </a:xfrm>
          <a:prstGeom prst="roundRect">
            <a:avLst>
              <a:gd name="adj" fmla="val 8000"/>
            </a:avLst>
          </a:prstGeom>
          <a:solidFill>
            <a:srgbClr val="E7EFF8"/>
          </a:solidFill>
          <a:ln w="22225">
            <a:solidFill>
              <a:srgbClr val="1B4F8A"/>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200"/>
              </a:spcAft>
            </a:pPr>
            <a:r>
              <a:rPr sz="1400" b="1" i="0">
                <a:solidFill>
                  <a:srgbClr val="14202E"/>
                </a:solidFill>
                <a:latin typeface="Calibri"/>
              </a:rPr>
              <a:t>Years later</a:t>
            </a:r>
          </a:p>
          <a:p>
            <a:pPr algn="l">
              <a:spcAft>
                <a:spcPts val="200"/>
              </a:spcAft>
            </a:pPr>
            <a:r>
              <a:rPr sz="1200" b="0" i="0">
                <a:solidFill>
                  <a:srgbClr val="14202E"/>
                </a:solidFill>
                <a:latin typeface="Calibri"/>
              </a:rPr>
              <a:t>re-score with a newer model</a:t>
            </a:r>
          </a:p>
        </p:txBody>
      </p:sp>
      <p:cxnSp>
        <p:nvCxnSpPr>
          <p:cNvPr id="48" name="Connector 47"/>
          <p:cNvCxnSpPr/>
          <p:nvPr/>
        </p:nvCxnSpPr>
        <p:spPr>
          <a:xfrm>
            <a:off x="10442448" y="4992624"/>
            <a:ext cx="0" cy="256032"/>
          </a:xfrm>
          <a:prstGeom prst="line">
            <a:avLst/>
          </a:prstGeom>
          <a:ln w="25400">
            <a:solidFill>
              <a:srgbClr val="3B4A5A"/>
            </a:solidFill>
            <a:tailEnd type="triangle"/>
          </a:ln>
        </p:spPr>
        <p:style>
          <a:lnRef idx="2">
            <a:schemeClr val="accent1"/>
          </a:lnRef>
          <a:fillRef idx="0">
            <a:schemeClr val="accent1"/>
          </a:fillRef>
          <a:effectRef idx="1">
            <a:schemeClr val="accent1"/>
          </a:effectRef>
          <a:fontRef idx="minor">
            <a:schemeClr val="tx1"/>
          </a:fontRef>
        </p:style>
      </p:cxnSp>
      <p:sp>
        <p:nvSpPr>
          <p:cNvPr id="49" name="Evidence Transparency log"/>
          <p:cNvSpPr/>
          <p:nvPr/>
        </p:nvSpPr>
        <p:spPr>
          <a:xfrm>
            <a:off x="9281160" y="5257800"/>
            <a:ext cx="2331720" cy="868680"/>
          </a:xfrm>
          <a:prstGeom prst="roundRect">
            <a:avLst>
              <a:gd name="adj" fmla="val 8000"/>
            </a:avLst>
          </a:prstGeom>
          <a:solidFill>
            <a:srgbClr val="E6F4EA"/>
          </a:solidFill>
          <a:ln w="22225">
            <a:solidFill>
              <a:srgbClr val="1B6E3C"/>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200"/>
              </a:spcAft>
            </a:pPr>
            <a:r>
              <a:rPr sz="1400" b="1" i="0">
                <a:solidFill>
                  <a:srgbClr val="14202E"/>
                </a:solidFill>
                <a:latin typeface="Calibri"/>
              </a:rPr>
              <a:t>Transparency log</a:t>
            </a:r>
          </a:p>
          <a:p>
            <a:pPr algn="l">
              <a:spcAft>
                <a:spcPts val="200"/>
              </a:spcAft>
            </a:pPr>
            <a:r>
              <a:rPr sz="1200" b="0" i="0">
                <a:solidFill>
                  <a:srgbClr val="14202E"/>
                </a:solidFill>
                <a:latin typeface="Calibri"/>
              </a:rPr>
              <a:t>omission is detectable (Merkle)</a:t>
            </a:r>
          </a:p>
        </p:txBody>
      </p:sp>
      <p:sp>
        <p:nvSpPr>
          <p:cNvPr id="50" name="Footer"/>
          <p:cNvSpPr txBox="1"/>
          <p:nvPr/>
        </p:nvSpPr>
        <p:spPr>
          <a:xfrm>
            <a:off x="548640" y="6473952"/>
            <a:ext cx="8229600" cy="256032"/>
          </a:xfrm>
          <a:prstGeom prst="rect">
            <a:avLst/>
          </a:prstGeom>
          <a:noFill/>
        </p:spPr>
        <p:txBody>
          <a:bodyPr wrap="square" anchor="t" lIns="0" rIns="0" tIns="0" bIns="0">
            <a:spAutoFit/>
          </a:bodyPr>
          <a:lstStyle/>
          <a:p>
            <a:pPr algn="l">
              <a:lnSpc>
                <a:spcPct val="105000"/>
              </a:lnSpc>
              <a:spcAft>
                <a:spcPts val="600"/>
              </a:spcAft>
            </a:pPr>
            <a:r>
              <a:rPr sz="1200" b="0" i="0">
                <a:solidFill>
                  <a:srgbClr val="52606D"/>
                </a:solidFill>
                <a:latin typeface="Calibri"/>
              </a:rPr>
              <a:t>PRAMAAN  ·  MOSIP Decode 2026  ·  PS04</a:t>
            </a:r>
          </a:p>
        </p:txBody>
      </p:sp>
      <p:sp>
        <p:nvSpPr>
          <p:cNvPr id="51" name="Slide number"/>
          <p:cNvSpPr txBox="1"/>
          <p:nvPr/>
        </p:nvSpPr>
        <p:spPr>
          <a:xfrm>
            <a:off x="10698480" y="6473952"/>
            <a:ext cx="914400" cy="256032"/>
          </a:xfrm>
          <a:prstGeom prst="rect">
            <a:avLst/>
          </a:prstGeom>
          <a:noFill/>
        </p:spPr>
        <p:txBody>
          <a:bodyPr wrap="square" anchor="t" lIns="0" rIns="0" tIns="0" bIns="0">
            <a:spAutoFit/>
          </a:bodyPr>
          <a:lstStyle/>
          <a:p>
            <a:pPr algn="r">
              <a:lnSpc>
                <a:spcPct val="105000"/>
              </a:lnSpc>
              <a:spcAft>
                <a:spcPts val="600"/>
              </a:spcAft>
            </a:pPr>
            <a:r>
              <a:rPr sz="1200" b="0" i="0">
                <a:solidFill>
                  <a:srgbClr val="52606D"/>
                </a:solidFill>
                <a:latin typeface="Calibri"/>
              </a:rPr>
              <a:t>6 / 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47472"/>
            <a:ext cx="11064240" cy="685800"/>
          </a:xfrm>
          <a:prstGeom prst="rect">
            <a:avLst/>
          </a:prstGeom>
          <a:noFill/>
        </p:spPr>
        <p:txBody>
          <a:bodyPr wrap="square" anchor="t" lIns="0" rIns="0" tIns="0" bIns="0">
            <a:spAutoFit/>
          </a:bodyPr>
          <a:lstStyle/>
          <a:p>
            <a:pPr algn="l">
              <a:lnSpc>
                <a:spcPct val="105000"/>
              </a:lnSpc>
              <a:spcAft>
                <a:spcPts val="600"/>
              </a:spcAft>
            </a:pPr>
            <a:r>
              <a:rPr sz="3600" b="1" i="0">
                <a:solidFill>
                  <a:srgbClr val="1B4F8A"/>
                </a:solidFill>
                <a:latin typeface="Calibri"/>
              </a:rPr>
              <a:t>Honest status, impact and next steps</a:t>
            </a:r>
          </a:p>
        </p:txBody>
      </p:sp>
      <p:sp>
        <p:nvSpPr>
          <p:cNvPr id="3" name="Subtitle"/>
          <p:cNvSpPr txBox="1"/>
          <p:nvPr/>
        </p:nvSpPr>
        <p:spPr>
          <a:xfrm>
            <a:off x="548640" y="1024128"/>
            <a:ext cx="11064240" cy="548640"/>
          </a:xfrm>
          <a:prstGeom prst="rect">
            <a:avLst/>
          </a:prstGeom>
          <a:noFill/>
        </p:spPr>
        <p:txBody>
          <a:bodyPr wrap="square" anchor="t" lIns="0" rIns="0" tIns="0" bIns="0">
            <a:spAutoFit/>
          </a:bodyPr>
          <a:lstStyle/>
          <a:p>
            <a:pPr algn="l">
              <a:lnSpc>
                <a:spcPct val="105000"/>
              </a:lnSpc>
              <a:spcAft>
                <a:spcPts val="600"/>
              </a:spcAft>
            </a:pPr>
            <a:r>
              <a:rPr sz="1800" b="0" i="0">
                <a:solidFill>
                  <a:srgbClr val="3B4A5A"/>
                </a:solidFill>
                <a:latin typeface="Calibri"/>
              </a:rPr>
              <a:t>No real attack corpus exists, so no APCER or BPCER is claimed. Zero failures in 60 attacks would still allow a true rate near 6%.</a:t>
            </a:r>
          </a:p>
        </p:txBody>
      </p:sp>
      <p:sp>
        <p:nvSpPr>
          <p:cNvPr id="4" name="Verified"/>
          <p:cNvSpPr/>
          <p:nvPr/>
        </p:nvSpPr>
        <p:spPr>
          <a:xfrm>
            <a:off x="548640" y="1783080"/>
            <a:ext cx="3657600" cy="3429000"/>
          </a:xfrm>
          <a:prstGeom prst="roundRect">
            <a:avLst>
              <a:gd name="adj" fmla="val 8000"/>
            </a:avLst>
          </a:prstGeom>
          <a:solidFill>
            <a:srgbClr val="E6F4EA"/>
          </a:solidFill>
          <a:ln w="22225">
            <a:solidFill>
              <a:srgbClr val="1B6E3C"/>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500"/>
              </a:spcAft>
            </a:pPr>
            <a:r>
              <a:rPr sz="1700" b="1" i="0">
                <a:solidFill>
                  <a:srgbClr val="1B6E3C"/>
                </a:solidFill>
                <a:latin typeface="Calibri"/>
              </a:rPr>
              <a:t>Verified (one command each)</a:t>
            </a:r>
          </a:p>
          <a:p>
            <a:pPr algn="l">
              <a:spcAft>
                <a:spcPts val="500"/>
              </a:spcAft>
            </a:pPr>
            <a:r>
              <a:rPr sz="1400" b="1" i="0">
                <a:solidFill>
                  <a:srgbClr val="14202E"/>
                </a:solidFill>
                <a:latin typeface="Calibri"/>
              </a:rPr>
              <a:t>673 automated tests pass</a:t>
            </a:r>
            <a:r>
              <a:rPr sz="1200" b="0" i="0">
                <a:solidFill>
                  <a:srgbClr val="14202E"/>
                </a:solidFill>
                <a:latin typeface="Calibri"/>
              </a:rPr>
              <a:t> (20 skip on a fresh clone: no models)</a:t>
            </a:r>
          </a:p>
          <a:p>
            <a:pPr algn="l">
              <a:spcAft>
                <a:spcPts val="500"/>
              </a:spcAft>
            </a:pPr>
            <a:r>
              <a:rPr sz="1400" b="0" i="0">
                <a:solidFill>
                  <a:srgbClr val="14202E"/>
                </a:solidFill>
                <a:latin typeface="Calibri"/>
              </a:rPr>
              <a:t>Each capture-swap attack is a test</a:t>
            </a:r>
          </a:p>
          <a:p>
            <a:pPr algn="l">
              <a:spcAft>
                <a:spcPts val="500"/>
              </a:spcAft>
            </a:pPr>
            <a:r>
              <a:rPr sz="1400" b="0" i="0">
                <a:solidFill>
                  <a:srgbClr val="14202E"/>
                </a:solidFill>
                <a:latin typeface="Calibri"/>
              </a:rPr>
              <a:t>Flash code: 20.7 bits; ≤ 3 changes a second</a:t>
            </a:r>
          </a:p>
          <a:p>
            <a:pPr algn="l">
              <a:spcAft>
                <a:spcPts val="500"/>
              </a:spcAft>
            </a:pPr>
            <a:r>
              <a:rPr sz="1400" b="0" i="0">
                <a:solidFill>
                  <a:srgbClr val="14202E"/>
                </a:solidFill>
                <a:latin typeface="Calibri"/>
              </a:rPr>
              <a:t>Insider signal: 6 in 40 at 2% gives z ≈ 5.87</a:t>
            </a:r>
          </a:p>
          <a:p>
            <a:pPr algn="l">
              <a:spcAft>
                <a:spcPts val="500"/>
              </a:spcAft>
            </a:pPr>
            <a:r>
              <a:rPr sz="1400" b="0" i="0">
                <a:solidFill>
                  <a:srgbClr val="14202E"/>
                </a:solidFill>
                <a:latin typeface="Calibri"/>
              </a:rPr>
              <a:t>Transparency log matches the CT test vectors</a:t>
            </a:r>
          </a:p>
        </p:txBody>
      </p:sp>
      <p:sp>
        <p:nvSpPr>
          <p:cNvPr id="5" name="Not claimed"/>
          <p:cNvSpPr/>
          <p:nvPr/>
        </p:nvSpPr>
        <p:spPr>
          <a:xfrm>
            <a:off x="4343400" y="1783080"/>
            <a:ext cx="3657600" cy="3429000"/>
          </a:xfrm>
          <a:prstGeom prst="roundRect">
            <a:avLst>
              <a:gd name="adj" fmla="val 8000"/>
            </a:avLst>
          </a:prstGeom>
          <a:solidFill>
            <a:srgbClr val="FFF4D6"/>
          </a:solidFill>
          <a:ln w="22225">
            <a:solidFill>
              <a:srgbClr val="6B4500"/>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500"/>
              </a:spcAft>
            </a:pPr>
            <a:r>
              <a:rPr sz="1700" b="1" i="0">
                <a:solidFill>
                  <a:srgbClr val="6B4500"/>
                </a:solidFill>
                <a:latin typeface="Calibri"/>
              </a:rPr>
              <a:t>Not done, not claimed</a:t>
            </a:r>
          </a:p>
          <a:p>
            <a:pPr algn="l">
              <a:spcAft>
                <a:spcPts val="500"/>
              </a:spcAft>
            </a:pPr>
            <a:r>
              <a:rPr sz="1400" b="0" i="0">
                <a:solidFill>
                  <a:srgbClr val="14202E"/>
                </a:solidFill>
                <a:latin typeface="Calibri"/>
              </a:rPr>
              <a:t>No error rate on real attacks; thresholds provisional</a:t>
            </a:r>
          </a:p>
          <a:p>
            <a:pPr algn="l">
              <a:spcAft>
                <a:spcPts val="500"/>
              </a:spcAft>
            </a:pPr>
            <a:r>
              <a:rPr sz="1400" b="0" i="0">
                <a:solidFill>
                  <a:srgbClr val="14202E"/>
                </a:solidFill>
                <a:latin typeface="Calibri"/>
              </a:rPr>
              <a:t>Not run on a device, a phone or a certified SBI device</a:t>
            </a:r>
          </a:p>
          <a:p>
            <a:pPr algn="l">
              <a:spcAft>
                <a:spcPts val="500"/>
              </a:spcAft>
            </a:pPr>
            <a:r>
              <a:rPr sz="1400" b="0" i="0">
                <a:solidFill>
                  <a:srgbClr val="14202E"/>
                </a:solidFill>
                <a:latin typeface="Calibri"/>
              </a:rPr>
              <a:t>A scaffold, not the Registration Client; no user has tried the screens</a:t>
            </a:r>
          </a:p>
          <a:p>
            <a:pPr algn="l">
              <a:spcAft>
                <a:spcPts val="500"/>
              </a:spcAft>
            </a:pPr>
            <a:r>
              <a:rPr sz="1400" b="1" i="0">
                <a:solidFill>
                  <a:srgbClr val="14202E"/>
                </a:solidFill>
                <a:latin typeface="Calibri"/>
              </a:rPr>
              <a:t>We attacked ourselves: </a:t>
            </a:r>
            <a:r>
              <a:rPr sz="1400" b="0" i="0">
                <a:solidFill>
                  <a:srgbClr val="14202E"/>
                </a:solidFill>
                <a:latin typeface="Calibri"/>
              </a:rPr>
              <a:t>4 of 85 synthetic pitches accepted without a flash cue, 0 with one. Logged, fix proposed, not enabled.</a:t>
            </a:r>
          </a:p>
        </p:txBody>
      </p:sp>
      <p:sp>
        <p:nvSpPr>
          <p:cNvPr id="6" name="Impact"/>
          <p:cNvSpPr/>
          <p:nvPr/>
        </p:nvSpPr>
        <p:spPr>
          <a:xfrm>
            <a:off x="8138160" y="1783080"/>
            <a:ext cx="3474720" cy="3429000"/>
          </a:xfrm>
          <a:prstGeom prst="roundRect">
            <a:avLst>
              <a:gd name="adj" fmla="val 8000"/>
            </a:avLst>
          </a:prstGeom>
          <a:solidFill>
            <a:srgbClr val="E7EFF8"/>
          </a:solidFill>
          <a:ln w="22225">
            <a:solidFill>
              <a:srgbClr val="1B4F8A"/>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500"/>
              </a:spcAft>
            </a:pPr>
            <a:r>
              <a:rPr sz="1700" b="1" i="0">
                <a:solidFill>
                  <a:srgbClr val="1B4F8A"/>
                </a:solidFill>
                <a:latin typeface="Calibri"/>
              </a:rPr>
              <a:t>Impact and next</a:t>
            </a:r>
          </a:p>
          <a:p>
            <a:pPr algn="l">
              <a:spcAft>
                <a:spcPts val="500"/>
              </a:spcAft>
            </a:pPr>
            <a:r>
              <a:rPr sz="1400" b="1" i="0">
                <a:solidFill>
                  <a:srgbClr val="14202E"/>
                </a:solidFill>
                <a:latin typeface="Calibri"/>
              </a:rPr>
              <a:t>For MOSIP: </a:t>
            </a:r>
            <a:r>
              <a:rPr sz="1400" b="0" i="0">
                <a:solidFill>
                  <a:srgbClr val="14202E"/>
                </a:solidFill>
                <a:latin typeface="Calibri"/>
              </a:rPr>
              <a:t>closes the capture-swap gap on unmodified SBI; leaves proof a server can re-check.</a:t>
            </a:r>
          </a:p>
          <a:p>
            <a:pPr algn="l">
              <a:spcAft>
                <a:spcPts val="500"/>
              </a:spcAft>
            </a:pPr>
            <a:r>
              <a:rPr sz="1400" b="1" i="0">
                <a:solidFill>
                  <a:srgbClr val="14202E"/>
                </a:solidFill>
                <a:latin typeface="Calibri"/>
              </a:rPr>
              <a:t>Next: </a:t>
            </a:r>
            <a:r>
              <a:rPr sz="1400" b="0" i="0">
                <a:solidFill>
                  <a:srgbClr val="14202E"/>
                </a:solidFill>
                <a:latin typeface="Calibri"/>
              </a:rPr>
              <a:t>one real experiment (does the flash cue separate a live face from a replay?), a consented corpus, a real device and phone, real users.</a:t>
            </a:r>
          </a:p>
          <a:p>
            <a:pPr algn="l">
              <a:spcAft>
                <a:spcPts val="500"/>
              </a:spcAft>
            </a:pPr>
            <a:r>
              <a:rPr sz="1400" b="1" i="0">
                <a:solidFill>
                  <a:srgbClr val="14202E"/>
                </a:solidFill>
                <a:latin typeface="Calibri"/>
              </a:rPr>
              <a:t>Ask: </a:t>
            </a:r>
            <a:r>
              <a:rPr sz="1400" b="0" i="0">
                <a:solidFill>
                  <a:srgbClr val="14202E"/>
                </a:solidFill>
                <a:latin typeface="Calibri"/>
              </a:rPr>
              <a:t>how should an SBI extension be proposed?</a:t>
            </a:r>
          </a:p>
        </p:txBody>
      </p:sp>
      <p:sp>
        <p:nvSpPr>
          <p:cNvPr id="7" name="Stack and audience"/>
          <p:cNvSpPr/>
          <p:nvPr/>
        </p:nvSpPr>
        <p:spPr>
          <a:xfrm>
            <a:off x="548640" y="5394960"/>
            <a:ext cx="11064240" cy="868680"/>
          </a:xfrm>
          <a:prstGeom prst="roundRect">
            <a:avLst>
              <a:gd name="adj" fmla="val 8000"/>
            </a:avLst>
          </a:prstGeom>
          <a:solidFill>
            <a:srgbClr val="EEF1F4"/>
          </a:solidFill>
          <a:ln w="22225">
            <a:solidFill>
              <a:srgbClr val="CFD6D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300"/>
              </a:spcAft>
            </a:pPr>
            <a:r>
              <a:rPr sz="1300" b="1" i="0">
                <a:solidFill>
                  <a:srgbClr val="14202E"/>
                </a:solidFill>
                <a:latin typeface="Calibri"/>
              </a:rPr>
              <a:t>Stack: </a:t>
            </a:r>
            <a:r>
              <a:rPr sz="1300" b="0" i="0">
                <a:solidFill>
                  <a:srgbClr val="14202E"/>
                </a:solidFill>
                <a:latin typeface="Calibri"/>
              </a:rPr>
              <a:t>Java (Java 11 bytecode) · ONNX Runtime · JavaFX 11 · MOSIP SBI 1.x · JUnit 5 · Android library</a:t>
            </a:r>
          </a:p>
          <a:p>
            <a:pPr algn="l">
              <a:spcAft>
                <a:spcPts val="300"/>
              </a:spcAft>
            </a:pPr>
            <a:r>
              <a:rPr sz="1300" b="1" i="0">
                <a:solidFill>
                  <a:srgbClr val="14202E"/>
                </a:solidFill>
                <a:latin typeface="Calibri"/>
              </a:rPr>
              <a:t>For: </a:t>
            </a:r>
            <a:r>
              <a:rPr sz="1300" b="0" i="0">
                <a:solidFill>
                  <a:srgbClr val="14202E"/>
                </a:solidFill>
                <a:latin typeface="Calibri"/>
              </a:rPr>
              <a:t>registration centres, operators and supervisors, residents, and server operators.  </a:t>
            </a:r>
            <a:r>
              <a:rPr sz="1300" b="1" i="0">
                <a:solidFill>
                  <a:srgbClr val="14202E"/>
                </a:solidFill>
                <a:latin typeface="Calibri"/>
              </a:rPr>
              <a:t>Code: </a:t>
            </a:r>
            <a:r>
              <a:rPr sz="1300" b="0" i="0">
                <a:solidFill>
                  <a:srgbClr val="14202E"/>
                </a:solidFill>
                <a:latin typeface="Calibri"/>
              </a:rPr>
              <a:t>github.com/GargBhavya-tech/pramaan (MPL-2.0)</a:t>
            </a:r>
          </a:p>
        </p:txBody>
      </p:sp>
      <p:sp>
        <p:nvSpPr>
          <p:cNvPr id="8" name="Footer"/>
          <p:cNvSpPr txBox="1"/>
          <p:nvPr/>
        </p:nvSpPr>
        <p:spPr>
          <a:xfrm>
            <a:off x="548640" y="6473952"/>
            <a:ext cx="8229600" cy="256032"/>
          </a:xfrm>
          <a:prstGeom prst="rect">
            <a:avLst/>
          </a:prstGeom>
          <a:noFill/>
        </p:spPr>
        <p:txBody>
          <a:bodyPr wrap="square" anchor="t" lIns="0" rIns="0" tIns="0" bIns="0">
            <a:spAutoFit/>
          </a:bodyPr>
          <a:lstStyle/>
          <a:p>
            <a:pPr algn="l">
              <a:lnSpc>
                <a:spcPct val="105000"/>
              </a:lnSpc>
              <a:spcAft>
                <a:spcPts val="600"/>
              </a:spcAft>
            </a:pPr>
            <a:r>
              <a:rPr sz="1200" b="0" i="0">
                <a:solidFill>
                  <a:srgbClr val="52606D"/>
                </a:solidFill>
                <a:latin typeface="Calibri"/>
              </a:rPr>
              <a:t>PRAMAAN  ·  MOSIP Decode 2026  ·  PS04</a:t>
            </a:r>
          </a:p>
        </p:txBody>
      </p:sp>
      <p:sp>
        <p:nvSpPr>
          <p:cNvPr id="9" name="Slide number"/>
          <p:cNvSpPr txBox="1"/>
          <p:nvPr/>
        </p:nvSpPr>
        <p:spPr>
          <a:xfrm>
            <a:off x="10698480" y="6473952"/>
            <a:ext cx="914400" cy="256032"/>
          </a:xfrm>
          <a:prstGeom prst="rect">
            <a:avLst/>
          </a:prstGeom>
          <a:noFill/>
        </p:spPr>
        <p:txBody>
          <a:bodyPr wrap="square" anchor="t" lIns="0" rIns="0" tIns="0" bIns="0">
            <a:spAutoFit/>
          </a:bodyPr>
          <a:lstStyle/>
          <a:p>
            <a:pPr algn="r">
              <a:lnSpc>
                <a:spcPct val="105000"/>
              </a:lnSpc>
              <a:spcAft>
                <a:spcPts val="600"/>
              </a:spcAft>
            </a:pPr>
            <a:r>
              <a:rPr sz="1200" b="0" i="0">
                <a:solidFill>
                  <a:srgbClr val="52606D"/>
                </a:solidFill>
                <a:latin typeface="Calibri"/>
              </a:rPr>
              <a:t>7 / 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PRAMAAN: pitch (MOSIP Decode 2026, PS04)</dc:title>
  <dc:subject>Face liveness and presentation-attack detection for the MOSIP Registration Client</dc:subject>
  <dc:creator>Bhavya Garg</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