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defines the two interfaces the problem statement asks for: a frame source that returns frames and the signed capture from the same object, and a liveness engine that takes frames in and gives states, guidance and a decision out. Seven questions are answered in order, from is this a real sensor to is the stored face provably the one that passed.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ideas, each built and tested. Capture binding and the evidence package are the core. The cues are chosen so their holes do not overlap, and each one abstains rather than guessing when the station lacks what it needs. Inclusion is by design: physiological cues only ever vote for life. The SBI Liveness Profile is our own draft and has not been posted to MOSIP; we first want to ask how proposals are accepted.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screens, rendered offscreen from the actual code, so there is no live camera in them. The resident sees one sentence and an icon, never a score and never the reason a check failed. Hindi, larger text and high contrast are one click each. If the policy, a model or the certificate does not verify, nothing can be registered. You can click through all of it with: gradlew desktop showcase.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Six hundred seventy three automated tests pass; on a fresh clone twenty are skipped because the face models are not in the repository. We have not measured an error rate on real attacks, because no real corpus exists. It has not run on a real device or a phone, and no user has tried the screens yet. Our own red team found that, on synthetic replays with no flash light, the fusion accepted four of eighty five display pitches, and none with the flash cue. We logged it and did not turn on the proposed fix, because it would raise false rejections we cannot price without real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one real experiment, a consented corpus, and a real device. We would like to ask MOSIP how an SBI extension should be proposed. The code is MPL two point zero, like MOSIP. Every claim and its reproduction command is in docs/claim-sheet.md.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731520" y="1234440"/>
            <a:ext cx="10789920" cy="1188720"/>
          </a:xfrm>
          <a:prstGeom prst="rect">
            <a:avLst/>
          </a:prstGeom>
          <a:noFill/>
        </p:spPr>
        <p:txBody>
          <a:bodyPr wrap="square" anchor="t" lIns="0" rIns="0" tIns="0" bIns="0">
            <a:spAutoFit/>
          </a:bodyPr>
          <a:lstStyle/>
          <a:p>
            <a:pPr algn="l">
              <a:lnSpc>
                <a:spcPct val="108000"/>
              </a:lnSpc>
              <a:spcAft>
                <a:spcPts val="0"/>
              </a:spcAft>
            </a:pPr>
            <a:r>
              <a:rPr sz="7200" b="1" i="0">
                <a:solidFill>
                  <a:srgbClr val="FFFFFF"/>
                </a:solidFill>
                <a:latin typeface="Calibri"/>
              </a:rPr>
              <a:t>PRAMAAN </a:t>
            </a:r>
            <a:r>
              <a:rPr sz="7200" b="0" i="0">
                <a:solidFill>
                  <a:srgbClr val="FFFFFF"/>
                </a:solidFill>
                <a:latin typeface="Nirmala UI"/>
              </a:rPr>
              <a:t>प्रमाण</a:t>
            </a:r>
          </a:p>
        </p:txBody>
      </p:sp>
      <p:sp>
        <p:nvSpPr>
          <p:cNvPr id="3" name="Tagline"/>
          <p:cNvSpPr txBox="1"/>
          <p:nvPr/>
        </p:nvSpPr>
        <p:spPr>
          <a:xfrm>
            <a:off x="731520" y="2514600"/>
            <a:ext cx="10789920" cy="731520"/>
          </a:xfrm>
          <a:prstGeom prst="rect">
            <a:avLst/>
          </a:prstGeom>
          <a:noFill/>
        </p:spPr>
        <p:txBody>
          <a:bodyPr wrap="square" anchor="t" lIns="0" rIns="0" tIns="0" bIns="0">
            <a:spAutoFit/>
          </a:bodyPr>
          <a:lstStyle/>
          <a:p>
            <a:pPr algn="l">
              <a:lnSpc>
                <a:spcPct val="108000"/>
              </a:lnSpc>
              <a:spcAft>
                <a:spcPts val="600"/>
              </a:spcAft>
            </a:pPr>
            <a:r>
              <a:rPr sz="4000" b="1" i="0">
                <a:solidFill>
                  <a:srgbClr val="FFFFFF"/>
                </a:solidFill>
                <a:latin typeface="Calibri"/>
              </a:rPr>
              <a:t>Proof, not a verdict.</a:t>
            </a:r>
          </a:p>
        </p:txBody>
      </p:sp>
      <p:sp>
        <p:nvSpPr>
          <p:cNvPr id="4" name="Summary"/>
          <p:cNvSpPr txBox="1"/>
          <p:nvPr/>
        </p:nvSpPr>
        <p:spPr>
          <a:xfrm>
            <a:off x="731520" y="3291840"/>
            <a:ext cx="10058400" cy="1097280"/>
          </a:xfrm>
          <a:prstGeom prst="rect">
            <a:avLst/>
          </a:prstGeom>
          <a:noFill/>
        </p:spPr>
        <p:txBody>
          <a:bodyPr wrap="square" anchor="t" lIns="0" rIns="0" tIns="0" bIns="0">
            <a:spAutoFit/>
          </a:bodyPr>
          <a:lstStyle/>
          <a:p>
            <a:pPr algn="l">
              <a:lnSpc>
                <a:spcPct val="108000"/>
              </a:lnSpc>
              <a:spcAft>
                <a:spcPts val="600"/>
              </a:spcAft>
            </a:pPr>
            <a:r>
              <a:rPr sz="24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731520" y="4572000"/>
            <a:ext cx="10789920" cy="822960"/>
          </a:xfrm>
          <a:prstGeom prst="rect">
            <a:avLst/>
          </a:prstGeom>
          <a:noFill/>
        </p:spPr>
        <p:txBody>
          <a:bodyPr wrap="square" anchor="t" lIns="0" rIns="0" tIns="0" bIns="0">
            <a:spAutoFit/>
          </a:bodyPr>
          <a:lstStyle/>
          <a:p>
            <a:pPr algn="l">
              <a:lnSpc>
                <a:spcPct val="108000"/>
              </a:lnSpc>
              <a:spcAft>
                <a:spcPts val="200"/>
              </a:spcAft>
            </a:pPr>
            <a:r>
              <a:rPr sz="1800" b="0" i="0">
                <a:solidFill>
                  <a:srgbClr val="DCE8F5"/>
                </a:solidFill>
                <a:latin typeface="Calibri"/>
              </a:rPr>
              <a:t>MOSIP Decode 2026  ·  Problem Statement 04</a:t>
            </a:r>
          </a:p>
          <a:p>
            <a:pPr algn="l">
              <a:lnSpc>
                <a:spcPct val="108000"/>
              </a:lnSpc>
              <a:spcAft>
                <a:spcPts val="200"/>
              </a:spcAft>
            </a:pPr>
            <a:r>
              <a:rPr sz="1800" b="0" i="0">
                <a:solidFill>
                  <a:srgbClr val="DCE8F5"/>
                </a:solidFill>
                <a:latin typeface="Calibri"/>
              </a:rPr>
              <a:t>Team: Bhavya Garg  ·  github.com/GargBhavya-tech/pramaan  ·  MPL-2.0</a:t>
            </a:r>
          </a:p>
        </p:txBody>
      </p:sp>
      <p:sp>
        <p:nvSpPr>
          <p:cNvPr id="6" name="Honest status chip"/>
          <p:cNvSpPr/>
          <p:nvPr/>
        </p:nvSpPr>
        <p:spPr>
          <a:xfrm>
            <a:off x="731520" y="5577840"/>
            <a:ext cx="6035040" cy="548640"/>
          </a:xfrm>
          <a:prstGeom prst="roundRect">
            <a:avLst>
              <a:gd name="adj" fmla="val 20000"/>
            </a:avLst>
          </a:prstGeom>
          <a:solidFill>
            <a:srgbClr val="FFF4D6"/>
          </a:solidFill>
          <a:ln w="25400">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91440" bIns="91440" wrap="square"/>
          <a:lstStyle/>
          <a:p>
            <a:pPr algn="ctr">
              <a:spcAft>
                <a:spcPts val="400"/>
              </a:spcAft>
            </a:pPr>
            <a:r>
              <a:rPr sz="1800" b="1" i="0">
                <a:solidFill>
                  <a:srgbClr val="4A2F00"/>
                </a:solidFill>
                <a:latin typeface="Calibri"/>
              </a:rPr>
              <a:t>A working engine, not yet measured on real attacks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64240" cy="822960"/>
          </a:xfrm>
          <a:prstGeom prst="rect">
            <a:avLst/>
          </a:prstGeom>
          <a:noFill/>
        </p:spPr>
        <p:txBody>
          <a:bodyPr wrap="square" anchor="t" lIns="0" rIns="0" tIns="0" bIns="0">
            <a:spAutoFit/>
          </a:bodyPr>
          <a:lstStyle/>
          <a:p>
            <a:pPr algn="l">
              <a:lnSpc>
                <a:spcPct val="108000"/>
              </a:lnSpc>
              <a:spcAft>
                <a:spcPts val="600"/>
              </a:spcAft>
            </a:pPr>
            <a:r>
              <a:rPr sz="4000" b="1" i="0">
                <a:solidFill>
                  <a:srgbClr val="1B4F8A"/>
                </a:solidFill>
                <a:latin typeface="Calibri"/>
              </a:rPr>
              <a:t>The gap nobody names</a:t>
            </a:r>
          </a:p>
        </p:txBody>
      </p:sp>
      <p:sp>
        <p:nvSpPr>
          <p:cNvPr id="3" name="Subtitle"/>
          <p:cNvSpPr txBox="1"/>
          <p:nvPr/>
        </p:nvSpPr>
        <p:spPr>
          <a:xfrm>
            <a:off x="548640" y="1188720"/>
            <a:ext cx="11064240" cy="685800"/>
          </a:xfrm>
          <a:prstGeom prst="rect">
            <a:avLst/>
          </a:prstGeom>
          <a:noFill/>
        </p:spPr>
        <p:txBody>
          <a:bodyPr wrap="square" anchor="t" lIns="0" rIns="0" tIns="0" bIns="0">
            <a:spAutoFit/>
          </a:bodyPr>
          <a:lstStyle/>
          <a:p>
            <a:pPr algn="l">
              <a:lnSpc>
                <a:spcPct val="108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2148840"/>
            <a:ext cx="2103120" cy="132588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91440" bIns="91440" wrap="square"/>
          <a:lstStyle/>
          <a:p>
            <a:pPr algn="ctr">
              <a:spcAft>
                <a:spcPts val="400"/>
              </a:spcAft>
            </a:pPr>
            <a:r>
              <a:rPr sz="1800" b="1" i="0">
                <a:solidFill>
                  <a:srgbClr val="173F70"/>
                </a:solidFill>
                <a:latin typeface="Calibri"/>
              </a:rPr>
              <a:t>Camera /</a:t>
            </a:r>
          </a:p>
          <a:p>
            <a:pPr algn="ctr">
              <a:spcAft>
                <a:spcPts val="400"/>
              </a:spcAft>
            </a:pPr>
            <a:r>
              <a:rPr sz="1800" b="1" i="0">
                <a:solidFill>
                  <a:srgbClr val="173F70"/>
                </a:solidFill>
                <a:latin typeface="Calibri"/>
              </a:rPr>
              <a:t>SBI device</a:t>
            </a:r>
          </a:p>
        </p:txBody>
      </p:sp>
      <p:cxnSp>
        <p:nvCxnSpPr>
          <p:cNvPr id="5" name="Unsigned preview arrow"/>
          <p:cNvCxnSpPr/>
          <p:nvPr/>
        </p:nvCxnSpPr>
        <p:spPr>
          <a:xfrm>
            <a:off x="2697480" y="2514600"/>
            <a:ext cx="2971800" cy="0"/>
          </a:xfrm>
          <a:prstGeom prst="line">
            <a:avLst/>
          </a:prstGeom>
          <a:ln w="3175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Unsigned label"/>
          <p:cNvSpPr txBox="1"/>
          <p:nvPr/>
        </p:nvSpPr>
        <p:spPr>
          <a:xfrm>
            <a:off x="2926080" y="2103120"/>
            <a:ext cx="2743200" cy="365760"/>
          </a:xfrm>
          <a:prstGeom prst="rect">
            <a:avLst/>
          </a:prstGeom>
          <a:noFill/>
        </p:spPr>
        <p:txBody>
          <a:bodyPr wrap="square" anchor="t" lIns="0" rIns="0" tIns="0" bIns="0">
            <a:spAutoFit/>
          </a:bodyPr>
          <a:lstStyle/>
          <a:p>
            <a:pPr algn="ctr">
              <a:lnSpc>
                <a:spcPct val="108000"/>
              </a:lnSpc>
              <a:spcAft>
                <a:spcPts val="600"/>
              </a:spcAft>
            </a:pPr>
            <a:r>
              <a:rPr sz="1600" b="1" i="0">
                <a:solidFill>
                  <a:srgbClr val="8E1220"/>
                </a:solidFill>
                <a:latin typeface="Calibri"/>
              </a:rPr>
              <a:t>unsigned preview</a:t>
            </a:r>
          </a:p>
        </p:txBody>
      </p:sp>
      <p:sp>
        <p:nvSpPr>
          <p:cNvPr id="7" name="Liveness passes on face A"/>
          <p:cNvSpPr/>
          <p:nvPr/>
        </p:nvSpPr>
        <p:spPr>
          <a:xfrm>
            <a:off x="5760720" y="2103120"/>
            <a:ext cx="5852160" cy="822960"/>
          </a:xfrm>
          <a:prstGeom prst="roundRect">
            <a:avLst>
              <a:gd name="adj" fmla="val 8000"/>
            </a:avLst>
          </a:prstGeom>
          <a:solidFill>
            <a:srgbClr val="FDE8EA"/>
          </a:solidFill>
          <a:ln w="2540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91440" bIns="91440" wrap="square"/>
          <a:lstStyle/>
          <a:p>
            <a:pPr algn="ctr">
              <a:spcAft>
                <a:spcPts val="400"/>
              </a:spcAft>
            </a:pPr>
            <a:r>
              <a:rPr sz="2000" b="1" i="0">
                <a:solidFill>
                  <a:srgbClr val="8E1220"/>
                </a:solidFill>
                <a:latin typeface="Calibri"/>
              </a:rPr>
              <a:t>Liveness check passes on face A</a:t>
            </a:r>
          </a:p>
        </p:txBody>
      </p:sp>
      <p:cxnSp>
        <p:nvCxnSpPr>
          <p:cNvPr id="8" name="Signed capture arrow"/>
          <p:cNvCxnSpPr/>
          <p:nvPr/>
        </p:nvCxnSpPr>
        <p:spPr>
          <a:xfrm>
            <a:off x="2697480" y="3154680"/>
            <a:ext cx="2971800" cy="0"/>
          </a:xfrm>
          <a:prstGeom prst="line">
            <a:avLst/>
          </a:prstGeom>
          <a:ln w="3175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Signed label"/>
          <p:cNvSpPr txBox="1"/>
          <p:nvPr/>
        </p:nvSpPr>
        <p:spPr>
          <a:xfrm>
            <a:off x="2926080" y="2743200"/>
            <a:ext cx="2743200" cy="365760"/>
          </a:xfrm>
          <a:prstGeom prst="rect">
            <a:avLst/>
          </a:prstGeom>
          <a:noFill/>
        </p:spPr>
        <p:txBody>
          <a:bodyPr wrap="square" anchor="t" lIns="0" rIns="0" tIns="0" bIns="0">
            <a:spAutoFit/>
          </a:bodyPr>
          <a:lstStyle/>
          <a:p>
            <a:pPr algn="ctr">
              <a:lnSpc>
                <a:spcPct val="108000"/>
              </a:lnSpc>
              <a:spcAft>
                <a:spcPts val="600"/>
              </a:spcAft>
            </a:pPr>
            <a:r>
              <a:rPr sz="1600" b="1" i="0">
                <a:solidFill>
                  <a:srgbClr val="1B6E3C"/>
                </a:solidFill>
                <a:latin typeface="Calibri"/>
              </a:rPr>
              <a:t>signed capture</a:t>
            </a:r>
          </a:p>
        </p:txBody>
      </p:sp>
      <p:sp>
        <p:nvSpPr>
          <p:cNvPr id="10" name="Packet stores face B"/>
          <p:cNvSpPr/>
          <p:nvPr/>
        </p:nvSpPr>
        <p:spPr>
          <a:xfrm>
            <a:off x="5760720" y="3017520"/>
            <a:ext cx="5852160" cy="822960"/>
          </a:xfrm>
          <a:prstGeom prst="roundRect">
            <a:avLst>
              <a:gd name="adj" fmla="val 8000"/>
            </a:avLst>
          </a:prstGeom>
          <a:solidFill>
            <a:srgbClr val="FDE8EA"/>
          </a:solidFill>
          <a:ln w="2540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91440" bIns="91440" wrap="square"/>
          <a:lstStyle/>
          <a:p>
            <a:pPr algn="ctr">
              <a:spcAft>
                <a:spcPts val="400"/>
              </a:spcAft>
            </a:pPr>
            <a:r>
              <a:rPr sz="2000" b="1" i="0">
                <a:solidFill>
                  <a:srgbClr val="8E1220"/>
                </a:solidFill>
                <a:latin typeface="Calibri"/>
              </a:rPr>
              <a:t>Registration packet stores face B</a:t>
            </a:r>
          </a:p>
        </p:txBody>
      </p:sp>
      <p:sp>
        <p:nvSpPr>
          <p:cNvPr id="11" name="The four problems"/>
          <p:cNvSpPr txBox="1"/>
          <p:nvPr/>
        </p:nvSpPr>
        <p:spPr>
          <a:xfrm>
            <a:off x="548640" y="4160520"/>
            <a:ext cx="11064240" cy="2103120"/>
          </a:xfrm>
          <a:prstGeom prst="rect">
            <a:avLst/>
          </a:prstGeom>
          <a:noFill/>
        </p:spPr>
        <p:txBody>
          <a:bodyPr wrap="square" anchor="t" lIns="0" rIns="0" tIns="0" bIns="0">
            <a:spAutoFit/>
          </a:bodyPr>
          <a:lstStyle/>
          <a:p>
            <a:pPr algn="l">
              <a:lnSpc>
                <a:spcPct val="108000"/>
              </a:lnSpc>
              <a:spcAft>
                <a:spcPts val="1000"/>
              </a:spcAft>
            </a:pPr>
            <a:r>
              <a:rPr sz="1800" b="1" i="0">
                <a:solidFill>
                  <a:srgbClr val="14202E"/>
                </a:solidFill>
                <a:latin typeface="Calibri"/>
              </a:rPr>
              <a:t>Capture swap: </a:t>
            </a:r>
            <a:r>
              <a:rPr sz="1800" b="0" i="0">
                <a:solidFill>
                  <a:srgbClr val="14202E"/>
                </a:solidFill>
                <a:latin typeface="Calibri"/>
              </a:rPr>
              <a:t>whoever controls the preview can pass liveness with one face and enrol another.</a:t>
            </a:r>
          </a:p>
          <a:p>
            <a:pPr algn="l">
              <a:lnSpc>
                <a:spcPct val="108000"/>
              </a:lnSpc>
              <a:spcAft>
                <a:spcPts val="1000"/>
              </a:spcAft>
            </a:pPr>
            <a:r>
              <a:rPr sz="1800" b="1" i="0">
                <a:solidFill>
                  <a:srgbClr val="14202E"/>
                </a:solidFill>
                <a:latin typeface="Calibri"/>
              </a:rPr>
              <a:t>Android: </a:t>
            </a:r>
            <a:r>
              <a:rPr sz="1800" b="0" i="0">
                <a:solidFill>
                  <a:srgbClr val="14202E"/>
                </a:solidFill>
                <a:latin typeface="Calibri"/>
              </a:rPr>
              <a:t>the client never sees preview frames at all; the device app shows the stream and returns only the signed capture.</a:t>
            </a:r>
          </a:p>
          <a:p>
            <a:pPr algn="l">
              <a:lnSpc>
                <a:spcPct val="108000"/>
              </a:lnSpc>
              <a:spcAft>
                <a:spcPts val="1000"/>
              </a:spcAft>
            </a:pPr>
            <a:r>
              <a:rPr sz="1800" b="1" i="0">
                <a:solidFill>
                  <a:srgbClr val="14202E"/>
                </a:solidFill>
                <a:latin typeface="Calibri"/>
              </a:rPr>
              <a:t>Injected video </a:t>
            </a:r>
            <a:r>
              <a:rPr sz="1800" b="0" i="0">
                <a:solidFill>
                  <a:srgbClr val="14202E"/>
                </a:solidFill>
                <a:latin typeface="Calibri"/>
              </a:rPr>
              <a:t>(OBS, deepfake pipelines) is outside ISO/IEC 30107. </a:t>
            </a:r>
            <a:r>
              <a:rPr sz="1800" b="1" i="0">
                <a:solidFill>
                  <a:srgbClr val="14202E"/>
                </a:solidFill>
                <a:latin typeface="Calibri"/>
              </a:rPr>
              <a:t>Insiders </a:t>
            </a:r>
            <a:r>
              <a:rPr sz="1800" b="0" i="0">
                <a:solidFill>
                  <a:srgbClr val="14202E"/>
                </a:solidFill>
                <a:latin typeface="Calibri"/>
              </a:rPr>
              <a:t>can log in with a supervisor's photo.</a:t>
            </a:r>
          </a:p>
          <a:p>
            <a:pPr algn="l">
              <a:lnSpc>
                <a:spcPct val="108000"/>
              </a:lnSpc>
              <a:spcAft>
                <a:spcPts val="1000"/>
              </a:spcAft>
            </a:pPr>
            <a:r>
              <a:rPr sz="1800" b="1" i="0">
                <a:solidFill>
                  <a:srgbClr val="14202E"/>
                </a:solidFill>
                <a:latin typeface="Calibri"/>
              </a:rPr>
              <a:t>No audit trail: </a:t>
            </a:r>
            <a:r>
              <a:rPr sz="1800" b="0" i="0">
                <a:solidFill>
                  <a:srgbClr val="14202E"/>
                </a:solidFill>
                <a:latin typeface="Calibri"/>
              </a:rPr>
              <a:t>a client-side pass or fail cannot be re-checked by the server later or re-scored with a better model.</a:t>
            </a:r>
          </a:p>
        </p:txBody>
      </p:sp>
      <p:sp>
        <p:nvSpPr>
          <p:cNvPr id="12" name="Footer"/>
          <p:cNvSpPr txBox="1"/>
          <p:nvPr/>
        </p:nvSpPr>
        <p:spPr>
          <a:xfrm>
            <a:off x="548640" y="6400800"/>
            <a:ext cx="7315200" cy="274320"/>
          </a:xfrm>
          <a:prstGeom prst="rect">
            <a:avLst/>
          </a:prstGeom>
          <a:noFill/>
        </p:spPr>
        <p:txBody>
          <a:bodyPr wrap="square" anchor="t" lIns="0" rIns="0" tIns="0" bIns="0">
            <a:spAutoFit/>
          </a:bodyPr>
          <a:lstStyle/>
          <a:p>
            <a:pPr algn="l">
              <a:lnSpc>
                <a:spcPct val="108000"/>
              </a:lnSpc>
              <a:spcAft>
                <a:spcPts val="600"/>
              </a:spcAft>
            </a:pPr>
            <a:r>
              <a:rPr sz="1200" b="0" i="0">
                <a:solidFill>
                  <a:srgbClr val="52606D"/>
                </a:solidFill>
                <a:latin typeface="Calibri"/>
              </a:rPr>
              <a:t>PRAMAAN  ·  MOSIP Decode 2026  ·  PS04</a:t>
            </a:r>
          </a:p>
        </p:txBody>
      </p:sp>
      <p:sp>
        <p:nvSpPr>
          <p:cNvPr id="13" name="Slide number"/>
          <p:cNvSpPr txBox="1"/>
          <p:nvPr/>
        </p:nvSpPr>
        <p:spPr>
          <a:xfrm>
            <a:off x="10698480" y="6400800"/>
            <a:ext cx="914400" cy="274320"/>
          </a:xfrm>
          <a:prstGeom prst="rect">
            <a:avLst/>
          </a:prstGeom>
          <a:noFill/>
        </p:spPr>
        <p:txBody>
          <a:bodyPr wrap="square" anchor="t" lIns="0" rIns="0" tIns="0" bIns="0">
            <a:spAutoFit/>
          </a:bodyPr>
          <a:lstStyle/>
          <a:p>
            <a:pPr algn="r">
              <a:lnSpc>
                <a:spcPct val="108000"/>
              </a:lnSpc>
              <a:spcAft>
                <a:spcPts val="600"/>
              </a:spcAft>
            </a:pPr>
            <a:r>
              <a:rPr sz="1200" b="0" i="0">
                <a:solidFill>
                  <a:srgbClr val="52606D"/>
                </a:solidFill>
                <a:latin typeface="Calibri"/>
              </a:rPr>
              <a:t>2 / 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64240" cy="822960"/>
          </a:xfrm>
          <a:prstGeom prst="rect">
            <a:avLst/>
          </a:prstGeom>
          <a:noFill/>
        </p:spPr>
        <p:txBody>
          <a:bodyPr wrap="square" anchor="t" lIns="0" rIns="0" tIns="0" bIns="0">
            <a:spAutoFit/>
          </a:bodyPr>
          <a:lstStyle/>
          <a:p>
            <a:pPr algn="l">
              <a:lnSpc>
                <a:spcPct val="108000"/>
              </a:lnSpc>
              <a:spcAft>
                <a:spcPts val="600"/>
              </a:spcAft>
            </a:pPr>
            <a:r>
              <a:rPr sz="4000" b="1" i="0">
                <a:solidFill>
                  <a:srgbClr val="1B4F8A"/>
                </a:solidFill>
                <a:latin typeface="Calibri"/>
              </a:rPr>
              <a:t>Our answer: two interfaces, seven questions</a:t>
            </a:r>
          </a:p>
        </p:txBody>
      </p:sp>
      <p:sp>
        <p:nvSpPr>
          <p:cNvPr id="3" name="Subtitle"/>
          <p:cNvSpPr txBox="1"/>
          <p:nvPr/>
        </p:nvSpPr>
        <p:spPr>
          <a:xfrm>
            <a:off x="548640" y="1188720"/>
            <a:ext cx="11064240" cy="685800"/>
          </a:xfrm>
          <a:prstGeom prst="rect">
            <a:avLst/>
          </a:prstGeom>
          <a:noFill/>
        </p:spPr>
        <p:txBody>
          <a:bodyPr wrap="square" anchor="t" lIns="0" rIns="0" tIns="0" bIns="0">
            <a:spAutoFit/>
          </a:bodyPr>
          <a:lstStyle/>
          <a:p>
            <a:pPr algn="l">
              <a:lnSpc>
                <a:spcPct val="108000"/>
              </a:lnSpc>
              <a:spcAft>
                <a:spcPts val="600"/>
              </a:spcAft>
            </a:pPr>
            <a:r>
              <a:rPr sz="1800" b="0" i="0">
                <a:solidFill>
                  <a:srgbClr val="3B4A5A"/>
                </a:solidFill>
                <a:latin typeface="Calibri"/>
              </a:rPr>
              <a:t>The problem statement asks to define the frame-streaming interface and the liveness/PAD interface. We did, and bound them together.</a:t>
            </a:r>
          </a:p>
        </p:txBody>
      </p:sp>
      <p:sp>
        <p:nvSpPr>
          <p:cNvPr id="4" name="FaceFrameSource"/>
          <p:cNvSpPr/>
          <p:nvPr/>
        </p:nvSpPr>
        <p:spPr>
          <a:xfrm>
            <a:off x="548640" y="2011680"/>
            <a:ext cx="5440680" cy="123444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91440" bIns="91440" wrap="square"/>
          <a:lstStyle/>
          <a:p>
            <a:pPr algn="l">
              <a:spcAft>
                <a:spcPts val="400"/>
              </a:spcAft>
            </a:pPr>
            <a:r>
              <a:rPr sz="2000" b="1" i="0">
                <a:solidFill>
                  <a:srgbClr val="173F70"/>
                </a:solidFill>
                <a:latin typeface="Calibri"/>
              </a:rPr>
              <a:t>FaceFrameSource</a:t>
            </a:r>
          </a:p>
          <a:p>
            <a:pPr algn="l">
              <a:spcAft>
                <a:spcPts val="400"/>
              </a:spcAft>
            </a:pPr>
            <a:r>
              <a:rPr sz="1500" b="0" i="0">
                <a:solidFill>
                  <a:srgbClr val="173F70"/>
                </a:solidFill>
                <a:latin typeface="Calibri"/>
              </a:rPr>
              <a:t>frames and the signed capture from the same object, so the capture can be bound to what was watched</a:t>
            </a:r>
          </a:p>
        </p:txBody>
      </p:sp>
      <p:sp>
        <p:nvSpPr>
          <p:cNvPr id="5" name="LivenessEngine"/>
          <p:cNvSpPr/>
          <p:nvPr/>
        </p:nvSpPr>
        <p:spPr>
          <a:xfrm>
            <a:off x="6172200" y="2011680"/>
            <a:ext cx="5440680" cy="123444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91440" bIns="91440" wrap="square"/>
          <a:lstStyle/>
          <a:p>
            <a:pPr algn="l">
              <a:spcAft>
                <a:spcPts val="400"/>
              </a:spcAft>
            </a:pPr>
            <a:r>
              <a:rPr sz="2000" b="1" i="0">
                <a:solidFill>
                  <a:srgbClr val="173F70"/>
                </a:solidFill>
                <a:latin typeface="Calibri"/>
              </a:rPr>
              <a:t>LivenessEngine</a:t>
            </a:r>
          </a:p>
          <a:p>
            <a:pPr algn="l">
              <a:spcAft>
                <a:spcPts val="400"/>
              </a:spcAft>
            </a:pPr>
            <a:r>
              <a:rPr sz="1500" b="0" i="0">
                <a:solidFill>
                  <a:srgbClr val="173F70"/>
                </a:solidFill>
                <a:latin typeface="Calibri"/>
              </a:rPr>
              <a:t>frames in; states, guidance and a decision out; never a score on the screen; fails closed</a:t>
            </a:r>
          </a:p>
        </p:txBody>
      </p:sp>
      <p:sp>
        <p:nvSpPr>
          <p:cNvPr id="6" name="Question 1"/>
          <p:cNvSpPr/>
          <p:nvPr/>
        </p:nvSpPr>
        <p:spPr>
          <a:xfrm>
            <a:off x="548640" y="3520440"/>
            <a:ext cx="1499616" cy="141732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ctr">
              <a:spcAft>
                <a:spcPts val="200"/>
              </a:spcAft>
            </a:pPr>
            <a:r>
              <a:rPr sz="2600" b="1" i="0">
                <a:solidFill>
                  <a:srgbClr val="1B4F8A"/>
                </a:solidFill>
                <a:latin typeface="Calibri"/>
              </a:rPr>
              <a:t>1</a:t>
            </a:r>
          </a:p>
          <a:p>
            <a:pPr algn="ctr">
              <a:spcAft>
                <a:spcPts val="200"/>
              </a:spcAft>
            </a:pPr>
            <a:r>
              <a:rPr sz="1400" b="1" i="0">
                <a:solidFill>
                  <a:srgbClr val="173F70"/>
                </a:solidFill>
                <a:latin typeface="Calibri"/>
              </a:rPr>
              <a:t>Real sensor?</a:t>
            </a:r>
          </a:p>
          <a:p>
            <a:pPr algn="ctr">
              <a:spcAft>
                <a:spcPts val="200"/>
              </a:spcAft>
            </a:pPr>
            <a:r>
              <a:rPr sz="1300" b="0" i="0">
                <a:solidFill>
                  <a:srgbClr val="173F70"/>
                </a:solidFill>
                <a:latin typeface="Calibri"/>
              </a:rPr>
              <a:t>source integrity</a:t>
            </a:r>
          </a:p>
        </p:txBody>
      </p:sp>
      <p:sp>
        <p:nvSpPr>
          <p:cNvPr id="7" name="Question 2"/>
          <p:cNvSpPr/>
          <p:nvPr/>
        </p:nvSpPr>
        <p:spPr>
          <a:xfrm>
            <a:off x="2139696" y="3520440"/>
            <a:ext cx="1499616" cy="141732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ctr">
              <a:spcAft>
                <a:spcPts val="200"/>
              </a:spcAft>
            </a:pPr>
            <a:r>
              <a:rPr sz="2600" b="1" i="0">
                <a:solidFill>
                  <a:srgbClr val="1B4F8A"/>
                </a:solidFill>
                <a:latin typeface="Calibri"/>
              </a:rPr>
              <a:t>2</a:t>
            </a:r>
          </a:p>
          <a:p>
            <a:pPr algn="ctr">
              <a:spcAft>
                <a:spcPts val="200"/>
              </a:spcAft>
            </a:pPr>
            <a:r>
              <a:rPr sz="1400" b="1" i="0">
                <a:solidFill>
                  <a:srgbClr val="173F70"/>
                </a:solidFill>
                <a:latin typeface="Calibri"/>
              </a:rPr>
              <a:t>One usable face</a:t>
            </a:r>
          </a:p>
          <a:p>
            <a:pPr algn="ctr">
              <a:spcAft>
                <a:spcPts val="200"/>
              </a:spcAft>
            </a:pPr>
            <a:r>
              <a:rPr sz="1300" b="0" i="0">
                <a:solidFill>
                  <a:srgbClr val="173F70"/>
                </a:solidFill>
                <a:latin typeface="Calibri"/>
              </a:rPr>
              <a:t>quality gate</a:t>
            </a:r>
          </a:p>
        </p:txBody>
      </p:sp>
      <p:sp>
        <p:nvSpPr>
          <p:cNvPr id="8" name="Question 3"/>
          <p:cNvSpPr/>
          <p:nvPr/>
        </p:nvSpPr>
        <p:spPr>
          <a:xfrm>
            <a:off x="3730752" y="3520440"/>
            <a:ext cx="1499616" cy="141732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ctr">
              <a:spcAft>
                <a:spcPts val="200"/>
              </a:spcAft>
            </a:pPr>
            <a:r>
              <a:rPr sz="2600" b="1" i="0">
                <a:solidFill>
                  <a:srgbClr val="1B4F8A"/>
                </a:solidFill>
                <a:latin typeface="Calibri"/>
              </a:rPr>
              <a:t>3</a:t>
            </a:r>
          </a:p>
          <a:p>
            <a:pPr algn="ctr">
              <a:spcAft>
                <a:spcPts val="200"/>
              </a:spcAft>
            </a:pPr>
            <a:r>
              <a:rPr sz="1400" b="1" i="0">
                <a:solidFill>
                  <a:srgbClr val="173F70"/>
                </a:solidFill>
                <a:latin typeface="Calibri"/>
              </a:rPr>
              <a:t>Looks alive?</a:t>
            </a:r>
          </a:p>
          <a:p>
            <a:pPr algn="ctr">
              <a:spcAft>
                <a:spcPts val="200"/>
              </a:spcAft>
            </a:pPr>
            <a:r>
              <a:rPr sz="1300" b="0" i="0">
                <a:solidFill>
                  <a:srgbClr val="173F70"/>
                </a:solidFill>
                <a:latin typeface="Calibri"/>
              </a:rPr>
              <a:t>passive, asks nothing</a:t>
            </a:r>
          </a:p>
        </p:txBody>
      </p:sp>
      <p:sp>
        <p:nvSpPr>
          <p:cNvPr id="9" name="Question 4"/>
          <p:cNvSpPr/>
          <p:nvPr/>
        </p:nvSpPr>
        <p:spPr>
          <a:xfrm>
            <a:off x="5321807" y="3520440"/>
            <a:ext cx="1499616" cy="141732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ctr">
              <a:spcAft>
                <a:spcPts val="200"/>
              </a:spcAft>
            </a:pPr>
            <a:r>
              <a:rPr sz="2600" b="1" i="0">
                <a:solidFill>
                  <a:srgbClr val="1B4F8A"/>
                </a:solidFill>
                <a:latin typeface="Calibri"/>
              </a:rPr>
              <a:t>4</a:t>
            </a:r>
          </a:p>
          <a:p>
            <a:pPr algn="ctr">
              <a:spcAft>
                <a:spcPts val="200"/>
              </a:spcAft>
            </a:pPr>
            <a:r>
              <a:rPr sz="1400" b="1" i="0">
                <a:solidFill>
                  <a:srgbClr val="173F70"/>
                </a:solidFill>
                <a:latin typeface="Calibri"/>
              </a:rPr>
              <a:t>Attack marks?</a:t>
            </a:r>
          </a:p>
          <a:p>
            <a:pPr algn="ctr">
              <a:spcAft>
                <a:spcPts val="200"/>
              </a:spcAft>
            </a:pPr>
            <a:r>
              <a:rPr sz="1300" b="0" i="0">
                <a:solidFill>
                  <a:srgbClr val="173F70"/>
                </a:solidFill>
                <a:latin typeface="Calibri"/>
              </a:rPr>
              <a:t>print, screen, flat</a:t>
            </a:r>
          </a:p>
        </p:txBody>
      </p:sp>
      <p:sp>
        <p:nvSpPr>
          <p:cNvPr id="10" name="Question 5"/>
          <p:cNvSpPr/>
          <p:nvPr/>
        </p:nvSpPr>
        <p:spPr>
          <a:xfrm>
            <a:off x="6912864" y="3520440"/>
            <a:ext cx="1499616" cy="141732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ctr">
              <a:spcAft>
                <a:spcPts val="200"/>
              </a:spcAft>
            </a:pPr>
            <a:r>
              <a:rPr sz="2600" b="1" i="0">
                <a:solidFill>
                  <a:srgbClr val="1B4F8A"/>
                </a:solidFill>
                <a:latin typeface="Calibri"/>
              </a:rPr>
              <a:t>5</a:t>
            </a:r>
          </a:p>
          <a:p>
            <a:pPr algn="ctr">
              <a:spcAft>
                <a:spcPts val="200"/>
              </a:spcAft>
            </a:pPr>
            <a:r>
              <a:rPr sz="1400" b="1" i="0">
                <a:solidFill>
                  <a:srgbClr val="173F70"/>
                </a:solidFill>
                <a:latin typeface="Calibri"/>
              </a:rPr>
              <a:t>Fusion</a:t>
            </a:r>
          </a:p>
          <a:p>
            <a:pPr algn="ctr">
              <a:spcAft>
                <a:spcPts val="200"/>
              </a:spcAft>
            </a:pPr>
            <a:r>
              <a:rPr sz="1300" b="0" i="0">
                <a:solidFill>
                  <a:srgbClr val="173F70"/>
                </a:solidFill>
                <a:latin typeface="Calibri"/>
              </a:rPr>
              <a:t>accept / challenge / reject</a:t>
            </a:r>
          </a:p>
        </p:txBody>
      </p:sp>
      <p:sp>
        <p:nvSpPr>
          <p:cNvPr id="11" name="Question 6"/>
          <p:cNvSpPr/>
          <p:nvPr/>
        </p:nvSpPr>
        <p:spPr>
          <a:xfrm>
            <a:off x="8503919" y="3520440"/>
            <a:ext cx="1499616" cy="141732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ctr">
              <a:spcAft>
                <a:spcPts val="200"/>
              </a:spcAft>
            </a:pPr>
            <a:r>
              <a:rPr sz="2600" b="1" i="0">
                <a:solidFill>
                  <a:srgbClr val="1B4F8A"/>
                </a:solidFill>
                <a:latin typeface="Calibri"/>
              </a:rPr>
              <a:t>6</a:t>
            </a:r>
          </a:p>
          <a:p>
            <a:pPr algn="ctr">
              <a:spcAft>
                <a:spcPts val="200"/>
              </a:spcAft>
            </a:pPr>
            <a:r>
              <a:rPr sz="1400" b="1" i="0">
                <a:solidFill>
                  <a:srgbClr val="173F70"/>
                </a:solidFill>
                <a:latin typeface="Calibri"/>
              </a:rPr>
              <a:t>Live answer?</a:t>
            </a:r>
          </a:p>
          <a:p>
            <a:pPr algn="ctr">
              <a:spcAft>
                <a:spcPts val="200"/>
              </a:spcAft>
            </a:pPr>
            <a:r>
              <a:rPr sz="1300" b="0" i="0">
                <a:solidFill>
                  <a:srgbClr val="173F70"/>
                </a:solidFill>
                <a:latin typeface="Calibri"/>
              </a:rPr>
              <a:t>random challenge</a:t>
            </a:r>
          </a:p>
        </p:txBody>
      </p:sp>
      <p:sp>
        <p:nvSpPr>
          <p:cNvPr id="12" name="Question 7"/>
          <p:cNvSpPr/>
          <p:nvPr/>
        </p:nvSpPr>
        <p:spPr>
          <a:xfrm>
            <a:off x="10094976" y="3520440"/>
            <a:ext cx="1499616" cy="1417320"/>
          </a:xfrm>
          <a:prstGeom prst="roundRect">
            <a:avLst>
              <a:gd name="adj" fmla="val 8000"/>
            </a:avLst>
          </a:prstGeom>
          <a:solidFill>
            <a:srgbClr val="E6F4EA"/>
          </a:solidFill>
          <a:ln w="254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ctr">
              <a:spcAft>
                <a:spcPts val="200"/>
              </a:spcAft>
            </a:pPr>
            <a:r>
              <a:rPr sz="2600" b="1" i="0">
                <a:solidFill>
                  <a:srgbClr val="1B6E3C"/>
                </a:solidFill>
                <a:latin typeface="Calibri"/>
              </a:rPr>
              <a:t>7</a:t>
            </a:r>
          </a:p>
          <a:p>
            <a:pPr algn="ctr">
              <a:spcAft>
                <a:spcPts val="200"/>
              </a:spcAft>
            </a:pPr>
            <a:r>
              <a:rPr sz="1400" b="1" i="0">
                <a:solidFill>
                  <a:srgbClr val="1B6E3C"/>
                </a:solidFill>
                <a:latin typeface="Calibri"/>
              </a:rPr>
              <a:t>Same face?</a:t>
            </a:r>
          </a:p>
          <a:p>
            <a:pPr algn="ctr">
              <a:spcAft>
                <a:spcPts val="200"/>
              </a:spcAft>
            </a:pPr>
            <a:r>
              <a:rPr sz="1300" b="0" i="0">
                <a:solidFill>
                  <a:srgbClr val="1B6E3C"/>
                </a:solidFill>
                <a:latin typeface="Calibri"/>
              </a:rPr>
              <a:t>binding + signed evidence</a:t>
            </a:r>
          </a:p>
        </p:txBody>
      </p:sp>
      <p:sp>
        <p:nvSpPr>
          <p:cNvPr id="13" name="Deployment modes"/>
          <p:cNvSpPr txBox="1"/>
          <p:nvPr/>
        </p:nvSpPr>
        <p:spPr>
          <a:xfrm>
            <a:off x="548640" y="5212080"/>
            <a:ext cx="11064240" cy="1097280"/>
          </a:xfrm>
          <a:prstGeom prst="rect">
            <a:avLst/>
          </a:prstGeom>
          <a:noFill/>
        </p:spPr>
        <p:txBody>
          <a:bodyPr wrap="square" anchor="t" lIns="0" rIns="0" tIns="0" bIns="0">
            <a:spAutoFit/>
          </a:bodyPr>
          <a:lstStyle/>
          <a:p>
            <a:pPr algn="l">
              <a:lnSpc>
                <a:spcPct val="108000"/>
              </a:lnSpc>
              <a:spcAft>
                <a:spcPts val="800"/>
              </a:spcAft>
            </a:pPr>
            <a:r>
              <a:rPr sz="1600" b="1" i="0">
                <a:solidFill>
                  <a:srgbClr val="14202E"/>
                </a:solidFill>
                <a:latin typeface="Calibri"/>
              </a:rPr>
              <a:t>Mode C (desktop): </a:t>
            </a:r>
            <a:r>
              <a:rPr sz="1600" b="0" i="0">
                <a:solidFill>
                  <a:srgbClr val="14202E"/>
                </a:solidFill>
                <a:latin typeface="Calibri"/>
              </a:rPr>
              <a:t>the engine runs in the client, on the unsigned M-JPEG stream (3 fps guaranteed, so every cue is gated on the measured frame rate).</a:t>
            </a:r>
          </a:p>
          <a:p>
            <a:pPr algn="l">
              <a:lnSpc>
                <a:spcPct val="108000"/>
              </a:lnSpc>
              <a:spcAft>
                <a:spcPts val="800"/>
              </a:spcAft>
            </a:pPr>
            <a:r>
              <a:rPr sz="1600" b="1" i="0">
                <a:solidFill>
                  <a:srgbClr val="14202E"/>
                </a:solidFill>
                <a:latin typeface="Calibri"/>
              </a:rPr>
              <a:t>Mode D (Android): </a:t>
            </a:r>
            <a:r>
              <a:rPr sz="1600" b="0" i="0">
                <a:solidFill>
                  <a:srgbClr val="14202E"/>
                </a:solidFill>
                <a:latin typeface="Calibri"/>
              </a:rPr>
              <a:t>the engine ships as a library inside the SBI device app, where the frames actually are.</a:t>
            </a:r>
          </a:p>
        </p:txBody>
      </p:sp>
      <p:sp>
        <p:nvSpPr>
          <p:cNvPr id="14" name="Footer"/>
          <p:cNvSpPr txBox="1"/>
          <p:nvPr/>
        </p:nvSpPr>
        <p:spPr>
          <a:xfrm>
            <a:off x="548640" y="6400800"/>
            <a:ext cx="7315200" cy="274320"/>
          </a:xfrm>
          <a:prstGeom prst="rect">
            <a:avLst/>
          </a:prstGeom>
          <a:noFill/>
        </p:spPr>
        <p:txBody>
          <a:bodyPr wrap="square" anchor="t" lIns="0" rIns="0" tIns="0" bIns="0">
            <a:spAutoFit/>
          </a:bodyPr>
          <a:lstStyle/>
          <a:p>
            <a:pPr algn="l">
              <a:lnSpc>
                <a:spcPct val="108000"/>
              </a:lnSpc>
              <a:spcAft>
                <a:spcPts val="600"/>
              </a:spcAft>
            </a:pPr>
            <a:r>
              <a:rPr sz="1200" b="0" i="0">
                <a:solidFill>
                  <a:srgbClr val="52606D"/>
                </a:solidFill>
                <a:latin typeface="Calibri"/>
              </a:rPr>
              <a:t>PRAMAAN  ·  MOSIP Decode 2026  ·  PS04</a:t>
            </a:r>
          </a:p>
        </p:txBody>
      </p:sp>
      <p:sp>
        <p:nvSpPr>
          <p:cNvPr id="15" name="Slide number"/>
          <p:cNvSpPr txBox="1"/>
          <p:nvPr/>
        </p:nvSpPr>
        <p:spPr>
          <a:xfrm>
            <a:off x="10698480" y="6400800"/>
            <a:ext cx="914400" cy="274320"/>
          </a:xfrm>
          <a:prstGeom prst="rect">
            <a:avLst/>
          </a:prstGeom>
          <a:noFill/>
        </p:spPr>
        <p:txBody>
          <a:bodyPr wrap="square" anchor="t" lIns="0" rIns="0" tIns="0" bIns="0">
            <a:spAutoFit/>
          </a:bodyPr>
          <a:lstStyle/>
          <a:p>
            <a:pPr algn="r">
              <a:lnSpc>
                <a:spcPct val="108000"/>
              </a:lnSpc>
              <a:spcAft>
                <a:spcPts val="600"/>
              </a:spcAft>
            </a:pPr>
            <a:r>
              <a:rPr sz="1200" b="0" i="0">
                <a:solidFill>
                  <a:srgbClr val="52606D"/>
                </a:solidFill>
                <a:latin typeface="Calibri"/>
              </a:rPr>
              <a:t>3 / 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64240" cy="822960"/>
          </a:xfrm>
          <a:prstGeom prst="rect">
            <a:avLst/>
          </a:prstGeom>
          <a:noFill/>
        </p:spPr>
        <p:txBody>
          <a:bodyPr wrap="square" anchor="t" lIns="0" rIns="0" tIns="0" bIns="0">
            <a:spAutoFit/>
          </a:bodyPr>
          <a:lstStyle/>
          <a:p>
            <a:pPr algn="l">
              <a:lnSpc>
                <a:spcPct val="108000"/>
              </a:lnSpc>
              <a:spcAft>
                <a:spcPts val="600"/>
              </a:spcAft>
            </a:pPr>
            <a:r>
              <a:rPr sz="4000" b="1" i="0">
                <a:solidFill>
                  <a:srgbClr val="1B4F8A"/>
                </a:solidFill>
                <a:latin typeface="Calibri"/>
              </a:rPr>
              <a:t>What is different</a:t>
            </a:r>
          </a:p>
        </p:txBody>
      </p:sp>
      <p:sp>
        <p:nvSpPr>
          <p:cNvPr id="3" name="Subtitle"/>
          <p:cNvSpPr txBox="1"/>
          <p:nvPr/>
        </p:nvSpPr>
        <p:spPr>
          <a:xfrm>
            <a:off x="548640" y="1188720"/>
            <a:ext cx="11064240" cy="685800"/>
          </a:xfrm>
          <a:prstGeom prst="rect">
            <a:avLst/>
          </a:prstGeom>
          <a:noFill/>
        </p:spPr>
        <p:txBody>
          <a:bodyPr wrap="square" anchor="t" lIns="0" rIns="0" tIns="0" bIns="0">
            <a:spAutoFit/>
          </a:bodyPr>
          <a:lstStyle/>
          <a:p>
            <a:pPr algn="l">
              <a:lnSpc>
                <a:spcPct val="108000"/>
              </a:lnSpc>
              <a:spcAft>
                <a:spcPts val="600"/>
              </a:spcAft>
            </a:pPr>
            <a:r>
              <a:rPr sz="1800" b="0" i="0">
                <a:solidFill>
                  <a:srgbClr val="3B4A5A"/>
                </a:solidFill>
                <a:latin typeface="Calibri"/>
              </a:rPr>
              <a:t>Each idea is built and tested. None is claimed beyond what the claim sheet allows.</a:t>
            </a:r>
          </a:p>
        </p:txBody>
      </p:sp>
      <p:sp>
        <p:nvSpPr>
          <p:cNvPr id="4" name="Card: Capture binding"/>
          <p:cNvSpPr/>
          <p:nvPr/>
        </p:nvSpPr>
        <p:spPr>
          <a:xfrm>
            <a:off x="548640" y="2057400"/>
            <a:ext cx="3566160" cy="196596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l">
              <a:spcAft>
                <a:spcPts val="600"/>
              </a:spcAft>
            </a:pPr>
            <a:r>
              <a:rPr sz="2000" b="1" i="0">
                <a:solidFill>
                  <a:srgbClr val="1B4F8A"/>
                </a:solidFill>
                <a:latin typeface="Calibri"/>
              </a:rPr>
              <a:t>Capture binding</a:t>
            </a:r>
          </a:p>
          <a:p>
            <a:pPr algn="l">
              <a:spcAft>
                <a:spcPts val="600"/>
              </a:spcAft>
            </a:pPr>
            <a:r>
              <a:rPr sz="1500" b="0" i="0">
                <a:solidFill>
                  <a:srgbClr val="14202E"/>
                </a:solidFill>
                <a:latin typeface="Calibri"/>
              </a:rPr>
              <a:t>Four locks before any accept: nonce echoed in the device-signed capture, frame hash chain, identity continuity, time. Works on unmodified SBI.</a:t>
            </a:r>
          </a:p>
        </p:txBody>
      </p:sp>
      <p:sp>
        <p:nvSpPr>
          <p:cNvPr id="5" name="Card: Evidence, not a verdict"/>
          <p:cNvSpPr/>
          <p:nvPr/>
        </p:nvSpPr>
        <p:spPr>
          <a:xfrm>
            <a:off x="4297679" y="2057400"/>
            <a:ext cx="3566160" cy="196596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l">
              <a:spcAft>
                <a:spcPts val="600"/>
              </a:spcAft>
            </a:pPr>
            <a:r>
              <a:rPr sz="2000" b="1" i="0">
                <a:solidFill>
                  <a:srgbClr val="1B4F8A"/>
                </a:solidFill>
                <a:latin typeface="Calibri"/>
              </a:rPr>
              <a:t>Evidence, not a verdict</a:t>
            </a:r>
          </a:p>
          <a:p>
            <a:pPr algn="l">
              <a:spcAft>
                <a:spcPts val="600"/>
              </a:spcAft>
            </a:pPr>
            <a:r>
              <a:rPr sz="1500" b="0" i="0">
                <a:solidFill>
                  <a:srgbClr val="14202E"/>
                </a:solidFill>
                <a:latin typeface="Calibri"/>
              </a:rPr>
              <a:t>A signed JWS in the face BIR. One command re-verifies it; a newer model can re-score stored crops. Merkle transparency log.</a:t>
            </a:r>
          </a:p>
        </p:txBody>
      </p:sp>
      <p:sp>
        <p:nvSpPr>
          <p:cNvPr id="6" name="Card: Cues that fail differently"/>
          <p:cNvSpPr/>
          <p:nvPr/>
        </p:nvSpPr>
        <p:spPr>
          <a:xfrm>
            <a:off x="8046719" y="2057400"/>
            <a:ext cx="3566160" cy="196596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l">
              <a:spcAft>
                <a:spcPts val="600"/>
              </a:spcAft>
            </a:pPr>
            <a:r>
              <a:rPr sz="2000" b="1" i="0">
                <a:solidFill>
                  <a:srgbClr val="1B4F8A"/>
                </a:solidFill>
                <a:latin typeface="Calibri"/>
              </a:rPr>
              <a:t>Cues that fail differently</a:t>
            </a:r>
          </a:p>
          <a:p>
            <a:pPr algn="l">
              <a:spcAft>
                <a:spcPts val="600"/>
              </a:spcAft>
            </a:pPr>
            <a:r>
              <a:rPr sz="1500" b="0" i="0">
                <a:solidFill>
                  <a:srgbClr val="14202E"/>
                </a:solidFill>
                <a:latin typeface="Calibri"/>
              </a:rPr>
              <a:t>Passive, moiré, flash reflection (20.7-bit random colour code), scene, stereo. Each abstains when the station lacks the hardware.</a:t>
            </a:r>
          </a:p>
        </p:txBody>
      </p:sp>
      <p:sp>
        <p:nvSpPr>
          <p:cNvPr id="7" name="Card: Injection defence"/>
          <p:cNvSpPr/>
          <p:nvPr/>
        </p:nvSpPr>
        <p:spPr>
          <a:xfrm>
            <a:off x="548640" y="4251960"/>
            <a:ext cx="3566160" cy="196596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l">
              <a:spcAft>
                <a:spcPts val="600"/>
              </a:spcAft>
            </a:pPr>
            <a:r>
              <a:rPr sz="2000" b="1" i="0">
                <a:solidFill>
                  <a:srgbClr val="1B4F8A"/>
                </a:solidFill>
                <a:latin typeface="Calibri"/>
              </a:rPr>
              <a:t>Injection defence</a:t>
            </a:r>
          </a:p>
          <a:p>
            <a:pPr algn="l">
              <a:spcAft>
                <a:spcPts val="600"/>
              </a:spcAft>
            </a:pPr>
            <a:r>
              <a:rPr sz="1500" b="0" i="0">
                <a:solidFill>
                  <a:srgbClr val="14202E"/>
                </a:solidFill>
                <a:latin typeface="Calibri"/>
              </a:rPr>
              <a:t>Device identity chain, OS camera registrations (OBS found via DirectShow), JPEG stream fingerprint. Not a renamed-driver defence.</a:t>
            </a:r>
          </a:p>
        </p:txBody>
      </p:sp>
      <p:sp>
        <p:nvSpPr>
          <p:cNvPr id="8" name="Card: Inclusion by design"/>
          <p:cNvSpPr/>
          <p:nvPr/>
        </p:nvSpPr>
        <p:spPr>
          <a:xfrm>
            <a:off x="4297679" y="4251960"/>
            <a:ext cx="3566160" cy="196596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l">
              <a:spcAft>
                <a:spcPts val="600"/>
              </a:spcAft>
            </a:pPr>
            <a:r>
              <a:rPr sz="2000" b="1" i="0">
                <a:solidFill>
                  <a:srgbClr val="1B4F8A"/>
                </a:solidFill>
                <a:latin typeface="Calibri"/>
              </a:rPr>
              <a:t>Inclusion by design</a:t>
            </a:r>
          </a:p>
          <a:p>
            <a:pPr algn="l">
              <a:spcAft>
                <a:spcPts val="600"/>
              </a:spcAft>
            </a:pPr>
            <a:r>
              <a:rPr sz="1500" b="0" i="0">
                <a:solidFill>
                  <a:srgbClr val="14202E"/>
                </a:solidFill>
                <a:latin typeface="Calibri"/>
              </a:rPr>
              <a:t>Blink, pulse and pupil reflex only ever vote for life. Hindi, icons, speech, accessibility profiles, infant mode, dual-control exceptions.</a:t>
            </a:r>
          </a:p>
        </p:txBody>
      </p:sp>
      <p:sp>
        <p:nvSpPr>
          <p:cNvPr id="9" name="Card: An SBI proposal"/>
          <p:cNvSpPr/>
          <p:nvPr/>
        </p:nvSpPr>
        <p:spPr>
          <a:xfrm>
            <a:off x="8046719" y="4251960"/>
            <a:ext cx="3566160" cy="1965960"/>
          </a:xfrm>
          <a:prstGeom prst="roundRect">
            <a:avLst>
              <a:gd name="adj" fmla="val 8000"/>
            </a:avLst>
          </a:prstGeom>
          <a:solidFill>
            <a:srgbClr val="E7EFF8"/>
          </a:solidFill>
          <a:ln w="25400">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l">
              <a:spcAft>
                <a:spcPts val="600"/>
              </a:spcAft>
            </a:pPr>
            <a:r>
              <a:rPr sz="2000" b="1" i="0">
                <a:solidFill>
                  <a:srgbClr val="1B4F8A"/>
                </a:solidFill>
                <a:latin typeface="Calibri"/>
              </a:rPr>
              <a:t>An SBI proposal</a:t>
            </a:r>
          </a:p>
          <a:p>
            <a:pPr algn="l">
              <a:spcAft>
                <a:spcPts val="600"/>
              </a:spcAft>
            </a:pPr>
            <a:r>
              <a:rPr sz="1500" b="0" i="0">
                <a:solidFill>
                  <a:srgbClr val="14202E"/>
                </a:solidFill>
                <a:latin typeface="Calibri"/>
              </a:rPr>
              <a:t>An optional Liveness Profile (signed preview, signed light log, signed burst) with a runnable reference device. Our own draft; not yet posted to MOSIP.</a:t>
            </a:r>
          </a:p>
        </p:txBody>
      </p:sp>
      <p:sp>
        <p:nvSpPr>
          <p:cNvPr id="10" name="Footer"/>
          <p:cNvSpPr txBox="1"/>
          <p:nvPr/>
        </p:nvSpPr>
        <p:spPr>
          <a:xfrm>
            <a:off x="548640" y="6400800"/>
            <a:ext cx="7315200" cy="274320"/>
          </a:xfrm>
          <a:prstGeom prst="rect">
            <a:avLst/>
          </a:prstGeom>
          <a:noFill/>
        </p:spPr>
        <p:txBody>
          <a:bodyPr wrap="square" anchor="t" lIns="0" rIns="0" tIns="0" bIns="0">
            <a:spAutoFit/>
          </a:bodyPr>
          <a:lstStyle/>
          <a:p>
            <a:pPr algn="l">
              <a:lnSpc>
                <a:spcPct val="108000"/>
              </a:lnSpc>
              <a:spcAft>
                <a:spcPts val="600"/>
              </a:spcAft>
            </a:pPr>
            <a:r>
              <a:rPr sz="1200" b="0" i="0">
                <a:solidFill>
                  <a:srgbClr val="52606D"/>
                </a:solidFill>
                <a:latin typeface="Calibri"/>
              </a:rPr>
              <a:t>PRAMAAN  ·  MOSIP Decode 2026  ·  PS04</a:t>
            </a:r>
          </a:p>
        </p:txBody>
      </p:sp>
      <p:sp>
        <p:nvSpPr>
          <p:cNvPr id="11" name="Slide number"/>
          <p:cNvSpPr txBox="1"/>
          <p:nvPr/>
        </p:nvSpPr>
        <p:spPr>
          <a:xfrm>
            <a:off x="10698480" y="6400800"/>
            <a:ext cx="914400" cy="274320"/>
          </a:xfrm>
          <a:prstGeom prst="rect">
            <a:avLst/>
          </a:prstGeom>
          <a:noFill/>
        </p:spPr>
        <p:txBody>
          <a:bodyPr wrap="square" anchor="t" lIns="0" rIns="0" tIns="0" bIns="0">
            <a:spAutoFit/>
          </a:bodyPr>
          <a:lstStyle/>
          <a:p>
            <a:pPr algn="r">
              <a:lnSpc>
                <a:spcPct val="108000"/>
              </a:lnSpc>
              <a:spcAft>
                <a:spcPts val="600"/>
              </a:spcAft>
            </a:pPr>
            <a:r>
              <a:rPr sz="1200" b="0" i="0">
                <a:solidFill>
                  <a:srgbClr val="52606D"/>
                </a:solidFill>
                <a:latin typeface="Calibri"/>
              </a:rPr>
              <a:t>4 / 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64240" cy="822960"/>
          </a:xfrm>
          <a:prstGeom prst="rect">
            <a:avLst/>
          </a:prstGeom>
          <a:noFill/>
        </p:spPr>
        <p:txBody>
          <a:bodyPr wrap="square" anchor="t" lIns="0" rIns="0" tIns="0" bIns="0">
            <a:spAutoFit/>
          </a:bodyPr>
          <a:lstStyle/>
          <a:p>
            <a:pPr algn="l">
              <a:lnSpc>
                <a:spcPct val="108000"/>
              </a:lnSpc>
              <a:spcAft>
                <a:spcPts val="600"/>
              </a:spcAft>
            </a:pPr>
            <a:r>
              <a:rPr sz="4000" b="1" i="0">
                <a:solidFill>
                  <a:srgbClr val="1B4F8A"/>
                </a:solidFill>
                <a:latin typeface="Calibri"/>
              </a:rPr>
              <a:t>The station, as built</a:t>
            </a:r>
          </a:p>
        </p:txBody>
      </p:sp>
      <p:sp>
        <p:nvSpPr>
          <p:cNvPr id="3" name="Subtitle"/>
          <p:cNvSpPr txBox="1"/>
          <p:nvPr/>
        </p:nvSpPr>
        <p:spPr>
          <a:xfrm>
            <a:off x="548640" y="1188720"/>
            <a:ext cx="11064240" cy="685800"/>
          </a:xfrm>
          <a:prstGeom prst="rect">
            <a:avLst/>
          </a:prstGeom>
          <a:noFill/>
        </p:spPr>
        <p:txBody>
          <a:bodyPr wrap="square" anchor="t" lIns="0" rIns="0" tIns="0" bIns="0">
            <a:spAutoFit/>
          </a:bodyPr>
          <a:lstStyle/>
          <a:p>
            <a:pPr algn="l">
              <a:lnSpc>
                <a:spcPct val="108000"/>
              </a:lnSpc>
              <a:spcAft>
                <a:spcPts val="600"/>
              </a:spcAft>
            </a:pPr>
            <a:r>
              <a:rPr sz="1800" b="0" i="0">
                <a:solidFill>
                  <a:srgbClr val="3B4A5A"/>
                </a:solidFill>
                <a:latin typeface="Calibri"/>
              </a:rPr>
              <a:t>Rendered from the real code, offscreen. One plain sentence, an icon, no score. No live camera in these images.</a:t>
            </a:r>
          </a:p>
        </p:txBody>
      </p:sp>
      <p:pic>
        <p:nvPicPr>
          <p:cNvPr id="4" name="Screenshot: resident capture" descr="The resident capture screen mid-challenge: a step rail on the left, a camera area with a face oval and an arrow for a head turn, one plain instruction below it, and the operator's task panel on the right. The camera area shows a placeholder because no camera is connected."/>
          <p:cNvPicPr>
            <a:picLocks noChangeAspect="1"/>
          </p:cNvPicPr>
          <p:nvPr/>
        </p:nvPicPr>
        <p:blipFill>
          <a:blip r:embed="rId2"/>
          <a:stretch>
            <a:fillRect/>
          </a:stretch>
        </p:blipFill>
        <p:spPr>
          <a:xfrm>
            <a:off x="548640" y="1965960"/>
            <a:ext cx="5486400" cy="3429000"/>
          </a:xfrm>
          <a:prstGeom prst="rect">
            <a:avLst/>
          </a:prstGeom>
          <a:ln w="12700">
            <a:solidFill>
              <a:srgbClr val="CFD6DD"/>
            </a:solidFill>
          </a:ln>
        </p:spPr>
      </p:pic>
      <p:pic>
        <p:nvPicPr>
          <p:cNvPr id="5" name="Screenshot: Hindi" descr="The same screen in Hindi, with the larger-text and high-contrast switches in the header."/>
          <p:cNvPicPr>
            <a:picLocks noChangeAspect="1"/>
          </p:cNvPicPr>
          <p:nvPr/>
        </p:nvPicPr>
        <p:blipFill>
          <a:blip r:embed="rId3"/>
          <a:stretch>
            <a:fillRect/>
          </a:stretch>
        </p:blipFill>
        <p:spPr>
          <a:xfrm>
            <a:off x="6172200" y="1965960"/>
            <a:ext cx="5486400" cy="3429000"/>
          </a:xfrm>
          <a:prstGeom prst="rect">
            <a:avLst/>
          </a:prstGeom>
          <a:ln w="12700">
            <a:solidFill>
              <a:srgbClr val="CFD6DD"/>
            </a:solidFill>
          </a:ln>
        </p:spPr>
      </p:pic>
      <p:sp>
        <p:nvSpPr>
          <p:cNvPr id="6" name="Caption left"/>
          <p:cNvSpPr txBox="1"/>
          <p:nvPr/>
        </p:nvSpPr>
        <p:spPr>
          <a:xfrm>
            <a:off x="548640" y="5440680"/>
            <a:ext cx="5486400" cy="822960"/>
          </a:xfrm>
          <a:prstGeom prst="rect">
            <a:avLst/>
          </a:prstGeom>
          <a:noFill/>
        </p:spPr>
        <p:txBody>
          <a:bodyPr wrap="square" anchor="t" lIns="0" rIns="0" tIns="0" bIns="0">
            <a:spAutoFit/>
          </a:bodyPr>
          <a:lstStyle/>
          <a:p>
            <a:pPr algn="l">
              <a:lnSpc>
                <a:spcPct val="108000"/>
              </a:lnSpc>
              <a:spcAft>
                <a:spcPts val="600"/>
              </a:spcAft>
            </a:pPr>
            <a:r>
              <a:rPr sz="1400" b="1" i="0">
                <a:solidFill>
                  <a:srgbClr val="3B4A5A"/>
                </a:solidFill>
                <a:latin typeface="Calibri"/>
              </a:rPr>
              <a:t>Resident capture. </a:t>
            </a:r>
            <a:r>
              <a:rPr sz="1400" b="0" i="0">
                <a:solidFill>
                  <a:srgbClr val="3B4A5A"/>
                </a:solidFill>
                <a:latin typeface="Calibri"/>
              </a:rPr>
              <a:t>Step rail, one instruction, the Offline chip, the scaffold labelled as a scaffold.</a:t>
            </a:r>
          </a:p>
        </p:txBody>
      </p:sp>
      <p:sp>
        <p:nvSpPr>
          <p:cNvPr id="7" name="Caption right"/>
          <p:cNvSpPr txBox="1"/>
          <p:nvPr/>
        </p:nvSpPr>
        <p:spPr>
          <a:xfrm>
            <a:off x="6172200" y="5440680"/>
            <a:ext cx="5486400" cy="822960"/>
          </a:xfrm>
          <a:prstGeom prst="rect">
            <a:avLst/>
          </a:prstGeom>
          <a:noFill/>
        </p:spPr>
        <p:txBody>
          <a:bodyPr wrap="square" anchor="t" lIns="0" rIns="0" tIns="0" bIns="0">
            <a:spAutoFit/>
          </a:bodyPr>
          <a:lstStyle/>
          <a:p>
            <a:pPr algn="l">
              <a:lnSpc>
                <a:spcPct val="108000"/>
              </a:lnSpc>
              <a:spcAft>
                <a:spcPts val="600"/>
              </a:spcAft>
            </a:pPr>
            <a:r>
              <a:rPr sz="1400" b="1" i="0">
                <a:solidFill>
                  <a:srgbClr val="3B4A5A"/>
                </a:solidFill>
                <a:latin typeface="Calibri"/>
              </a:rPr>
              <a:t>Hindi, larger text, high contrast </a:t>
            </a:r>
            <a:r>
              <a:rPr sz="1400" b="0" i="0">
                <a:solidFill>
                  <a:srgbClr val="3B4A5A"/>
                </a:solidFill>
                <a:latin typeface="Calibri"/>
              </a:rPr>
              <a:t>are one click. (Machine-drafted Hindi, not yet reviewed.)</a:t>
            </a:r>
          </a:p>
        </p:txBody>
      </p:sp>
      <p:sp>
        <p:nvSpPr>
          <p:cNvPr id="8" name="Fails closed note"/>
          <p:cNvSpPr txBox="1"/>
          <p:nvPr/>
        </p:nvSpPr>
        <p:spPr>
          <a:xfrm>
            <a:off x="548640" y="5943600"/>
            <a:ext cx="11064240" cy="411480"/>
          </a:xfrm>
          <a:prstGeom prst="rect">
            <a:avLst/>
          </a:prstGeom>
          <a:noFill/>
        </p:spPr>
        <p:txBody>
          <a:bodyPr wrap="square" anchor="t" lIns="0" rIns="0" tIns="0" bIns="0">
            <a:spAutoFit/>
          </a:bodyPr>
          <a:lstStyle/>
          <a:p>
            <a:pPr algn="l">
              <a:lnSpc>
                <a:spcPct val="108000"/>
              </a:lnSpc>
              <a:spcAft>
                <a:spcPts val="600"/>
              </a:spcAft>
            </a:pPr>
            <a:r>
              <a:rPr sz="1400" b="1" i="0">
                <a:solidFill>
                  <a:srgbClr val="14202E"/>
                </a:solidFill>
                <a:latin typeface="Calibri"/>
              </a:rPr>
              <a:t>Fails closed. </a:t>
            </a:r>
            <a:r>
              <a:rPr sz="1400" b="0" i="0">
                <a:solidFill>
                  <a:srgbClr val="14202E"/>
                </a:solidFill>
                <a:latin typeface="Calibri"/>
              </a:rPr>
              <a:t>If the policy, the table or a model does not verify, nothing can be registered and the screen says what to check.</a:t>
            </a:r>
          </a:p>
        </p:txBody>
      </p:sp>
      <p:sp>
        <p:nvSpPr>
          <p:cNvPr id="9" name="Footer"/>
          <p:cNvSpPr txBox="1"/>
          <p:nvPr/>
        </p:nvSpPr>
        <p:spPr>
          <a:xfrm>
            <a:off x="548640" y="6400800"/>
            <a:ext cx="7315200" cy="274320"/>
          </a:xfrm>
          <a:prstGeom prst="rect">
            <a:avLst/>
          </a:prstGeom>
          <a:noFill/>
        </p:spPr>
        <p:txBody>
          <a:bodyPr wrap="square" anchor="t" lIns="0" rIns="0" tIns="0" bIns="0">
            <a:spAutoFit/>
          </a:bodyPr>
          <a:lstStyle/>
          <a:p>
            <a:pPr algn="l">
              <a:lnSpc>
                <a:spcPct val="108000"/>
              </a:lnSpc>
              <a:spcAft>
                <a:spcPts val="600"/>
              </a:spcAft>
            </a:pPr>
            <a:r>
              <a:rPr sz="1200" b="0" i="0">
                <a:solidFill>
                  <a:srgbClr val="52606D"/>
                </a:solidFill>
                <a:latin typeface="Calibri"/>
              </a:rPr>
              <a:t>PRAMAAN  ·  MOSIP Decode 2026  ·  PS04</a:t>
            </a:r>
          </a:p>
        </p:txBody>
      </p:sp>
      <p:sp>
        <p:nvSpPr>
          <p:cNvPr id="10" name="Slide number"/>
          <p:cNvSpPr txBox="1"/>
          <p:nvPr/>
        </p:nvSpPr>
        <p:spPr>
          <a:xfrm>
            <a:off x="10698480" y="6400800"/>
            <a:ext cx="914400" cy="274320"/>
          </a:xfrm>
          <a:prstGeom prst="rect">
            <a:avLst/>
          </a:prstGeom>
          <a:noFill/>
        </p:spPr>
        <p:txBody>
          <a:bodyPr wrap="square" anchor="t" lIns="0" rIns="0" tIns="0" bIns="0">
            <a:spAutoFit/>
          </a:bodyPr>
          <a:lstStyle/>
          <a:p>
            <a:pPr algn="r">
              <a:lnSpc>
                <a:spcPct val="108000"/>
              </a:lnSpc>
              <a:spcAft>
                <a:spcPts val="600"/>
              </a:spcAft>
            </a:pPr>
            <a:r>
              <a:rPr sz="1200" b="0" i="0">
                <a:solidFill>
                  <a:srgbClr val="52606D"/>
                </a:solidFill>
                <a:latin typeface="Calibri"/>
              </a:rPr>
              <a:t>5 / 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64240" cy="822960"/>
          </a:xfrm>
          <a:prstGeom prst="rect">
            <a:avLst/>
          </a:prstGeom>
          <a:noFill/>
        </p:spPr>
        <p:txBody>
          <a:bodyPr wrap="square" anchor="t" lIns="0" rIns="0" tIns="0" bIns="0">
            <a:spAutoFit/>
          </a:bodyPr>
          <a:lstStyle/>
          <a:p>
            <a:pPr algn="l">
              <a:lnSpc>
                <a:spcPct val="108000"/>
              </a:lnSpc>
              <a:spcAft>
                <a:spcPts val="600"/>
              </a:spcAft>
            </a:pPr>
            <a:r>
              <a:rPr sz="4000" b="1" i="0">
                <a:solidFill>
                  <a:srgbClr val="1B4F8A"/>
                </a:solidFill>
                <a:latin typeface="Calibri"/>
              </a:rPr>
              <a:t>What is verified, and what is not</a:t>
            </a:r>
          </a:p>
        </p:txBody>
      </p:sp>
      <p:sp>
        <p:nvSpPr>
          <p:cNvPr id="3" name="Subtitle"/>
          <p:cNvSpPr txBox="1"/>
          <p:nvPr/>
        </p:nvSpPr>
        <p:spPr>
          <a:xfrm>
            <a:off x="548640" y="1188720"/>
            <a:ext cx="11064240" cy="685800"/>
          </a:xfrm>
          <a:prstGeom prst="rect">
            <a:avLst/>
          </a:prstGeom>
          <a:noFill/>
        </p:spPr>
        <p:txBody>
          <a:bodyPr wrap="square" anchor="t" lIns="0" rIns="0" tIns="0" bIns="0">
            <a:spAutoFit/>
          </a:bodyPr>
          <a:lstStyle/>
          <a:p>
            <a:pPr algn="l">
              <a:lnSpc>
                <a:spcPct val="108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2057400"/>
            <a:ext cx="5440680" cy="2926080"/>
          </a:xfrm>
          <a:prstGeom prst="roundRect">
            <a:avLst>
              <a:gd name="adj" fmla="val 8000"/>
            </a:avLst>
          </a:prstGeom>
          <a:solidFill>
            <a:srgbClr val="E6F4EA"/>
          </a:solidFill>
          <a:ln w="254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l">
              <a:spcAft>
                <a:spcPts val="600"/>
              </a:spcAft>
            </a:pPr>
            <a:r>
              <a:rPr sz="2200" b="1" i="0">
                <a:solidFill>
                  <a:srgbClr val="1B6E3C"/>
                </a:solidFill>
                <a:latin typeface="Calibri"/>
              </a:rPr>
              <a:t>Verified (one command each)</a:t>
            </a:r>
          </a:p>
          <a:p>
            <a:pPr algn="l">
              <a:spcAft>
                <a:spcPts val="600"/>
              </a:spcAft>
            </a:pPr>
            <a:r>
              <a:rPr sz="1600" b="0" i="0">
                <a:solidFill>
                  <a:srgbClr val="14202E"/>
                </a:solidFill>
                <a:latin typeface="Calibri"/>
              </a:rPr>
              <a:t>673 automated tests pass (20 skipped on a fresh clone: no models)</a:t>
            </a:r>
          </a:p>
          <a:p>
            <a:pPr algn="l">
              <a:spcAft>
                <a:spcPts val="600"/>
              </a:spcAft>
            </a:pPr>
            <a:r>
              <a:rPr sz="1600" b="0" i="0">
                <a:solidFill>
                  <a:srgbClr val="14202E"/>
                </a:solidFill>
                <a:latin typeface="Calibri"/>
              </a:rPr>
              <a:t>Flash code: 1,679,616 sequences = 20.7 bits</a:t>
            </a:r>
          </a:p>
          <a:p>
            <a:pPr algn="l">
              <a:spcAft>
                <a:spcPts val="600"/>
              </a:spcAft>
            </a:pPr>
            <a:r>
              <a:rPr sz="1600" b="0" i="0">
                <a:solidFill>
                  <a:srgbClr val="14202E"/>
                </a:solidFill>
                <a:latin typeface="Calibri"/>
              </a:rPr>
              <a:t>At most 3 colour changes a second, 900 sequences</a:t>
            </a:r>
          </a:p>
          <a:p>
            <a:pPr algn="l">
              <a:spcAft>
                <a:spcPts val="600"/>
              </a:spcAft>
            </a:pPr>
            <a:r>
              <a:rPr sz="1600" b="0" i="0">
                <a:solidFill>
                  <a:srgbClr val="14202E"/>
                </a:solidFill>
                <a:latin typeface="Calibri"/>
              </a:rPr>
              <a:t>Insider signal: 6 in 40 at 2% gives z ≈ 5.87</a:t>
            </a:r>
          </a:p>
          <a:p>
            <a:pPr algn="l">
              <a:spcAft>
                <a:spcPts val="600"/>
              </a:spcAft>
            </a:pPr>
            <a:r>
              <a:rPr sz="1600" b="0" i="0">
                <a:solidFill>
                  <a:srgbClr val="14202E"/>
                </a:solidFill>
                <a:latin typeface="Calibri"/>
              </a:rPr>
              <a:t>Transparency log matches the CT test vectors</a:t>
            </a:r>
          </a:p>
          <a:p>
            <a:pPr algn="l">
              <a:spcAft>
                <a:spcPts val="600"/>
              </a:spcAft>
            </a:pPr>
            <a:r>
              <a:rPr sz="1600" b="0" i="0">
                <a:solidFill>
                  <a:srgbClr val="14202E"/>
                </a:solidFill>
                <a:latin typeface="Calibri"/>
              </a:rPr>
              <a:t>Each capture-swap attack is a failing test</a:t>
            </a:r>
          </a:p>
        </p:txBody>
      </p:sp>
      <p:sp>
        <p:nvSpPr>
          <p:cNvPr id="5" name="Not claimed"/>
          <p:cNvSpPr/>
          <p:nvPr/>
        </p:nvSpPr>
        <p:spPr>
          <a:xfrm>
            <a:off x="6172200" y="2057400"/>
            <a:ext cx="5440680" cy="2926080"/>
          </a:xfrm>
          <a:prstGeom prst="roundRect">
            <a:avLst>
              <a:gd name="adj" fmla="val 8000"/>
            </a:avLst>
          </a:prstGeom>
          <a:solidFill>
            <a:srgbClr val="FFF4D6"/>
          </a:solidFill>
          <a:ln w="25400">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91440" bIns="91440" wrap="square"/>
          <a:lstStyle/>
          <a:p>
            <a:pPr algn="l">
              <a:spcAft>
                <a:spcPts val="600"/>
              </a:spcAft>
            </a:pPr>
            <a:r>
              <a:rPr sz="2200" b="1" i="0">
                <a:solidFill>
                  <a:srgbClr val="6B4500"/>
                </a:solidFill>
                <a:latin typeface="Calibri"/>
              </a:rPr>
              <a:t>Not done, not claimed</a:t>
            </a:r>
          </a:p>
          <a:p>
            <a:pPr algn="l">
              <a:spcAft>
                <a:spcPts val="600"/>
              </a:spcAft>
            </a:pPr>
            <a:r>
              <a:rPr sz="1600" b="0" i="0">
                <a:solidFill>
                  <a:srgbClr val="14202E"/>
                </a:solidFill>
                <a:latin typeface="Calibri"/>
              </a:rPr>
              <a:t>No error rate on real attacks; thresholds provisional</a:t>
            </a:r>
          </a:p>
          <a:p>
            <a:pPr algn="l">
              <a:spcAft>
                <a:spcPts val="600"/>
              </a:spcAft>
            </a:pPr>
            <a:r>
              <a:rPr sz="1600" b="0" i="0">
                <a:solidFill>
                  <a:srgbClr val="14202E"/>
                </a:solidFill>
                <a:latin typeface="Calibri"/>
              </a:rPr>
              <a:t>Not run on a device, a phone or a certified SBI device</a:t>
            </a:r>
          </a:p>
          <a:p>
            <a:pPr algn="l">
              <a:spcAft>
                <a:spcPts val="600"/>
              </a:spcAft>
            </a:pPr>
            <a:r>
              <a:rPr sz="1600" b="0" i="0">
                <a:solidFill>
                  <a:srgbClr val="14202E"/>
                </a:solidFill>
                <a:latin typeface="Calibri"/>
              </a:rPr>
              <a:t>Desktop app is a scaffold, not the Registration Client</a:t>
            </a:r>
          </a:p>
          <a:p>
            <a:pPr algn="l">
              <a:spcAft>
                <a:spcPts val="600"/>
              </a:spcAft>
            </a:pPr>
            <a:r>
              <a:rPr sz="1600" b="0" i="0">
                <a:solidFill>
                  <a:srgbClr val="14202E"/>
                </a:solidFill>
                <a:latin typeface="Calibri"/>
              </a:rPr>
              <a:t>No user has tried the screens; Hindi unreviewed</a:t>
            </a:r>
          </a:p>
          <a:p>
            <a:pPr algn="l">
              <a:spcAft>
                <a:spcPts val="600"/>
              </a:spcAft>
            </a:pPr>
            <a:r>
              <a:rPr sz="1600" b="0" i="0">
                <a:solidFill>
                  <a:srgbClr val="14202E"/>
                </a:solidFill>
                <a:latin typeface="Calibri"/>
              </a:rPr>
              <a:t>Flash, stereo, scene cues: synthetic data and fakes only</a:t>
            </a:r>
          </a:p>
        </p:txBody>
      </p:sp>
      <p:sp>
        <p:nvSpPr>
          <p:cNvPr id="6" name="Red team result"/>
          <p:cNvSpPr txBox="1"/>
          <p:nvPr/>
        </p:nvSpPr>
        <p:spPr>
          <a:xfrm>
            <a:off x="548640" y="5212080"/>
            <a:ext cx="11064240" cy="1097280"/>
          </a:xfrm>
          <a:prstGeom prst="rect">
            <a:avLst/>
          </a:prstGeom>
          <a:noFill/>
        </p:spPr>
        <p:txBody>
          <a:bodyPr wrap="square" anchor="t" lIns="0" rIns="0" tIns="0" bIns="0">
            <a:spAutoFit/>
          </a:bodyPr>
          <a:lstStyle/>
          <a:p>
            <a:pPr algn="l">
              <a:lnSpc>
                <a:spcPct val="108000"/>
              </a:lnSpc>
              <a:spcAft>
                <a:spcPts val="600"/>
              </a:spcAft>
            </a:pPr>
            <a:r>
              <a:rPr sz="1800" b="1" i="0">
                <a:solidFill>
                  <a:srgbClr val="14202E"/>
                </a:solidFill>
                <a:latin typeface="Calibri"/>
              </a:rPr>
              <a:t>We attacked ourselves. </a:t>
            </a:r>
            <a:r>
              <a:rPr sz="1800" b="0" i="0">
                <a:solidFill>
                  <a:srgbClr val="14202E"/>
                </a:solidFill>
                <a:latin typeface="Calibri"/>
              </a:rPr>
              <a:t>On synthetic screen replays with the passive model assumed fooled and no flash light, the fusion accepted </a:t>
            </a:r>
            <a:r>
              <a:rPr sz="1800" b="1" i="0">
                <a:solidFill>
                  <a:srgbClr val="14202E"/>
                </a:solidFill>
                <a:latin typeface="Calibri"/>
              </a:rPr>
              <a:t>4 of 85</a:t>
            </a:r>
            <a:r>
              <a:rPr sz="1800" b="0" i="0">
                <a:solidFill>
                  <a:srgbClr val="14202E"/>
                </a:solidFill>
                <a:latin typeface="Calibri"/>
              </a:rPr>
              <a:t> display pitches; with the flash cue, </a:t>
            </a:r>
            <a:r>
              <a:rPr sz="1800" b="1" i="0">
                <a:solidFill>
                  <a:srgbClr val="14202E"/>
                </a:solidFill>
                <a:latin typeface="Calibri"/>
              </a:rPr>
              <a:t>0</a:t>
            </a:r>
            <a:r>
              <a:rPr sz="1800" b="0" i="0">
                <a:solidFill>
                  <a:srgbClr val="14202E"/>
                </a:solidFill>
                <a:latin typeface="Calibri"/>
              </a:rPr>
              <a:t>. Logged as R-03 with R-01 (moiré blind pitches); the fix is proposed, not enabled.</a:t>
            </a:r>
          </a:p>
        </p:txBody>
      </p:sp>
      <p:sp>
        <p:nvSpPr>
          <p:cNvPr id="7" name="Footer"/>
          <p:cNvSpPr txBox="1"/>
          <p:nvPr/>
        </p:nvSpPr>
        <p:spPr>
          <a:xfrm>
            <a:off x="548640" y="6400800"/>
            <a:ext cx="7315200" cy="274320"/>
          </a:xfrm>
          <a:prstGeom prst="rect">
            <a:avLst/>
          </a:prstGeom>
          <a:noFill/>
        </p:spPr>
        <p:txBody>
          <a:bodyPr wrap="square" anchor="t" lIns="0" rIns="0" tIns="0" bIns="0">
            <a:spAutoFit/>
          </a:bodyPr>
          <a:lstStyle/>
          <a:p>
            <a:pPr algn="l">
              <a:lnSpc>
                <a:spcPct val="108000"/>
              </a:lnSpc>
              <a:spcAft>
                <a:spcPts val="600"/>
              </a:spcAft>
            </a:pPr>
            <a:r>
              <a:rPr sz="1200" b="0" i="0">
                <a:solidFill>
                  <a:srgbClr val="52606D"/>
                </a:solidFill>
                <a:latin typeface="Calibri"/>
              </a:rPr>
              <a:t>PRAMAAN  ·  MOSIP Decode 2026  ·  PS04</a:t>
            </a:r>
          </a:p>
        </p:txBody>
      </p:sp>
      <p:sp>
        <p:nvSpPr>
          <p:cNvPr id="8" name="Slide number"/>
          <p:cNvSpPr txBox="1"/>
          <p:nvPr/>
        </p:nvSpPr>
        <p:spPr>
          <a:xfrm>
            <a:off x="10698480" y="6400800"/>
            <a:ext cx="914400" cy="274320"/>
          </a:xfrm>
          <a:prstGeom prst="rect">
            <a:avLst/>
          </a:prstGeom>
          <a:noFill/>
        </p:spPr>
        <p:txBody>
          <a:bodyPr wrap="square" anchor="t" lIns="0" rIns="0" tIns="0" bIns="0">
            <a:spAutoFit/>
          </a:bodyPr>
          <a:lstStyle/>
          <a:p>
            <a:pPr algn="r">
              <a:lnSpc>
                <a:spcPct val="108000"/>
              </a:lnSpc>
              <a:spcAft>
                <a:spcPts val="600"/>
              </a:spcAft>
            </a:pPr>
            <a:r>
              <a:rPr sz="1200" b="0" i="0">
                <a:solidFill>
                  <a:srgbClr val="52606D"/>
                </a:solidFill>
                <a:latin typeface="Calibri"/>
              </a:rPr>
              <a:t>6 / 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411480"/>
            <a:ext cx="11064240" cy="822960"/>
          </a:xfrm>
          <a:prstGeom prst="rect">
            <a:avLst/>
          </a:prstGeom>
          <a:noFill/>
        </p:spPr>
        <p:txBody>
          <a:bodyPr wrap="square" anchor="t" lIns="0" rIns="0" tIns="0" bIns="0">
            <a:spAutoFit/>
          </a:bodyPr>
          <a:lstStyle/>
          <a:p>
            <a:pPr algn="l">
              <a:lnSpc>
                <a:spcPct val="108000"/>
              </a:lnSpc>
              <a:spcAft>
                <a:spcPts val="600"/>
              </a:spcAft>
            </a:pPr>
            <a:r>
              <a:rPr sz="4000" b="1" i="0">
                <a:solidFill>
                  <a:srgbClr val="1B4F8A"/>
                </a:solidFill>
                <a:latin typeface="Calibri"/>
              </a:rPr>
              <a:t>Impact and next steps</a:t>
            </a:r>
          </a:p>
        </p:txBody>
      </p:sp>
      <p:sp>
        <p:nvSpPr>
          <p:cNvPr id="3" name="Subtitle"/>
          <p:cNvSpPr txBox="1"/>
          <p:nvPr/>
        </p:nvSpPr>
        <p:spPr>
          <a:xfrm>
            <a:off x="548640" y="1188720"/>
            <a:ext cx="11064240" cy="685800"/>
          </a:xfrm>
          <a:prstGeom prst="rect">
            <a:avLst/>
          </a:prstGeom>
          <a:noFill/>
        </p:spPr>
        <p:txBody>
          <a:bodyPr wrap="square" anchor="t" lIns="0" rIns="0" tIns="0" bIns="0">
            <a:spAutoFit/>
          </a:bodyPr>
          <a:lstStyle/>
          <a:p>
            <a:pPr algn="l">
              <a:lnSpc>
                <a:spcPct val="108000"/>
              </a:lnSpc>
              <a:spcAft>
                <a:spcPts val="600"/>
              </a:spcAft>
            </a:pPr>
            <a:r>
              <a:rPr sz="1800" b="0" i="0">
                <a:solidFill>
                  <a:srgbClr val="3B4A5A"/>
                </a:solidFill>
                <a:latin typeface="Calibri"/>
              </a:rPr>
              <a:t>Deployable on today's SBI, honest about what is unmeasured.</a:t>
            </a:r>
          </a:p>
        </p:txBody>
      </p:sp>
      <p:sp>
        <p:nvSpPr>
          <p:cNvPr id="4" name="For MOSIP heading"/>
          <p:cNvSpPr txBox="1"/>
          <p:nvPr/>
        </p:nvSpPr>
        <p:spPr>
          <a:xfrm>
            <a:off x="548640" y="2011680"/>
            <a:ext cx="5394960" cy="457200"/>
          </a:xfrm>
          <a:prstGeom prst="rect">
            <a:avLst/>
          </a:prstGeom>
          <a:noFill/>
        </p:spPr>
        <p:txBody>
          <a:bodyPr wrap="square" anchor="t" lIns="0" rIns="0" tIns="0" bIns="0">
            <a:spAutoFit/>
          </a:bodyPr>
          <a:lstStyle/>
          <a:p>
            <a:pPr algn="l">
              <a:lnSpc>
                <a:spcPct val="108000"/>
              </a:lnSpc>
              <a:spcAft>
                <a:spcPts val="600"/>
              </a:spcAft>
            </a:pPr>
            <a:r>
              <a:rPr sz="2200" b="1" i="0">
                <a:solidFill>
                  <a:srgbClr val="1B4F8A"/>
                </a:solidFill>
                <a:latin typeface="Calibri"/>
              </a:rPr>
              <a:t>For MOSIP</a:t>
            </a:r>
          </a:p>
        </p:txBody>
      </p:sp>
      <p:sp>
        <p:nvSpPr>
          <p:cNvPr id="5" name="For MOSIP list"/>
          <p:cNvSpPr txBox="1"/>
          <p:nvPr/>
        </p:nvSpPr>
        <p:spPr>
          <a:xfrm>
            <a:off x="548640" y="2514600"/>
            <a:ext cx="5394960" cy="1828800"/>
          </a:xfrm>
          <a:prstGeom prst="rect">
            <a:avLst/>
          </a:prstGeom>
          <a:noFill/>
        </p:spPr>
        <p:txBody>
          <a:bodyPr wrap="square" anchor="t" lIns="0" rIns="0" tIns="0" bIns="0">
            <a:spAutoFit/>
          </a:bodyPr>
          <a:lstStyle/>
          <a:p>
            <a:pPr algn="l">
              <a:lnSpc>
                <a:spcPct val="108000"/>
              </a:lnSpc>
              <a:spcAft>
                <a:spcPts val="800"/>
              </a:spcAft>
            </a:pPr>
            <a:r>
              <a:rPr sz="1700" b="0" i="0">
                <a:solidFill>
                  <a:srgbClr val="14202E"/>
                </a:solidFill>
                <a:latin typeface="Calibri"/>
              </a:rPr>
              <a:t>Closes the capture-swap gap with no spec change</a:t>
            </a:r>
          </a:p>
          <a:p>
            <a:pPr algn="l">
              <a:lnSpc>
                <a:spcPct val="108000"/>
              </a:lnSpc>
              <a:spcAft>
                <a:spcPts val="800"/>
              </a:spcAft>
            </a:pPr>
            <a:r>
              <a:rPr sz="1700" b="0" i="0">
                <a:solidFill>
                  <a:srgbClr val="14202E"/>
                </a:solidFill>
                <a:latin typeface="Calibri"/>
              </a:rPr>
              <a:t>Leaves proof a server can re-check or re-score</a:t>
            </a:r>
          </a:p>
          <a:p>
            <a:pPr algn="l">
              <a:lnSpc>
                <a:spcPct val="108000"/>
              </a:lnSpc>
              <a:spcAft>
                <a:spcPts val="800"/>
              </a:spcAft>
            </a:pPr>
            <a:r>
              <a:rPr sz="1700" b="0" i="0">
                <a:solidFill>
                  <a:srgbClr val="14202E"/>
                </a:solidFill>
                <a:latin typeface="Calibri"/>
              </a:rPr>
              <a:t>MPL-2.0; JavaFX 11 as in the Registration Client</a:t>
            </a:r>
          </a:p>
          <a:p>
            <a:pPr algn="l">
              <a:lnSpc>
                <a:spcPct val="108000"/>
              </a:lnSpc>
              <a:spcAft>
                <a:spcPts val="800"/>
              </a:spcAft>
            </a:pPr>
            <a:r>
              <a:rPr sz="1700" b="0" i="0">
                <a:solidFill>
                  <a:srgbClr val="14202E"/>
                </a:solidFill>
                <a:latin typeface="Calibri"/>
              </a:rPr>
              <a:t>Inclusion rules keep it from locking residents out</a:t>
            </a:r>
          </a:p>
        </p:txBody>
      </p:sp>
      <p:sp>
        <p:nvSpPr>
          <p:cNvPr id="6" name="Asks heading"/>
          <p:cNvSpPr txBox="1"/>
          <p:nvPr/>
        </p:nvSpPr>
        <p:spPr>
          <a:xfrm>
            <a:off x="548640" y="4343400"/>
            <a:ext cx="5394960" cy="457200"/>
          </a:xfrm>
          <a:prstGeom prst="rect">
            <a:avLst/>
          </a:prstGeom>
          <a:noFill/>
        </p:spPr>
        <p:txBody>
          <a:bodyPr wrap="square" anchor="t" lIns="0" rIns="0" tIns="0" bIns="0">
            <a:spAutoFit/>
          </a:bodyPr>
          <a:lstStyle/>
          <a:p>
            <a:pPr algn="l">
              <a:lnSpc>
                <a:spcPct val="108000"/>
              </a:lnSpc>
              <a:spcAft>
                <a:spcPts val="600"/>
              </a:spcAft>
            </a:pPr>
            <a:r>
              <a:rPr sz="2200" b="1" i="0">
                <a:solidFill>
                  <a:srgbClr val="1B4F8A"/>
                </a:solidFill>
                <a:latin typeface="Calibri"/>
              </a:rPr>
              <a:t>What we would ask MOSIP</a:t>
            </a:r>
          </a:p>
        </p:txBody>
      </p:sp>
      <p:sp>
        <p:nvSpPr>
          <p:cNvPr id="7" name="Asks list"/>
          <p:cNvSpPr txBox="1"/>
          <p:nvPr/>
        </p:nvSpPr>
        <p:spPr>
          <a:xfrm>
            <a:off x="548640" y="4846320"/>
            <a:ext cx="5394960" cy="1188720"/>
          </a:xfrm>
          <a:prstGeom prst="rect">
            <a:avLst/>
          </a:prstGeom>
          <a:noFill/>
        </p:spPr>
        <p:txBody>
          <a:bodyPr wrap="square" anchor="t" lIns="0" rIns="0" tIns="0" bIns="0">
            <a:spAutoFit/>
          </a:bodyPr>
          <a:lstStyle/>
          <a:p>
            <a:pPr algn="l">
              <a:lnSpc>
                <a:spcPct val="108000"/>
              </a:lnSpc>
              <a:spcAft>
                <a:spcPts val="800"/>
              </a:spcAft>
            </a:pPr>
            <a:r>
              <a:rPr sz="1700" b="0" i="0">
                <a:solidFill>
                  <a:srgbClr val="14202E"/>
                </a:solidFill>
                <a:latin typeface="Calibri"/>
              </a:rPr>
              <a:t>How should an SBI extension be proposed?</a:t>
            </a:r>
          </a:p>
          <a:p>
            <a:pPr algn="l">
              <a:lnSpc>
                <a:spcPct val="108000"/>
              </a:lnSpc>
              <a:spcAft>
                <a:spcPts val="800"/>
              </a:spcAft>
            </a:pPr>
            <a:r>
              <a:rPr sz="1700" b="0" i="0">
                <a:solidFill>
                  <a:srgbClr val="14202E"/>
                </a:solidFill>
                <a:latin typeface="Calibri"/>
              </a:rPr>
              <a:t>Licence terms of two anti-spoofing models?</a:t>
            </a:r>
          </a:p>
        </p:txBody>
      </p:sp>
      <p:sp>
        <p:nvSpPr>
          <p:cNvPr id="8" name="Next heading"/>
          <p:cNvSpPr txBox="1"/>
          <p:nvPr/>
        </p:nvSpPr>
        <p:spPr>
          <a:xfrm>
            <a:off x="6309360" y="2011680"/>
            <a:ext cx="5303520" cy="457200"/>
          </a:xfrm>
          <a:prstGeom prst="rect">
            <a:avLst/>
          </a:prstGeom>
          <a:noFill/>
        </p:spPr>
        <p:txBody>
          <a:bodyPr wrap="square" anchor="t" lIns="0" rIns="0" tIns="0" bIns="0">
            <a:spAutoFit/>
          </a:bodyPr>
          <a:lstStyle/>
          <a:p>
            <a:pPr algn="l">
              <a:lnSpc>
                <a:spcPct val="108000"/>
              </a:lnSpc>
              <a:spcAft>
                <a:spcPts val="600"/>
              </a:spcAft>
            </a:pPr>
            <a:r>
              <a:rPr sz="2200" b="1" i="0">
                <a:solidFill>
                  <a:srgbClr val="1B4F8A"/>
                </a:solidFill>
                <a:latin typeface="Calibri"/>
              </a:rPr>
              <a:t>Next, in order</a:t>
            </a:r>
          </a:p>
        </p:txBody>
      </p:sp>
      <p:sp>
        <p:nvSpPr>
          <p:cNvPr id="9" name="Step 1"/>
          <p:cNvSpPr/>
          <p:nvPr/>
        </p:nvSpPr>
        <p:spPr>
          <a:xfrm>
            <a:off x="6309360" y="2560320"/>
            <a:ext cx="457200" cy="457200"/>
          </a:xfrm>
          <a:prstGeom prst="ellipse">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91440" bIns="91440" wrap="square"/>
          <a:lstStyle/>
          <a:p>
            <a:pPr algn="ctr">
              <a:spcAft>
                <a:spcPts val="400"/>
              </a:spcAft>
            </a:pPr>
            <a:r>
              <a:rPr sz="1600" b="1" i="0">
                <a:solidFill>
                  <a:srgbClr val="FFFFFF"/>
                </a:solidFill>
                <a:latin typeface="Calibri"/>
              </a:rPr>
              <a:t>1</a:t>
            </a:r>
          </a:p>
        </p:txBody>
      </p:sp>
      <p:sp>
        <p:nvSpPr>
          <p:cNvPr id="10" name="Next step 1"/>
          <p:cNvSpPr txBox="1"/>
          <p:nvPr/>
        </p:nvSpPr>
        <p:spPr>
          <a:xfrm>
            <a:off x="6903720" y="2523744"/>
            <a:ext cx="4709160" cy="868680"/>
          </a:xfrm>
          <a:prstGeom prst="rect">
            <a:avLst/>
          </a:prstGeom>
          <a:noFill/>
        </p:spPr>
        <p:txBody>
          <a:bodyPr wrap="square" anchor="t" lIns="0" rIns="0" tIns="0" bIns="0">
            <a:spAutoFit/>
          </a:bodyPr>
          <a:lstStyle/>
          <a:p>
            <a:pPr algn="l">
              <a:lnSpc>
                <a:spcPct val="108000"/>
              </a:lnSpc>
              <a:spcAft>
                <a:spcPts val="600"/>
              </a:spcAft>
            </a:pPr>
            <a:r>
              <a:rPr sz="1600" b="1" i="0">
                <a:solidFill>
                  <a:srgbClr val="14202E"/>
                </a:solidFill>
                <a:latin typeface="Calibri"/>
              </a:rPr>
              <a:t>One real experiment: </a:t>
            </a:r>
            <a:r>
              <a:rPr sz="1600" b="0" i="0">
                <a:solidFill>
                  <a:srgbClr val="14202E"/>
                </a:solidFill>
                <a:latin typeface="Calibri"/>
              </a:rPr>
              <a:t>does the flash cue separate a live face from a replay? (recorder and analyser built)</a:t>
            </a:r>
          </a:p>
        </p:txBody>
      </p:sp>
      <p:sp>
        <p:nvSpPr>
          <p:cNvPr id="11" name="Step 2"/>
          <p:cNvSpPr/>
          <p:nvPr/>
        </p:nvSpPr>
        <p:spPr>
          <a:xfrm>
            <a:off x="6309360" y="3456432"/>
            <a:ext cx="457200" cy="457200"/>
          </a:xfrm>
          <a:prstGeom prst="ellipse">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91440" bIns="91440" wrap="square"/>
          <a:lstStyle/>
          <a:p>
            <a:pPr algn="ctr">
              <a:spcAft>
                <a:spcPts val="400"/>
              </a:spcAft>
            </a:pPr>
            <a:r>
              <a:rPr sz="1600" b="1" i="0">
                <a:solidFill>
                  <a:srgbClr val="FFFFFF"/>
                </a:solidFill>
                <a:latin typeface="Calibri"/>
              </a:rPr>
              <a:t>2</a:t>
            </a:r>
          </a:p>
        </p:txBody>
      </p:sp>
      <p:sp>
        <p:nvSpPr>
          <p:cNvPr id="12" name="Next step 2"/>
          <p:cNvSpPr txBox="1"/>
          <p:nvPr/>
        </p:nvSpPr>
        <p:spPr>
          <a:xfrm>
            <a:off x="6903720" y="3419856"/>
            <a:ext cx="4709160" cy="868680"/>
          </a:xfrm>
          <a:prstGeom prst="rect">
            <a:avLst/>
          </a:prstGeom>
          <a:noFill/>
        </p:spPr>
        <p:txBody>
          <a:bodyPr wrap="square" anchor="t" lIns="0" rIns="0" tIns="0" bIns="0">
            <a:spAutoFit/>
          </a:bodyPr>
          <a:lstStyle/>
          <a:p>
            <a:pPr algn="l">
              <a:lnSpc>
                <a:spcPct val="108000"/>
              </a:lnSpc>
              <a:spcAft>
                <a:spcPts val="600"/>
              </a:spcAft>
            </a:pPr>
            <a:r>
              <a:rPr sz="1600" b="1" i="0">
                <a:solidFill>
                  <a:srgbClr val="14202E"/>
                </a:solidFill>
                <a:latin typeface="Calibri"/>
              </a:rPr>
              <a:t>A consented corpus, </a:t>
            </a:r>
            <a:r>
              <a:rPr sz="1600" b="0" i="0">
                <a:solidFill>
                  <a:srgbClr val="14202E"/>
                </a:solidFill>
                <a:latin typeface="Calibri"/>
              </a:rPr>
              <a:t>then every threshold from data (calibrator built)</a:t>
            </a:r>
          </a:p>
        </p:txBody>
      </p:sp>
      <p:sp>
        <p:nvSpPr>
          <p:cNvPr id="13" name="Step 3"/>
          <p:cNvSpPr/>
          <p:nvPr/>
        </p:nvSpPr>
        <p:spPr>
          <a:xfrm>
            <a:off x="6309360" y="4352544"/>
            <a:ext cx="457200" cy="457200"/>
          </a:xfrm>
          <a:prstGeom prst="ellipse">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91440" bIns="91440" wrap="square"/>
          <a:lstStyle/>
          <a:p>
            <a:pPr algn="ctr">
              <a:spcAft>
                <a:spcPts val="400"/>
              </a:spcAft>
            </a:pPr>
            <a:r>
              <a:rPr sz="1600" b="1" i="0">
                <a:solidFill>
                  <a:srgbClr val="FFFFFF"/>
                </a:solidFill>
                <a:latin typeface="Calibri"/>
              </a:rPr>
              <a:t>3</a:t>
            </a:r>
          </a:p>
        </p:txBody>
      </p:sp>
      <p:sp>
        <p:nvSpPr>
          <p:cNvPr id="14" name="Next step 3"/>
          <p:cNvSpPr txBox="1"/>
          <p:nvPr/>
        </p:nvSpPr>
        <p:spPr>
          <a:xfrm>
            <a:off x="6903720" y="4315968"/>
            <a:ext cx="4709160" cy="868680"/>
          </a:xfrm>
          <a:prstGeom prst="rect">
            <a:avLst/>
          </a:prstGeom>
          <a:noFill/>
        </p:spPr>
        <p:txBody>
          <a:bodyPr wrap="square" anchor="t" lIns="0" rIns="0" tIns="0" bIns="0">
            <a:spAutoFit/>
          </a:bodyPr>
          <a:lstStyle/>
          <a:p>
            <a:pPr algn="l">
              <a:lnSpc>
                <a:spcPct val="108000"/>
              </a:lnSpc>
              <a:spcAft>
                <a:spcPts val="600"/>
              </a:spcAft>
            </a:pPr>
            <a:r>
              <a:rPr sz="1600" b="1" i="0">
                <a:solidFill>
                  <a:srgbClr val="14202E"/>
                </a:solidFill>
                <a:latin typeface="Calibri"/>
              </a:rPr>
              <a:t>A real device, </a:t>
            </a:r>
            <a:r>
              <a:rPr sz="1600" b="0" i="0">
                <a:solidFill>
                  <a:srgbClr val="14202E"/>
                </a:solidFill>
                <a:latin typeface="Calibri"/>
              </a:rPr>
              <a:t>a second camera, a phone</a:t>
            </a:r>
          </a:p>
        </p:txBody>
      </p:sp>
      <p:sp>
        <p:nvSpPr>
          <p:cNvPr id="15" name="Step 4"/>
          <p:cNvSpPr/>
          <p:nvPr/>
        </p:nvSpPr>
        <p:spPr>
          <a:xfrm>
            <a:off x="6309360" y="5248656"/>
            <a:ext cx="457200" cy="457200"/>
          </a:xfrm>
          <a:prstGeom prst="ellipse">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91440" bIns="91440" wrap="square"/>
          <a:lstStyle/>
          <a:p>
            <a:pPr algn="ctr">
              <a:spcAft>
                <a:spcPts val="400"/>
              </a:spcAft>
            </a:pPr>
            <a:r>
              <a:rPr sz="1600" b="1" i="0">
                <a:solidFill>
                  <a:srgbClr val="FFFFFF"/>
                </a:solidFill>
                <a:latin typeface="Calibri"/>
              </a:rPr>
              <a:t>4</a:t>
            </a:r>
          </a:p>
        </p:txBody>
      </p:sp>
      <p:sp>
        <p:nvSpPr>
          <p:cNvPr id="16" name="Next step 4"/>
          <p:cNvSpPr txBox="1"/>
          <p:nvPr/>
        </p:nvSpPr>
        <p:spPr>
          <a:xfrm>
            <a:off x="6903720" y="5212080"/>
            <a:ext cx="4709160" cy="868680"/>
          </a:xfrm>
          <a:prstGeom prst="rect">
            <a:avLst/>
          </a:prstGeom>
          <a:noFill/>
        </p:spPr>
        <p:txBody>
          <a:bodyPr wrap="square" anchor="t" lIns="0" rIns="0" tIns="0" bIns="0">
            <a:spAutoFit/>
          </a:bodyPr>
          <a:lstStyle/>
          <a:p>
            <a:pPr algn="l">
              <a:lnSpc>
                <a:spcPct val="108000"/>
              </a:lnSpc>
              <a:spcAft>
                <a:spcPts val="600"/>
              </a:spcAft>
            </a:pPr>
            <a:r>
              <a:rPr sz="1600" b="1" i="0">
                <a:solidFill>
                  <a:srgbClr val="14202E"/>
                </a:solidFill>
                <a:latin typeface="Calibri"/>
              </a:rPr>
              <a:t>Real users: </a:t>
            </a:r>
            <a:r>
              <a:rPr sz="1600" b="0" i="0">
                <a:solidFill>
                  <a:srgbClr val="14202E"/>
                </a:solidFill>
                <a:latin typeface="Calibri"/>
              </a:rPr>
              <a:t>operators and residents, a native Hindi review</a:t>
            </a:r>
          </a:p>
        </p:txBody>
      </p:sp>
      <p:sp>
        <p:nvSpPr>
          <p:cNvPr id="17" name="Repo"/>
          <p:cNvSpPr txBox="1"/>
          <p:nvPr/>
        </p:nvSpPr>
        <p:spPr>
          <a:xfrm>
            <a:off x="6309360" y="5989320"/>
            <a:ext cx="5303520" cy="365760"/>
          </a:xfrm>
          <a:prstGeom prst="rect">
            <a:avLst/>
          </a:prstGeom>
          <a:noFill/>
        </p:spPr>
        <p:txBody>
          <a:bodyPr wrap="square" anchor="t" lIns="0" rIns="0" tIns="0" bIns="0">
            <a:spAutoFit/>
          </a:bodyPr>
          <a:lstStyle/>
          <a:p>
            <a:pPr algn="l">
              <a:lnSpc>
                <a:spcPct val="108000"/>
              </a:lnSpc>
              <a:spcAft>
                <a:spcPts val="600"/>
              </a:spcAft>
            </a:pPr>
            <a:r>
              <a:rPr sz="1400" b="1" i="0">
                <a:solidFill>
                  <a:srgbClr val="14202E"/>
                </a:solidFill>
                <a:latin typeface="Calibri"/>
              </a:rPr>
              <a:t>Repo: </a:t>
            </a:r>
            <a:r>
              <a:rPr sz="1400" b="0" i="0">
                <a:solidFill>
                  <a:srgbClr val="14202E"/>
                </a:solidFill>
                <a:latin typeface="Calibri"/>
              </a:rPr>
              <a:t>github.com/GargBhavya-tech/pramaan</a:t>
            </a:r>
          </a:p>
        </p:txBody>
      </p:sp>
      <p:sp>
        <p:nvSpPr>
          <p:cNvPr id="18" name="Footer"/>
          <p:cNvSpPr txBox="1"/>
          <p:nvPr/>
        </p:nvSpPr>
        <p:spPr>
          <a:xfrm>
            <a:off x="548640" y="6400800"/>
            <a:ext cx="7315200" cy="274320"/>
          </a:xfrm>
          <a:prstGeom prst="rect">
            <a:avLst/>
          </a:prstGeom>
          <a:noFill/>
        </p:spPr>
        <p:txBody>
          <a:bodyPr wrap="square" anchor="t" lIns="0" rIns="0" tIns="0" bIns="0">
            <a:spAutoFit/>
          </a:bodyPr>
          <a:lstStyle/>
          <a:p>
            <a:pPr algn="l">
              <a:lnSpc>
                <a:spcPct val="108000"/>
              </a:lnSpc>
              <a:spcAft>
                <a:spcPts val="600"/>
              </a:spcAft>
            </a:pPr>
            <a:r>
              <a:rPr sz="1200" b="0" i="0">
                <a:solidFill>
                  <a:srgbClr val="52606D"/>
                </a:solidFill>
                <a:latin typeface="Calibri"/>
              </a:rPr>
              <a:t>PRAMAAN  ·  MOSIP Decode 2026  ·  PS04</a:t>
            </a:r>
          </a:p>
        </p:txBody>
      </p:sp>
      <p:sp>
        <p:nvSpPr>
          <p:cNvPr id="19" name="Slide number"/>
          <p:cNvSpPr txBox="1"/>
          <p:nvPr/>
        </p:nvSpPr>
        <p:spPr>
          <a:xfrm>
            <a:off x="10698480" y="6400800"/>
            <a:ext cx="914400" cy="274320"/>
          </a:xfrm>
          <a:prstGeom prst="rect">
            <a:avLst/>
          </a:prstGeom>
          <a:noFill/>
        </p:spPr>
        <p:txBody>
          <a:bodyPr wrap="square" anchor="t" lIns="0" rIns="0" tIns="0" bIns="0">
            <a:spAutoFit/>
          </a:bodyPr>
          <a:lstStyle/>
          <a:p>
            <a:pPr algn="r">
              <a:lnSpc>
                <a:spcPct val="108000"/>
              </a:lnSpc>
              <a:spcAft>
                <a:spcPts val="600"/>
              </a:spcAft>
            </a:pPr>
            <a:r>
              <a:rPr sz="1200" b="0" i="0">
                <a:solidFill>
                  <a:srgbClr val="52606D"/>
                </a:solidFill>
                <a:latin typeface="Calibri"/>
              </a:rPr>
              <a:t>7 / 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